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media/image21.svg" ContentType="image/svg+xml"/>
  <Override PartName="/ppt/media/image24.svg" ContentType="image/svg+xml"/>
  <Override PartName="/ppt/media/image25.svg" ContentType="image/svg+xml"/>
  <Override PartName="/ppt/media/image26.svg" ContentType="image/svg+xml"/>
  <Override PartName="/ppt/media/image27.svg" ContentType="image/svg+xml"/>
  <Override PartName="/ppt/media/image28.svg" ContentType="image/svg+xml"/>
  <Override PartName="/ppt/media/image3.svg" ContentType="image/svg+xml"/>
  <Override PartName="/ppt/media/image5.svg" ContentType="image/svg+xml"/>
  <Override PartName="/ppt/media/image6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4"/>
  </p:sldMasterIdLst>
  <p:notesMasterIdLst>
    <p:notesMasterId r:id="rId34"/>
  </p:notesMasterIdLst>
  <p:handoutMasterIdLst>
    <p:handoutMasterId r:id="rId35"/>
  </p:handoutMasterIdLst>
  <p:sldIdLst>
    <p:sldId id="256" r:id="rId5"/>
    <p:sldId id="257" r:id="rId6"/>
    <p:sldId id="259" r:id="rId7"/>
    <p:sldId id="260" r:id="rId8"/>
    <p:sldId id="288" r:id="rId9"/>
    <p:sldId id="290" r:id="rId10"/>
    <p:sldId id="292" r:id="rId11"/>
    <p:sldId id="293" r:id="rId12"/>
    <p:sldId id="289" r:id="rId13"/>
    <p:sldId id="287" r:id="rId14"/>
    <p:sldId id="262" r:id="rId15"/>
    <p:sldId id="263" r:id="rId16"/>
    <p:sldId id="264" r:id="rId17"/>
    <p:sldId id="295" r:id="rId18"/>
    <p:sldId id="296" r:id="rId19"/>
    <p:sldId id="265" r:id="rId20"/>
    <p:sldId id="266" r:id="rId21"/>
    <p:sldId id="268" r:id="rId22"/>
    <p:sldId id="269" r:id="rId23"/>
    <p:sldId id="271" r:id="rId24"/>
    <p:sldId id="273" r:id="rId25"/>
    <p:sldId id="275" r:id="rId26"/>
    <p:sldId id="277" r:id="rId27"/>
    <p:sldId id="297" r:id="rId28"/>
    <p:sldId id="286" r:id="rId29"/>
    <p:sldId id="281" r:id="rId30"/>
    <p:sldId id="282" r:id="rId31"/>
    <p:sldId id="283" r:id="rId32"/>
    <p:sldId id="284" r:id="rId33"/>
  </p:sldIdLst>
  <p:sldSz cx="18288000" cy="10287000"/>
  <p:notesSz cx="6735763" cy="9866313"/>
  <p:embeddedFontLst>
    <p:embeddedFont>
      <p:font typeface="Noto Sans" panose="020B0502040504020204" pitchFamily="34" charset="0"/>
      <p:regular r:id="rId36"/>
      <p:bold r:id="rId37"/>
      <p:italic r:id="rId38"/>
      <p:boldItalic r:id="rId39"/>
    </p:embeddedFont>
    <p:embeddedFont>
      <p:font typeface="Noto Sans Bold" panose="020B0802040504020204"/>
      <p:regular r:id="rId40"/>
      <p:bold r:id="rId4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C9D8D"/>
    <a:srgbClr val="D5F9D3"/>
    <a:srgbClr val="EB6262"/>
    <a:srgbClr val="E6E5E7"/>
    <a:srgbClr val="DBDBDB"/>
    <a:srgbClr val="CBC8C8"/>
    <a:srgbClr val="E5A2A2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94658"/>
  </p:normalViewPr>
  <p:slideViewPr>
    <p:cSldViewPr snapToGrid="0">
      <p:cViewPr varScale="1">
        <p:scale>
          <a:sx n="73" d="100"/>
          <a:sy n="73" d="100"/>
        </p:scale>
        <p:origin x="216" y="42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notesMaster" Target="notesMasters/notesMaster1.xml"/><Relationship Id="rId35" Type="http://schemas.openxmlformats.org/officeDocument/2006/relationships/handoutMaster" Target="handoutMasters/handoutMaster1.xml"/><Relationship Id="rId36" Type="http://schemas.openxmlformats.org/officeDocument/2006/relationships/font" Target="fonts/font1.fntdata"/><Relationship Id="rId37" Type="http://schemas.openxmlformats.org/officeDocument/2006/relationships/font" Target="fonts/font2.fntdata"/><Relationship Id="rId38" Type="http://schemas.openxmlformats.org/officeDocument/2006/relationships/font" Target="fonts/font3.fntdata"/><Relationship Id="rId39" Type="http://schemas.openxmlformats.org/officeDocument/2006/relationships/font" Target="fonts/font4.fntdata"/><Relationship Id="rId40" Type="http://schemas.openxmlformats.org/officeDocument/2006/relationships/font" Target="fonts/font5.fntdata"/><Relationship Id="rId41" Type="http://schemas.openxmlformats.org/officeDocument/2006/relationships/font" Target="fonts/font6.fntdata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kaël OBADIA" userId="fbf7af9d-73af-4122-9907-57bb78c0dd65" providerId="ADAL" clId="{19E6C5B3-1833-5290-BE50-EF2E5286D34D}"/>
    <pc:docChg chg="modSld">
      <pc:chgData name="Mikaël OBADIA" userId="fbf7af9d-73af-4122-9907-57bb78c0dd65" providerId="ADAL" clId="{19E6C5B3-1833-5290-BE50-EF2E5286D34D}" dt="2026-09-04T16:36:19.199" v="1" actId="20577"/>
      <pc:docMkLst>
        <pc:docMk/>
      </pc:docMkLst>
      <pc:sldChg chg="modSp mod">
        <pc:chgData name="Mikaël OBADIA" userId="fbf7af9d-73af-4122-9907-57bb78c0dd65" providerId="ADAL" clId="{19E6C5B3-1833-5290-BE50-EF2E5286D34D}" dt="2026-09-04T16:36:19.199" v="1" actId="20577"/>
        <pc:sldMkLst>
          <pc:docMk/>
          <pc:sldMk cId="1295283734" sldId="297"/>
        </pc:sldMkLst>
        <pc:spChg chg="mod">
          <ac:chgData name="Mikaël OBADIA" userId="fbf7af9d-73af-4122-9907-57bb78c0dd65" providerId="ADAL" clId="{19E6C5B3-1833-5290-BE50-EF2E5286D34D}" dt="2026-09-04T16:36:19.199" v="1" actId="20577"/>
          <ac:spMkLst>
            <pc:docMk/>
            <pc:sldMk cId="1295283734" sldId="297"/>
            <ac:spMk id="15" creationId="{5FC860F6-A651-04BA-96CC-0894DAB27996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2A395729-5D50-2C4D-95D9-974D4E4DC88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BE3AFC8-EE20-6042-8C76-FC24A8E96F8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15373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6262DC-A8A3-1549-8EA9-5DABDAD424E3}" type="datetimeFigureOut">
              <a:rPr lang="fr-FR" smtClean="0"/>
              <a:t>04/09/2026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47CBE16-5E04-4946-ADA7-A78EA697FC8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3234EE7-D2D6-3F4A-9166-7E4A62C5524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15373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5AF188-D669-134B-A343-DB8AEE932E0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312905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15373" y="0"/>
            <a:ext cx="2918831" cy="49502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5454D3-6550-3C44-9898-CAA080C68A3C}" type="datetimeFigureOut">
              <a:rPr lang="fr-FR" smtClean="0"/>
              <a:t>04/09/2026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409575" y="1233488"/>
            <a:ext cx="5916613" cy="3328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73577" y="4748163"/>
            <a:ext cx="5388610" cy="388486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15373" y="9371286"/>
            <a:ext cx="2918831" cy="49502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817708C-DBCE-ED45-89BF-BEEA60D6808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2582459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817708C-DBCE-ED45-89BF-BEEA60D68087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365937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817708C-DBCE-ED45-89BF-BEEA60D68087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17378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EF284-135D-404A-9056-7A2BAA3E2BD9}" type="datetime1">
              <a:rPr lang="fr-FR" smtClean="0"/>
              <a:t>04/09/2026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03074-315D-B042-BBDC-508ABD16116A}" type="datetime1">
              <a:rPr lang="fr-FR" smtClean="0"/>
              <a:t>04/09/2026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2B186A-C642-3548-A097-DFACF8813BCE}" type="datetime1">
              <a:rPr lang="fr-FR" smtClean="0"/>
              <a:t>04/09/2026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1953B-E05E-9947-8DB9-B34ABA766B4F}" type="datetime1">
              <a:rPr lang="fr-FR" smtClean="0"/>
              <a:t>04/09/2026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2A980-4EB7-AA4F-8BB4-1FFD74DD6ECF}" type="datetime1">
              <a:rPr lang="fr-FR" smtClean="0"/>
              <a:t>04/09/2026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191F30-892C-C74A-9C9F-FC8F185951BB}" type="datetime1">
              <a:rPr lang="fr-FR" smtClean="0"/>
              <a:t>04/09/2026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F253A-ADBD-7648-B5BB-292588BDAA9B}" type="datetime1">
              <a:rPr lang="fr-FR" smtClean="0"/>
              <a:t>04/09/2026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0340F-9C92-F349-A654-0A8704170AE8}" type="datetime1">
              <a:rPr lang="fr-FR" smtClean="0"/>
              <a:t>04/09/2026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4BEF6A-35BD-DF4A-B61C-C282AA331FCE}" type="datetime1">
              <a:rPr lang="fr-FR" smtClean="0"/>
              <a:t>04/09/2026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0D15E-287F-FB4E-A85B-D7EBDE161C16}" type="datetime1">
              <a:rPr lang="fr-FR" smtClean="0"/>
              <a:t>04/09/2026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7152C5-DA17-224F-968D-B51187234900}" type="datetime1">
              <a:rPr lang="fr-FR" smtClean="0"/>
              <a:t>04/09/2026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C7130D-ABED-E64F-B043-95AF89C786D2}" type="datetime1">
              <a:rPr lang="fr-FR" smtClean="0"/>
              <a:t>04/09/2026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svg"/><Relationship Id="rId4" Type="http://schemas.openxmlformats.org/officeDocument/2006/relationships/image" Target="../media/image6.svg"/><Relationship Id="rId5" Type="http://schemas.openxmlformats.org/officeDocument/2006/relationships/image" Target="../media/image7.svg"/><Relationship Id="rId6" Type="http://schemas.openxmlformats.org/officeDocument/2006/relationships/image" Target="../media/image3.svg"/><Relationship Id="rId7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svg"/><Relationship Id="rId3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svg"/><Relationship Id="rId3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3.svg"/><Relationship Id="rId4" Type="http://schemas.openxmlformats.org/officeDocument/2006/relationships/image" Target="../media/image11.png"/><Relationship Id="rId5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sv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svg"/><Relationship Id="rId3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3.svg"/><Relationship Id="rId4" Type="http://schemas.openxmlformats.org/officeDocument/2006/relationships/image" Target="../media/image14.png"/><Relationship Id="rId5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3.svg"/><Relationship Id="rId4" Type="http://schemas.openxmlformats.org/officeDocument/2006/relationships/image" Target="../media/image11.png"/><Relationship Id="rId5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3.svg"/><Relationship Id="rId4" Type="http://schemas.openxmlformats.org/officeDocument/2006/relationships/image" Target="../media/image11.png"/><Relationship Id="rId5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3.svg"/><Relationship Id="rId4" Type="http://schemas.openxmlformats.org/officeDocument/2006/relationships/image" Target="../media/image11.png"/><Relationship Id="rId5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3.svg"/><Relationship Id="rId4" Type="http://schemas.openxmlformats.org/officeDocument/2006/relationships/image" Target="../media/image11.png"/><Relationship Id="rId5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sv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3.svg"/><Relationship Id="rId4" Type="http://schemas.openxmlformats.org/officeDocument/2006/relationships/image" Target="../media/image11.png"/><Relationship Id="rId5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svg"/><Relationship Id="rId3" Type="http://schemas.openxmlformats.org/officeDocument/2006/relationships/image" Target="../media/image17.png"/><Relationship Id="rId4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svg"/><Relationship Id="rId3" Type="http://schemas.openxmlformats.org/officeDocument/2006/relationships/image" Target="../media/image11.png"/><Relationship Id="rId4" Type="http://schemas.openxmlformats.org/officeDocument/2006/relationships/image" Target="../media/image18.png"/><Relationship Id="rId5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svg"/><Relationship Id="rId3" Type="http://schemas.openxmlformats.org/officeDocument/2006/relationships/image" Target="../media/image11.png"/><Relationship Id="rId4" Type="http://schemas.openxmlformats.org/officeDocument/2006/relationships/image" Target="../media/image19.png"/><Relationship Id="rId5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svg"/><Relationship Id="rId3" Type="http://schemas.openxmlformats.org/officeDocument/2006/relationships/image" Target="../media/image11.png"/><Relationship Id="rId4" Type="http://schemas.openxmlformats.org/officeDocument/2006/relationships/image" Target="../media/image20.png"/><Relationship Id="rId5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3.svg"/><Relationship Id="rId4" Type="http://schemas.openxmlformats.org/officeDocument/2006/relationships/image" Target="../media/image11.png"/><Relationship Id="rId5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svg"/><Relationship Id="rId3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svg"/><Relationship Id="rId3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3.svg"/><Relationship Id="rId4" Type="http://schemas.openxmlformats.org/officeDocument/2006/relationships/image" Target="../media/image24.svg"/><Relationship Id="rId5" Type="http://schemas.openxmlformats.org/officeDocument/2006/relationships/image" Target="../media/image25.svg"/><Relationship Id="rId6" Type="http://schemas.openxmlformats.org/officeDocument/2006/relationships/image" Target="../media/image26.svg"/><Relationship Id="rId7" Type="http://schemas.openxmlformats.org/officeDocument/2006/relationships/image" Target="../media/image27.svg"/><Relationship Id="rId8" Type="http://schemas.openxmlformats.org/officeDocument/2006/relationships/image" Target="../media/image28.svg"/><Relationship Id="rId9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eg"/><Relationship Id="rId3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sv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136850">
            <a:off x="3464594" y="-2106755"/>
            <a:ext cx="10428060" cy="5579061"/>
            <a:chOff x="307878" y="1822428"/>
            <a:chExt cx="5555603" cy="4231668"/>
          </a:xfrm>
        </p:grpSpPr>
        <p:sp>
          <p:nvSpPr>
            <p:cNvPr id="3" name="Freeform 3"/>
            <p:cNvSpPr/>
            <p:nvPr/>
          </p:nvSpPr>
          <p:spPr>
            <a:xfrm rot="21463150">
              <a:off x="307878" y="1822428"/>
              <a:ext cx="5555603" cy="4231668"/>
            </a:xfrm>
            <a:custGeom>
              <a:avLst/>
              <a:gdLst/>
              <a:ahLst/>
              <a:cxnLst/>
              <a:rect l="l" t="t" r="r" b="b"/>
              <a:pathLst>
                <a:path w="6321665" h="6350000">
                  <a:moveTo>
                    <a:pt x="3160833" y="0"/>
                  </a:moveTo>
                  <a:lnTo>
                    <a:pt x="3160833" y="0"/>
                  </a:lnTo>
                  <a:cubicBezTo>
                    <a:pt x="4908795" y="7817"/>
                    <a:pt x="6321666" y="1427021"/>
                    <a:pt x="6321666" y="3175000"/>
                  </a:cubicBezTo>
                  <a:cubicBezTo>
                    <a:pt x="6321666" y="4922979"/>
                    <a:pt x="4908795" y="6342183"/>
                    <a:pt x="3160833" y="6350000"/>
                  </a:cubicBezTo>
                  <a:cubicBezTo>
                    <a:pt x="1412871" y="6342183"/>
                    <a:pt x="0" y="4922979"/>
                    <a:pt x="0" y="3175000"/>
                  </a:cubicBezTo>
                  <a:cubicBezTo>
                    <a:pt x="0" y="1427021"/>
                    <a:pt x="1412871" y="7817"/>
                    <a:pt x="3160833" y="0"/>
                  </a:cubicBezTo>
                  <a:close/>
                </a:path>
              </a:pathLst>
            </a:custGeom>
            <a:solidFill>
              <a:srgbClr val="D9D9D9"/>
            </a:solidFill>
          </p:spPr>
          <p:txBody>
            <a:bodyPr/>
            <a:lstStyle/>
            <a:p>
              <a:endParaRPr lang="fr-FR" dirty="0"/>
            </a:p>
          </p:txBody>
        </p:sp>
      </p:grpSp>
      <p:sp>
        <p:nvSpPr>
          <p:cNvPr id="4" name="AutoShape 4"/>
          <p:cNvSpPr/>
          <p:nvPr/>
        </p:nvSpPr>
        <p:spPr>
          <a:xfrm>
            <a:off x="8024378" y="1840521"/>
            <a:ext cx="8579" cy="623921"/>
          </a:xfrm>
          <a:prstGeom prst="rect">
            <a:avLst/>
          </a:prstGeom>
          <a:solidFill>
            <a:srgbClr val="000000"/>
          </a:solidFill>
        </p:spPr>
        <p:txBody>
          <a:bodyPr/>
          <a:lstStyle/>
          <a:p>
            <a:endParaRPr lang="fr-FR" dirty="0"/>
          </a:p>
        </p:txBody>
      </p:sp>
      <p:grpSp>
        <p:nvGrpSpPr>
          <p:cNvPr id="6" name="Group 6"/>
          <p:cNvGrpSpPr/>
          <p:nvPr/>
        </p:nvGrpSpPr>
        <p:grpSpPr>
          <a:xfrm>
            <a:off x="13278902" y="643728"/>
            <a:ext cx="1013727" cy="1013727"/>
            <a:chOff x="0" y="0"/>
            <a:chExt cx="6350000" cy="6350000"/>
          </a:xfrm>
          <a:solidFill>
            <a:srgbClr val="D5F9D3"/>
          </a:solidFill>
        </p:grpSpPr>
        <p:sp>
          <p:nvSpPr>
            <p:cNvPr id="7" name="Freeform 7"/>
            <p:cNvSpPr/>
            <p:nvPr/>
          </p:nvSpPr>
          <p:spPr>
            <a:xfrm>
              <a:off x="14167" y="0"/>
              <a:ext cx="6321665" cy="6350000"/>
            </a:xfrm>
            <a:custGeom>
              <a:avLst/>
              <a:gdLst/>
              <a:ahLst/>
              <a:cxnLst/>
              <a:rect l="l" t="t" r="r" b="b"/>
              <a:pathLst>
                <a:path w="6321665" h="6350000">
                  <a:moveTo>
                    <a:pt x="3160833" y="0"/>
                  </a:moveTo>
                  <a:lnTo>
                    <a:pt x="3160833" y="0"/>
                  </a:lnTo>
                  <a:cubicBezTo>
                    <a:pt x="4908795" y="7817"/>
                    <a:pt x="6321666" y="1427021"/>
                    <a:pt x="6321666" y="3175000"/>
                  </a:cubicBezTo>
                  <a:cubicBezTo>
                    <a:pt x="6321666" y="4922979"/>
                    <a:pt x="4908795" y="6342183"/>
                    <a:pt x="3160833" y="6350000"/>
                  </a:cubicBezTo>
                  <a:cubicBezTo>
                    <a:pt x="1412871" y="6342183"/>
                    <a:pt x="0" y="4922979"/>
                    <a:pt x="0" y="3175000"/>
                  </a:cubicBezTo>
                  <a:cubicBezTo>
                    <a:pt x="0" y="1427021"/>
                    <a:pt x="1412871" y="7817"/>
                    <a:pt x="3160833" y="0"/>
                  </a:cubicBezTo>
                  <a:close/>
                </a:path>
              </a:pathLst>
            </a:custGeom>
            <a:solidFill>
              <a:srgbClr val="8C9D8D"/>
            </a:solidFill>
          </p:spPr>
          <p:txBody>
            <a:bodyPr/>
            <a:lstStyle/>
            <a:p>
              <a:endParaRPr lang="fr-FR" dirty="0"/>
            </a:p>
          </p:txBody>
        </p:sp>
      </p:grpSp>
      <p:pic>
        <p:nvPicPr>
          <p:cNvPr id="9" name="Picture 9"/>
          <p:cNvPicPr>
            <a:picLocks noChangeAspect="1"/>
          </p:cNvPicPr>
          <p:nvPr/>
        </p:nvPicPr>
        <p:blipFill>
          <a:blip r:embed="rId2"/>
          <a:srcRect t="14715" b="14715"/>
          <a:stretch>
            <a:fillRect/>
          </a:stretch>
        </p:blipFill>
        <p:spPr>
          <a:xfrm>
            <a:off x="-1" y="3290118"/>
            <a:ext cx="18288001" cy="4424105"/>
          </a:xfrm>
          <a:prstGeom prst="rect">
            <a:avLst/>
          </a:prstGeom>
        </p:spPr>
      </p:pic>
      <p:sp>
        <p:nvSpPr>
          <p:cNvPr id="11" name="TextBox 11"/>
          <p:cNvSpPr txBox="1"/>
          <p:nvPr/>
        </p:nvSpPr>
        <p:spPr>
          <a:xfrm>
            <a:off x="8503524" y="1984901"/>
            <a:ext cx="4086378" cy="3351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639"/>
              </a:lnSpc>
            </a:pPr>
            <a:r>
              <a:rPr lang="fr-FR" sz="2199" dirty="0">
                <a:solidFill>
                  <a:srgbClr val="252629"/>
                </a:solidFill>
                <a:latin typeface="Noto Sans Bold"/>
              </a:rPr>
              <a:t>SOLUTIONS D'IMPRESSION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615539" y="495895"/>
            <a:ext cx="8663363" cy="1065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91"/>
              </a:lnSpc>
            </a:pPr>
            <a:r>
              <a:rPr lang="fr-FR" sz="6992" spc="-139" dirty="0">
                <a:solidFill>
                  <a:srgbClr val="252629"/>
                </a:solidFill>
                <a:latin typeface="Noto Sans"/>
              </a:rPr>
              <a:t>Offre commerciale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128627" y="1984901"/>
            <a:ext cx="1670981" cy="3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639"/>
              </a:lnSpc>
            </a:pPr>
            <a:r>
              <a:rPr lang="fr-FR" sz="2199" dirty="0">
                <a:solidFill>
                  <a:srgbClr val="252629"/>
                </a:solidFill>
                <a:latin typeface="Noto Sans Bold"/>
              </a:rPr>
              <a:t>{{DATE}}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95300" y="7987723"/>
            <a:ext cx="4120239" cy="13580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700"/>
              </a:lnSpc>
            </a:pPr>
            <a:r>
              <a:rPr lang="fr-FR" sz="1800" spc="-36" dirty="0">
                <a:solidFill>
                  <a:srgbClr val="252629"/>
                </a:solidFill>
                <a:latin typeface="Noto Sans"/>
              </a:rPr>
              <a:t>{{REP_NAME}}</a:t>
            </a:r>
          </a:p>
          <a:p>
            <a:pPr algn="ctr">
              <a:lnSpc>
                <a:spcPts val="2700"/>
              </a:lnSpc>
            </a:pPr>
            <a:r>
              <a:rPr lang="fr-FR" sz="1800" spc="-36" dirty="0">
                <a:solidFill>
                  <a:srgbClr val="252629"/>
                </a:solidFill>
                <a:latin typeface="Noto Sans"/>
              </a:rPr>
              <a:t>{{REP_TITLE}}</a:t>
            </a:r>
          </a:p>
          <a:p>
            <a:pPr algn="ctr">
              <a:lnSpc>
                <a:spcPts val="2700"/>
              </a:lnSpc>
            </a:pPr>
            <a:r>
              <a:rPr lang="fr-FR" spc="-36" dirty="0">
                <a:solidFill>
                  <a:srgbClr val="252629"/>
                </a:solidFill>
                <a:latin typeface="Noto Sans"/>
              </a:rPr>
              <a:t>{{REP_EMAIL}}</a:t>
            </a:r>
          </a:p>
          <a:p>
            <a:pPr algn="ctr">
              <a:lnSpc>
                <a:spcPts val="2700"/>
              </a:lnSpc>
            </a:pPr>
            <a:r>
              <a:rPr lang="fr-FR" spc="-36" dirty="0">
                <a:solidFill>
                  <a:srgbClr val="252629"/>
                </a:solidFill>
                <a:latin typeface="Noto Sans"/>
              </a:rPr>
              <a:t>{{REP_MOBILE}}</a:t>
            </a:r>
            <a:endParaRPr lang="fr-FR" spc="-36" dirty="0">
              <a:solidFill>
                <a:srgbClr val="252629"/>
              </a:solidFill>
              <a:latin typeface="Noto Sans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3972073" y="7987723"/>
            <a:ext cx="2602539" cy="1358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0"/>
              </a:lnSpc>
            </a:pPr>
            <a:r>
              <a:rPr lang="fr-FR" sz="1800" spc="-36" dirty="0">
                <a:solidFill>
                  <a:srgbClr val="252629"/>
                </a:solidFill>
                <a:latin typeface="Noto Sans"/>
              </a:rPr>
              <a:t>135 chemin des Bassins</a:t>
            </a:r>
          </a:p>
          <a:p>
            <a:pPr algn="ctr">
              <a:lnSpc>
                <a:spcPts val="2700"/>
              </a:lnSpc>
            </a:pPr>
            <a:r>
              <a:rPr lang="fr-FR" sz="1800" spc="-36" dirty="0">
                <a:solidFill>
                  <a:srgbClr val="252629"/>
                </a:solidFill>
                <a:latin typeface="Noto Sans"/>
              </a:rPr>
              <a:t>94000 Créteil</a:t>
            </a:r>
          </a:p>
          <a:p>
            <a:pPr algn="ctr">
              <a:lnSpc>
                <a:spcPts val="2700"/>
              </a:lnSpc>
            </a:pPr>
            <a:r>
              <a:rPr lang="fr-FR" spc="-36" dirty="0">
                <a:solidFill>
                  <a:srgbClr val="252629"/>
                </a:solidFill>
                <a:latin typeface="Noto Sans"/>
              </a:rPr>
              <a:t>www.levad.fr</a:t>
            </a:r>
          </a:p>
          <a:p>
            <a:pPr algn="ctr">
              <a:lnSpc>
                <a:spcPts val="2700"/>
              </a:lnSpc>
            </a:pPr>
            <a:r>
              <a:rPr lang="fr-FR" spc="-36" dirty="0">
                <a:solidFill>
                  <a:srgbClr val="252629"/>
                </a:solidFill>
                <a:latin typeface="Noto Sans"/>
              </a:rPr>
              <a:t>01 70 72 19 40</a:t>
            </a:r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49DD6FF8-F245-E743-AFF9-99F25A3E4D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09674" y="9603383"/>
            <a:ext cx="2133600" cy="365125"/>
          </a:xfrm>
        </p:spPr>
        <p:txBody>
          <a:bodyPr/>
          <a:lstStyle/>
          <a:p>
            <a:fld id="{B6F15528-21DE-4FAA-801E-634DDDAF4B2B}" type="slidenum">
              <a:rPr lang="fr-FR" sz="2000" smtClean="0">
                <a:solidFill>
                  <a:schemeClr val="tx1"/>
                </a:solidFill>
              </a:rPr>
              <a:pPr/>
              <a:t>1</a:t>
            </a:fld>
            <a:endParaRPr lang="fr-FR" sz="2000" dirty="0">
              <a:solidFill>
                <a:schemeClr val="tx1"/>
              </a:solidFill>
            </a:endParaRPr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87950267-DBD1-5174-3000-D141FDE1AC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65400" y="857137"/>
            <a:ext cx="2818424" cy="779564"/>
          </a:xfrm>
          <a:prstGeom prst="rect">
            <a:avLst/>
          </a:prstGeom>
        </p:spPr>
      </p:pic>
      <p:pic>
        <p:nvPicPr>
          <p:cNvPr id="16" name="Picture 8">
            <a:extLst>
              <a:ext uri="{FF2B5EF4-FFF2-40B4-BE49-F238E27FC236}">
                <a16:creationId xmlns:a16="http://schemas.microsoft.com/office/drawing/2014/main" id="{9E623D52-8C46-3C24-19E0-7F0E5C05C215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p:blipFill>
        <p:spPr>
          <a:xfrm>
            <a:off x="13563490" y="1054265"/>
            <a:ext cx="436049" cy="192654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7D8E938A-43AB-6542-6B12-458280E485F2}"/>
              </a:ext>
            </a:extLst>
          </p:cNvPr>
          <p:cNvSpPr txBox="1"/>
          <p:nvPr/>
        </p:nvSpPr>
        <p:spPr>
          <a:xfrm>
            <a:off x="495300" y="857137"/>
            <a:ext cx="266700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b="1" dirty="0"/>
              <a:t>{{CLIENT_NAME}}</a:t>
            </a:r>
          </a:p>
          <a:p>
            <a:pPr algn="ctr"/>
            <a:r>
              <a:rPr lang="fr-FR" sz="3200" dirty="0"/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 l="18301" t="579" r="33239"/>
          <a:stretch>
            <a:fillRect/>
          </a:stretch>
        </p:blipFill>
        <p:spPr>
          <a:xfrm>
            <a:off x="12313844" y="1548747"/>
            <a:ext cx="6016469" cy="8738253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530120" y="3094125"/>
            <a:ext cx="997160" cy="973478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1543050" y="3590389"/>
            <a:ext cx="8629650" cy="3561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79"/>
              </a:lnSpc>
              <a:spcBef>
                <a:spcPct val="0"/>
              </a:spcBef>
            </a:pPr>
            <a:r>
              <a:rPr lang="fr-FR" sz="2400" dirty="0">
                <a:solidFill>
                  <a:srgbClr val="000000"/>
                </a:solidFill>
                <a:latin typeface="Noto Sans Bold"/>
              </a:rPr>
              <a:t>L'expertise</a:t>
            </a: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p:blipFill>
        <p:spPr>
          <a:xfrm>
            <a:off x="6475479" y="3094125"/>
            <a:ext cx="968161" cy="103597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>
            <a:fillRect/>
          </a:stretch>
        </p:blipFill>
        <p:spPr>
          <a:xfrm>
            <a:off x="3550683" y="6794218"/>
            <a:ext cx="1066325" cy="1047664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 rot="-5400000">
            <a:off x="3049216" y="2545667"/>
            <a:ext cx="9619" cy="3053489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txBody>
          <a:bodyPr/>
          <a:lstStyle/>
          <a:p>
            <a:endParaRPr lang="fr-FR" dirty="0"/>
          </a:p>
        </p:txBody>
      </p:sp>
      <p:sp>
        <p:nvSpPr>
          <p:cNvPr id="9" name="AutoShape 9"/>
          <p:cNvSpPr/>
          <p:nvPr/>
        </p:nvSpPr>
        <p:spPr>
          <a:xfrm rot="-5400000">
            <a:off x="9139191" y="2536049"/>
            <a:ext cx="9619" cy="3053489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txBody>
          <a:bodyPr/>
          <a:lstStyle/>
          <a:p>
            <a:endParaRPr lang="fr-FR" dirty="0"/>
          </a:p>
        </p:txBody>
      </p:sp>
      <p:sp>
        <p:nvSpPr>
          <p:cNvPr id="10" name="AutoShape 10"/>
          <p:cNvSpPr/>
          <p:nvPr/>
        </p:nvSpPr>
        <p:spPr>
          <a:xfrm rot="-5400000">
            <a:off x="6748670" y="5851863"/>
            <a:ext cx="9584" cy="3970455"/>
          </a:xfrm>
          <a:prstGeom prst="rect">
            <a:avLst/>
          </a:prstGeom>
          <a:solidFill>
            <a:srgbClr val="D30000"/>
          </a:solidFill>
          <a:ln>
            <a:solidFill>
              <a:schemeClr val="bg2">
                <a:lumMod val="75000"/>
              </a:schemeClr>
            </a:solidFill>
          </a:ln>
        </p:spPr>
        <p:txBody>
          <a:bodyPr/>
          <a:lstStyle/>
          <a:p>
            <a:endParaRPr lang="fr-FR" dirty="0"/>
          </a:p>
        </p:txBody>
      </p:sp>
      <p:sp>
        <p:nvSpPr>
          <p:cNvPr id="11" name="TextBox 11"/>
          <p:cNvSpPr txBox="1"/>
          <p:nvPr/>
        </p:nvSpPr>
        <p:spPr>
          <a:xfrm>
            <a:off x="2160654" y="552407"/>
            <a:ext cx="8629650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840"/>
              </a:lnSpc>
              <a:spcBef>
                <a:spcPct val="0"/>
              </a:spcBef>
            </a:pPr>
            <a:r>
              <a:rPr lang="fr-FR" sz="3200" dirty="0">
                <a:solidFill>
                  <a:srgbClr val="000000"/>
                </a:solidFill>
                <a:latin typeface="Noto Sans Bold"/>
              </a:rPr>
              <a:t>LEVAD s'inscrit dans la durée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77651" y="1823902"/>
            <a:ext cx="9144000" cy="9026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9"/>
              </a:lnSpc>
              <a:spcBef>
                <a:spcPct val="0"/>
              </a:spcBef>
            </a:pPr>
            <a:r>
              <a:rPr lang="fr-FR" sz="1699" dirty="0">
                <a:solidFill>
                  <a:srgbClr val="252629"/>
                </a:solidFill>
                <a:latin typeface="Noto Sans"/>
              </a:rPr>
              <a:t>Depuis </a:t>
            </a:r>
            <a:r>
              <a:rPr lang="fr-FR" sz="1699" dirty="0">
                <a:solidFill>
                  <a:srgbClr val="252629"/>
                </a:solidFill>
                <a:latin typeface="Noto Sans Bold"/>
              </a:rPr>
              <a:t>plus de 20 ans</a:t>
            </a:r>
            <a:r>
              <a:rPr lang="fr-FR" sz="1699" dirty="0">
                <a:solidFill>
                  <a:srgbClr val="252629"/>
                </a:solidFill>
                <a:latin typeface="Noto Sans"/>
              </a:rPr>
              <a:t>, notre volonté est de vous permettre d'exercer votre activité dans les meilleures conditions. Afin de répondre au mieux aux exigences de notre clientèle, notre travail se décompose en </a:t>
            </a:r>
            <a:r>
              <a:rPr lang="fr-FR" sz="1699" dirty="0">
                <a:solidFill>
                  <a:srgbClr val="252629"/>
                </a:solidFill>
                <a:latin typeface="Noto Sans Bold"/>
              </a:rPr>
              <a:t>3 phases</a:t>
            </a:r>
            <a:r>
              <a:rPr lang="fr-FR" sz="1699" dirty="0">
                <a:solidFill>
                  <a:srgbClr val="252629"/>
                </a:solidFill>
                <a:latin typeface="Noto Sans"/>
              </a:rPr>
              <a:t> bien définies :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30120" y="4411621"/>
            <a:ext cx="4747163" cy="15003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9"/>
              </a:lnSpc>
            </a:pPr>
            <a:r>
              <a:rPr lang="fr-FR" sz="1599" spc="7" dirty="0">
                <a:solidFill>
                  <a:srgbClr val="171717"/>
                </a:solidFill>
                <a:latin typeface="Noto Sans"/>
              </a:rPr>
              <a:t>Par le biais d'un ou plusieurs rendez-vous avec le responsable de votre entreprise, nous analysons vos besoins en impression, télécom et informatique. Cette phase est primordiale afin de pouvoir répondre au mieux à vos attentes.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617255" y="3590389"/>
            <a:ext cx="8629650" cy="3561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79"/>
              </a:lnSpc>
              <a:spcBef>
                <a:spcPct val="0"/>
              </a:spcBef>
            </a:pPr>
            <a:r>
              <a:rPr lang="fr-FR" sz="2400" dirty="0">
                <a:solidFill>
                  <a:srgbClr val="000000"/>
                </a:solidFill>
                <a:latin typeface="Noto Sans Bold"/>
              </a:rPr>
              <a:t>Solutions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357881" y="4255966"/>
            <a:ext cx="5572238" cy="21096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9"/>
              </a:lnSpc>
            </a:pPr>
            <a:r>
              <a:rPr lang="fr-FR" sz="1599" spc="7" dirty="0">
                <a:solidFill>
                  <a:srgbClr val="171717"/>
                </a:solidFill>
                <a:latin typeface="Noto Sans"/>
              </a:rPr>
              <a:t>Dans le cas où l'ingénieur commercial est dans la capacité de vous offrir des solutions en adéquation avec vos problématiques ce dernier reviendra vers vous avec une solution complète.</a:t>
            </a:r>
          </a:p>
          <a:p>
            <a:pPr algn="ctr">
              <a:lnSpc>
                <a:spcPts val="2399"/>
              </a:lnSpc>
            </a:pPr>
            <a:r>
              <a:rPr lang="fr-FR" sz="1599" spc="7" dirty="0">
                <a:solidFill>
                  <a:srgbClr val="171717"/>
                </a:solidFill>
                <a:latin typeface="Noto Sans"/>
              </a:rPr>
              <a:t>Cette dernière comportera des points techniques et financiers vous permettant de comparer et de prendre une décision.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768234" y="7317956"/>
            <a:ext cx="8629650" cy="3561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879"/>
              </a:lnSpc>
              <a:spcBef>
                <a:spcPct val="0"/>
              </a:spcBef>
            </a:pPr>
            <a:r>
              <a:rPr lang="fr-FR" sz="2400" dirty="0">
                <a:solidFill>
                  <a:srgbClr val="000000"/>
                </a:solidFill>
                <a:latin typeface="Noto Sans Bold"/>
              </a:rPr>
              <a:t>L'accompagnement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3353082" y="8223226"/>
            <a:ext cx="5729978" cy="15003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9"/>
              </a:lnSpc>
            </a:pPr>
            <a:r>
              <a:rPr lang="fr-FR" sz="1599" spc="7" dirty="0" err="1">
                <a:solidFill>
                  <a:srgbClr val="171717"/>
                </a:solidFill>
                <a:latin typeface="Noto Sans"/>
              </a:rPr>
              <a:t>Levad</a:t>
            </a:r>
            <a:r>
              <a:rPr lang="fr-FR" sz="1599" spc="7" dirty="0">
                <a:solidFill>
                  <a:srgbClr val="171717"/>
                </a:solidFill>
                <a:latin typeface="Noto Sans"/>
              </a:rPr>
              <a:t> a fait le choix d'accompagner ses clients vers l'avenir, en effet, vos besoins peuvent changer, votre matériel peut rencontrer des avaries. </a:t>
            </a:r>
            <a:r>
              <a:rPr lang="fr-FR" sz="1599" spc="7" dirty="0" err="1">
                <a:solidFill>
                  <a:srgbClr val="171717"/>
                </a:solidFill>
                <a:latin typeface="Noto Sans"/>
              </a:rPr>
              <a:t>Levad</a:t>
            </a:r>
            <a:r>
              <a:rPr lang="fr-FR" sz="1599" spc="7" dirty="0">
                <a:solidFill>
                  <a:srgbClr val="171717"/>
                </a:solidFill>
                <a:latin typeface="Noto Sans"/>
              </a:rPr>
              <a:t> grandit un suivi personnalisé pour tous ses clients et ceci pendant toute la durée du contrat.</a:t>
            </a:r>
          </a:p>
        </p:txBody>
      </p:sp>
      <p:sp>
        <p:nvSpPr>
          <p:cNvPr id="18" name="AutoShape 18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 dirty="0"/>
          </a:p>
        </p:txBody>
      </p:sp>
      <p:grpSp>
        <p:nvGrpSpPr>
          <p:cNvPr id="21" name="Group 21"/>
          <p:cNvGrpSpPr/>
          <p:nvPr/>
        </p:nvGrpSpPr>
        <p:grpSpPr>
          <a:xfrm>
            <a:off x="17272283" y="434837"/>
            <a:ext cx="1009204" cy="1013727"/>
            <a:chOff x="-14154449" y="-2609087"/>
            <a:chExt cx="6321668" cy="6350000"/>
          </a:xfrm>
          <a:solidFill>
            <a:srgbClr val="D5F9D3"/>
          </a:solidFill>
        </p:grpSpPr>
        <p:sp>
          <p:nvSpPr>
            <p:cNvPr id="22" name="Freeform 22"/>
            <p:cNvSpPr/>
            <p:nvPr/>
          </p:nvSpPr>
          <p:spPr>
            <a:xfrm>
              <a:off x="-14154449" y="-2609087"/>
              <a:ext cx="6321668" cy="6350000"/>
            </a:xfrm>
            <a:custGeom>
              <a:avLst/>
              <a:gdLst/>
              <a:ahLst/>
              <a:cxnLst/>
              <a:rect l="l" t="t" r="r" b="b"/>
              <a:pathLst>
                <a:path w="6321665" h="6350000">
                  <a:moveTo>
                    <a:pt x="3160833" y="0"/>
                  </a:moveTo>
                  <a:lnTo>
                    <a:pt x="3160833" y="0"/>
                  </a:lnTo>
                  <a:cubicBezTo>
                    <a:pt x="4908795" y="7817"/>
                    <a:pt x="6321666" y="1427021"/>
                    <a:pt x="6321666" y="3175000"/>
                  </a:cubicBezTo>
                  <a:cubicBezTo>
                    <a:pt x="6321666" y="4922979"/>
                    <a:pt x="4908795" y="6342183"/>
                    <a:pt x="3160833" y="6350000"/>
                  </a:cubicBezTo>
                  <a:cubicBezTo>
                    <a:pt x="1412871" y="6342183"/>
                    <a:pt x="0" y="4922979"/>
                    <a:pt x="0" y="3175000"/>
                  </a:cubicBezTo>
                  <a:cubicBezTo>
                    <a:pt x="0" y="1427021"/>
                    <a:pt x="1412871" y="7817"/>
                    <a:pt x="3160833" y="0"/>
                  </a:cubicBezTo>
                  <a:close/>
                </a:path>
              </a:pathLst>
            </a:custGeom>
            <a:solidFill>
              <a:srgbClr val="8C9D8D"/>
            </a:solidFill>
          </p:spPr>
          <p:txBody>
            <a:bodyPr/>
            <a:lstStyle/>
            <a:p>
              <a:endParaRPr lang="fr-FR" dirty="0"/>
            </a:p>
          </p:txBody>
        </p:sp>
      </p:grpSp>
      <p:grpSp>
        <p:nvGrpSpPr>
          <p:cNvPr id="23" name="Group 21"/>
          <p:cNvGrpSpPr/>
          <p:nvPr/>
        </p:nvGrpSpPr>
        <p:grpSpPr>
          <a:xfrm>
            <a:off x="17272283" y="434837"/>
            <a:ext cx="1009204" cy="1013727"/>
            <a:chOff x="-14154449" y="-2609087"/>
            <a:chExt cx="6321668" cy="6350000"/>
          </a:xfrm>
          <a:solidFill>
            <a:srgbClr val="D5F9D3"/>
          </a:solidFill>
        </p:grpSpPr>
        <p:sp>
          <p:nvSpPr>
            <p:cNvPr id="24" name="Freeform 22"/>
            <p:cNvSpPr/>
            <p:nvPr/>
          </p:nvSpPr>
          <p:spPr>
            <a:xfrm>
              <a:off x="-14154449" y="-2609087"/>
              <a:ext cx="6321668" cy="6350000"/>
            </a:xfrm>
            <a:custGeom>
              <a:avLst/>
              <a:gdLst/>
              <a:ahLst/>
              <a:cxnLst/>
              <a:rect l="l" t="t" r="r" b="b"/>
              <a:pathLst>
                <a:path w="6321665" h="6350000">
                  <a:moveTo>
                    <a:pt x="3160833" y="0"/>
                  </a:moveTo>
                  <a:lnTo>
                    <a:pt x="3160833" y="0"/>
                  </a:lnTo>
                  <a:cubicBezTo>
                    <a:pt x="4908795" y="7817"/>
                    <a:pt x="6321666" y="1427021"/>
                    <a:pt x="6321666" y="3175000"/>
                  </a:cubicBezTo>
                  <a:cubicBezTo>
                    <a:pt x="6321666" y="4922979"/>
                    <a:pt x="4908795" y="6342183"/>
                    <a:pt x="3160833" y="6350000"/>
                  </a:cubicBezTo>
                  <a:cubicBezTo>
                    <a:pt x="1412871" y="6342183"/>
                    <a:pt x="0" y="4922979"/>
                    <a:pt x="0" y="3175000"/>
                  </a:cubicBezTo>
                  <a:cubicBezTo>
                    <a:pt x="0" y="1427021"/>
                    <a:pt x="1412871" y="7817"/>
                    <a:pt x="3160833" y="0"/>
                  </a:cubicBezTo>
                  <a:close/>
                </a:path>
              </a:pathLst>
            </a:custGeom>
            <a:solidFill>
              <a:srgbClr val="8C9D8D"/>
            </a:solidFill>
          </p:spPr>
          <p:txBody>
            <a:bodyPr/>
            <a:lstStyle/>
            <a:p>
              <a:endParaRPr lang="fr-FR" dirty="0"/>
            </a:p>
          </p:txBody>
        </p:sp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DD691975-34BA-F74C-82F5-778DA8F41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693989"/>
            <a:ext cx="2133600" cy="365125"/>
          </a:xfrm>
        </p:spPr>
        <p:txBody>
          <a:bodyPr/>
          <a:lstStyle/>
          <a:p>
            <a:fld id="{B6F15528-21DE-4FAA-801E-634DDDAF4B2B}" type="slidenum">
              <a:rPr lang="fr-FR" sz="2000" smtClean="0">
                <a:solidFill>
                  <a:schemeClr val="tx1"/>
                </a:solidFill>
              </a:rPr>
              <a:pPr/>
              <a:t>2</a:t>
            </a:fld>
            <a:endParaRPr lang="fr-FR" sz="2000" dirty="0">
              <a:solidFill>
                <a:schemeClr val="tx1"/>
              </a:solidFill>
            </a:endParaRPr>
          </a:p>
        </p:txBody>
      </p:sp>
      <p:pic>
        <p:nvPicPr>
          <p:cNvPr id="29" name="Picture 8">
            <a:extLst>
              <a:ext uri="{FF2B5EF4-FFF2-40B4-BE49-F238E27FC236}">
                <a16:creationId xmlns:a16="http://schemas.microsoft.com/office/drawing/2014/main" id="{7086BAA0-3209-D29F-05A1-AE54D6E39712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/>
          </a:stretch>
        </p:blipFill>
        <p:spPr>
          <a:xfrm>
            <a:off x="17558861" y="847463"/>
            <a:ext cx="436049" cy="192654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70A75C20-B9B0-2936-E363-416CDB9F1DF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3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 dirty="0"/>
          </a:p>
        </p:txBody>
      </p:sp>
      <p:sp>
        <p:nvSpPr>
          <p:cNvPr id="5" name="TextBox 5"/>
          <p:cNvSpPr txBox="1"/>
          <p:nvPr/>
        </p:nvSpPr>
        <p:spPr>
          <a:xfrm>
            <a:off x="1028700" y="2758561"/>
            <a:ext cx="16230600" cy="44678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520"/>
              </a:lnSpc>
              <a:spcBef>
                <a:spcPct val="0"/>
              </a:spcBef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Paris, le </a:t>
            </a:r>
            <a:r>
              <a:rPr lang="fr-FR" dirty="0">
                <a:solidFill>
                  <a:srgbClr val="000000"/>
                </a:solidFill>
                <a:latin typeface="Noto Sans"/>
              </a:rPr>
              <a:t>{{DATE_LONG}}</a:t>
            </a:r>
            <a:endParaRPr lang="fr-FR" sz="1800" dirty="0">
              <a:solidFill>
                <a:srgbClr val="000000"/>
              </a:solidFill>
              <a:latin typeface="Noto Sans"/>
            </a:endParaRPr>
          </a:p>
          <a:p>
            <a:pPr algn="just">
              <a:lnSpc>
                <a:spcPts val="2520"/>
              </a:lnSpc>
              <a:spcBef>
                <a:spcPct val="0"/>
              </a:spcBef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{{CLIENT_CONTACT}}</a:t>
            </a:r>
            <a:endParaRPr lang="fr-FR" sz="1800" dirty="0">
              <a:solidFill>
                <a:srgbClr val="000000"/>
              </a:solidFill>
              <a:latin typeface="Noto Sans"/>
            </a:endParaRPr>
          </a:p>
          <a:p>
            <a:pPr algn="just">
              <a:lnSpc>
                <a:spcPts val="2520"/>
              </a:lnSpc>
              <a:spcBef>
                <a:spcPct val="0"/>
              </a:spcBef>
            </a:pPr>
            <a:endParaRPr lang="fr-FR" sz="1800" dirty="0">
              <a:solidFill>
                <a:srgbClr val="000000"/>
              </a:solidFill>
              <a:latin typeface="Noto Sans"/>
            </a:endParaRPr>
          </a:p>
          <a:p>
            <a:pPr algn="just">
              <a:lnSpc>
                <a:spcPts val="2520"/>
              </a:lnSpc>
              <a:spcBef>
                <a:spcPct val="0"/>
              </a:spcBef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Je vous prie de trouver ci-joint toute la documentation liée aux solutions impression, complétée par nos conditions financières.</a:t>
            </a:r>
          </a:p>
          <a:p>
            <a:pPr algn="just">
              <a:lnSpc>
                <a:spcPts val="2520"/>
              </a:lnSpc>
              <a:spcBef>
                <a:spcPct val="0"/>
              </a:spcBef>
            </a:pPr>
            <a:endParaRPr lang="fr-FR" sz="1800" dirty="0">
              <a:solidFill>
                <a:srgbClr val="000000"/>
              </a:solidFill>
              <a:latin typeface="Noto Sans"/>
            </a:endParaRPr>
          </a:p>
          <a:p>
            <a:pPr algn="just">
              <a:lnSpc>
                <a:spcPts val="2520"/>
              </a:lnSpc>
              <a:spcBef>
                <a:spcPct val="0"/>
              </a:spcBef>
            </a:pPr>
            <a:endParaRPr lang="fr-FR" sz="1800" dirty="0">
              <a:solidFill>
                <a:srgbClr val="000000"/>
              </a:solidFill>
              <a:latin typeface="Noto Sans"/>
            </a:endParaRPr>
          </a:p>
          <a:p>
            <a:pPr algn="just">
              <a:lnSpc>
                <a:spcPts val="2520"/>
              </a:lnSpc>
              <a:spcBef>
                <a:spcPct val="0"/>
              </a:spcBef>
            </a:pPr>
            <a:endParaRPr lang="fr-FR" sz="1800" dirty="0">
              <a:solidFill>
                <a:srgbClr val="000000"/>
              </a:solidFill>
              <a:latin typeface="Noto Sans"/>
            </a:endParaRPr>
          </a:p>
          <a:p>
            <a:pPr algn="just">
              <a:lnSpc>
                <a:spcPts val="2520"/>
              </a:lnSpc>
              <a:spcBef>
                <a:spcPct val="0"/>
              </a:spcBef>
            </a:pPr>
            <a:endParaRPr lang="fr-FR" sz="1800" dirty="0">
              <a:solidFill>
                <a:srgbClr val="000000"/>
              </a:solidFill>
              <a:latin typeface="Noto Sans"/>
            </a:endParaRPr>
          </a:p>
          <a:p>
            <a:pPr algn="just">
              <a:lnSpc>
                <a:spcPts val="2520"/>
              </a:lnSpc>
              <a:spcBef>
                <a:spcPct val="0"/>
              </a:spcBef>
            </a:pPr>
            <a:endParaRPr lang="fr-FR" sz="1800" dirty="0">
              <a:solidFill>
                <a:srgbClr val="000000"/>
              </a:solidFill>
              <a:latin typeface="Noto Sans"/>
            </a:endParaRPr>
          </a:p>
          <a:p>
            <a:pPr algn="just">
              <a:lnSpc>
                <a:spcPts val="2520"/>
              </a:lnSpc>
              <a:spcBef>
                <a:spcPct val="0"/>
              </a:spcBef>
            </a:pPr>
            <a:endParaRPr lang="fr-FR" dirty="0">
              <a:solidFill>
                <a:srgbClr val="000000"/>
              </a:solidFill>
              <a:latin typeface="Noto Sans"/>
            </a:endParaRPr>
          </a:p>
          <a:p>
            <a:pPr algn="just">
              <a:lnSpc>
                <a:spcPts val="2520"/>
              </a:lnSpc>
              <a:spcBef>
                <a:spcPct val="0"/>
              </a:spcBef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Nous vous remercions de l’intérêt que vous manifestez à l’égard de notre société et souhaitons que cette proposition retienne toute votre attention.</a:t>
            </a:r>
          </a:p>
          <a:p>
            <a:pPr algn="just">
              <a:lnSpc>
                <a:spcPts val="2520"/>
              </a:lnSpc>
              <a:spcBef>
                <a:spcPct val="0"/>
              </a:spcBef>
            </a:pPr>
            <a:endParaRPr lang="fr-FR" sz="1800" dirty="0">
              <a:solidFill>
                <a:srgbClr val="000000"/>
              </a:solidFill>
              <a:latin typeface="Noto Sans"/>
            </a:endParaRPr>
          </a:p>
          <a:p>
            <a:pPr algn="just">
              <a:lnSpc>
                <a:spcPts val="2520"/>
              </a:lnSpc>
              <a:spcBef>
                <a:spcPct val="0"/>
              </a:spcBef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Nous restons à votre entière disposition pour répondre à toutes vos questions. Nous vous prions de croire en l’expression de nos salutations distinguées.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867507" y="4880704"/>
            <a:ext cx="5917025" cy="373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indent="-342900" algn="ctr">
              <a:lnSpc>
                <a:spcPts val="3079"/>
              </a:lnSpc>
              <a:buFont typeface="Wingdings" panose="05000000000000000000" pitchFamily="2" charset="2"/>
              <a:buChar char="Ø"/>
            </a:pPr>
            <a:r>
              <a:rPr lang="fr-FR" sz="2199" b="1" u="sng" dirty="0">
                <a:solidFill>
                  <a:srgbClr val="8C9D8D"/>
                </a:solidFill>
                <a:latin typeface="Noto Sans Bold"/>
              </a:rPr>
              <a:t>{{MACHINE_HEADLINE}}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4173200" y="8140865"/>
            <a:ext cx="3505200" cy="15824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{{REP_NAME}}</a:t>
            </a:r>
          </a:p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{{REP_TITLE}}</a:t>
            </a:r>
          </a:p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{{REP_PHONELINE}}</a:t>
            </a:r>
          </a:p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{{REP_EMAIL}}</a:t>
            </a:r>
          </a:p>
          <a:p>
            <a:pPr algn="ctr">
              <a:lnSpc>
                <a:spcPts val="2520"/>
              </a:lnSpc>
              <a:spcBef>
                <a:spcPct val="0"/>
              </a:spcBef>
            </a:pPr>
            <a:endParaRPr lang="fr-FR" dirty="0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2590304" y="1904919"/>
            <a:ext cx="4080272" cy="14778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40"/>
              </a:lnSpc>
            </a:pPr>
            <a:r>
              <a:rPr lang="fr-FR" sz="2000" dirty="0">
                <a:solidFill>
                  <a:srgbClr val="000000"/>
                </a:solidFill>
                <a:latin typeface="Noto Sans"/>
              </a:rPr>
              <a:t>{{CLIENT_NAME}}</a:t>
            </a:r>
          </a:p>
          <a:p>
            <a:pPr algn="ctr">
              <a:lnSpc>
                <a:spcPts val="2940"/>
              </a:lnSpc>
            </a:pPr>
            <a:r>
              <a:rPr lang="fr-FR" sz="2000" dirty="0">
                <a:solidFill>
                  <a:srgbClr val="000000"/>
                </a:solidFill>
                <a:latin typeface="Noto Sans"/>
              </a:rPr>
              <a:t>{{CLIENT_ADDR1}}</a:t>
            </a:r>
          </a:p>
          <a:p>
            <a:pPr algn="ctr">
              <a:lnSpc>
                <a:spcPts val="2940"/>
              </a:lnSpc>
            </a:pPr>
            <a:r>
              <a:rPr lang="fr-FR" sz="2000" dirty="0">
                <a:solidFill>
                  <a:srgbClr val="000000"/>
                </a:solidFill>
                <a:latin typeface="Noto Sans"/>
              </a:rPr>
              <a:t>{{CLIENT_ADDR2}}</a:t>
            </a:r>
          </a:p>
          <a:p>
            <a:pPr algn="ctr">
              <a:lnSpc>
                <a:spcPts val="2940"/>
              </a:lnSpc>
              <a:spcBef>
                <a:spcPct val="0"/>
              </a:spcBef>
            </a:pPr>
            <a:endParaRPr lang="fr-FR" sz="1200" dirty="0">
              <a:solidFill>
                <a:srgbClr val="000000"/>
              </a:solidFill>
              <a:latin typeface="Noto Sans"/>
            </a:endParaRPr>
          </a:p>
        </p:txBody>
      </p:sp>
      <p:grpSp>
        <p:nvGrpSpPr>
          <p:cNvPr id="11" name="Group 11"/>
          <p:cNvGrpSpPr/>
          <p:nvPr/>
        </p:nvGrpSpPr>
        <p:grpSpPr>
          <a:xfrm>
            <a:off x="17276535" y="1026502"/>
            <a:ext cx="1009204" cy="1013727"/>
            <a:chOff x="14167" y="0"/>
            <a:chExt cx="6321665" cy="6350000"/>
          </a:xfrm>
          <a:solidFill>
            <a:srgbClr val="D5F9D3"/>
          </a:solidFill>
        </p:grpSpPr>
        <p:sp>
          <p:nvSpPr>
            <p:cNvPr id="12" name="Freeform 12"/>
            <p:cNvSpPr/>
            <p:nvPr/>
          </p:nvSpPr>
          <p:spPr>
            <a:xfrm>
              <a:off x="14167" y="0"/>
              <a:ext cx="6321665" cy="6350000"/>
            </a:xfrm>
            <a:custGeom>
              <a:avLst/>
              <a:gdLst/>
              <a:ahLst/>
              <a:cxnLst/>
              <a:rect l="l" t="t" r="r" b="b"/>
              <a:pathLst>
                <a:path w="6321665" h="6350000">
                  <a:moveTo>
                    <a:pt x="3160833" y="0"/>
                  </a:moveTo>
                  <a:lnTo>
                    <a:pt x="3160833" y="0"/>
                  </a:lnTo>
                  <a:cubicBezTo>
                    <a:pt x="4908795" y="7817"/>
                    <a:pt x="6321666" y="1427021"/>
                    <a:pt x="6321666" y="3175000"/>
                  </a:cubicBezTo>
                  <a:cubicBezTo>
                    <a:pt x="6321666" y="4922979"/>
                    <a:pt x="4908795" y="6342183"/>
                    <a:pt x="3160833" y="6350000"/>
                  </a:cubicBezTo>
                  <a:cubicBezTo>
                    <a:pt x="1412871" y="6342183"/>
                    <a:pt x="0" y="4922979"/>
                    <a:pt x="0" y="3175000"/>
                  </a:cubicBezTo>
                  <a:cubicBezTo>
                    <a:pt x="0" y="1427021"/>
                    <a:pt x="1412871" y="7817"/>
                    <a:pt x="3160833" y="0"/>
                  </a:cubicBezTo>
                  <a:close/>
                </a:path>
              </a:pathLst>
            </a:custGeom>
            <a:solidFill>
              <a:srgbClr val="8C9D8D"/>
            </a:solidFill>
          </p:spPr>
          <p:txBody>
            <a:bodyPr/>
            <a:lstStyle/>
            <a:p>
              <a:endParaRPr lang="fr-FR" dirty="0"/>
            </a:p>
          </p:txBody>
        </p:sp>
      </p:grpSp>
      <p:grpSp>
        <p:nvGrpSpPr>
          <p:cNvPr id="13" name="Group 11"/>
          <p:cNvGrpSpPr/>
          <p:nvPr/>
        </p:nvGrpSpPr>
        <p:grpSpPr>
          <a:xfrm>
            <a:off x="17274273" y="1026502"/>
            <a:ext cx="1013727" cy="1013727"/>
            <a:chOff x="0" y="0"/>
            <a:chExt cx="6350000" cy="6350000"/>
          </a:xfrm>
          <a:solidFill>
            <a:srgbClr val="D5F9D3"/>
          </a:solidFill>
        </p:grpSpPr>
        <p:sp>
          <p:nvSpPr>
            <p:cNvPr id="15" name="Freeform 12"/>
            <p:cNvSpPr/>
            <p:nvPr/>
          </p:nvSpPr>
          <p:spPr>
            <a:xfrm>
              <a:off x="14167" y="0"/>
              <a:ext cx="6321665" cy="6350000"/>
            </a:xfrm>
            <a:custGeom>
              <a:avLst/>
              <a:gdLst/>
              <a:ahLst/>
              <a:cxnLst/>
              <a:rect l="l" t="t" r="r" b="b"/>
              <a:pathLst>
                <a:path w="6321665" h="6350000">
                  <a:moveTo>
                    <a:pt x="3160833" y="0"/>
                  </a:moveTo>
                  <a:lnTo>
                    <a:pt x="3160833" y="0"/>
                  </a:lnTo>
                  <a:cubicBezTo>
                    <a:pt x="4908795" y="7817"/>
                    <a:pt x="6321666" y="1427021"/>
                    <a:pt x="6321666" y="3175000"/>
                  </a:cubicBezTo>
                  <a:cubicBezTo>
                    <a:pt x="6321666" y="4922979"/>
                    <a:pt x="4908795" y="6342183"/>
                    <a:pt x="3160833" y="6350000"/>
                  </a:cubicBezTo>
                  <a:cubicBezTo>
                    <a:pt x="1412871" y="6342183"/>
                    <a:pt x="0" y="4922979"/>
                    <a:pt x="0" y="3175000"/>
                  </a:cubicBezTo>
                  <a:cubicBezTo>
                    <a:pt x="0" y="1427021"/>
                    <a:pt x="1412871" y="7817"/>
                    <a:pt x="3160833" y="0"/>
                  </a:cubicBezTo>
                  <a:close/>
                </a:path>
              </a:pathLst>
            </a:custGeom>
            <a:solidFill>
              <a:srgbClr val="8C9D8D"/>
            </a:solidFill>
          </p:spPr>
          <p:txBody>
            <a:bodyPr/>
            <a:lstStyle/>
            <a:p>
              <a:endParaRPr lang="fr-FR" dirty="0"/>
            </a:p>
          </p:txBody>
        </p:sp>
      </p:grp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4794FD1-FA65-5A4D-8FDE-998F4AA92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3166" y="9659777"/>
            <a:ext cx="2133600" cy="365125"/>
          </a:xfrm>
        </p:spPr>
        <p:txBody>
          <a:bodyPr/>
          <a:lstStyle/>
          <a:p>
            <a:fld id="{B6F15528-21DE-4FAA-801E-634DDDAF4B2B}" type="slidenum">
              <a:rPr lang="fr-FR" sz="2000" smtClean="0">
                <a:solidFill>
                  <a:schemeClr val="tx1"/>
                </a:solidFill>
              </a:rPr>
              <a:pPr/>
              <a:t>3</a:t>
            </a:fld>
            <a:endParaRPr lang="fr-FR" sz="2000" dirty="0">
              <a:solidFill>
                <a:schemeClr val="tx1"/>
              </a:solidFill>
            </a:endParaRP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D0DE8DB8-B842-6024-6EAF-B749E80C3D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  <p:pic>
        <p:nvPicPr>
          <p:cNvPr id="14" name="Picture 8">
            <a:extLst>
              <a:ext uri="{FF2B5EF4-FFF2-40B4-BE49-F238E27FC236}">
                <a16:creationId xmlns:a16="http://schemas.microsoft.com/office/drawing/2014/main" id="{4AA9CB81-868B-102F-3E7F-EF5AD2BDC029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17561122" y="1417211"/>
            <a:ext cx="436049" cy="1926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246" y="0"/>
            <a:ext cx="18288000" cy="10287000"/>
          </a:xfrm>
          <a:prstGeom prst="rect">
            <a:avLst/>
          </a:prstGeom>
        </p:spPr>
      </p:pic>
      <p:sp>
        <p:nvSpPr>
          <p:cNvPr id="3" name="AutoShape 3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 dirty="0"/>
          </a:p>
        </p:txBody>
      </p:sp>
      <p:grpSp>
        <p:nvGrpSpPr>
          <p:cNvPr id="5" name="Group 5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6" name="Group 6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 dirty="0"/>
              </a:p>
            </p:txBody>
          </p:sp>
        </p:grpSp>
        <p:pic>
          <p:nvPicPr>
            <p:cNvPr id="8" name="Picture 8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grpSp>
        <p:nvGrpSpPr>
          <p:cNvPr id="10" name="Group 10"/>
          <p:cNvGrpSpPr/>
          <p:nvPr/>
        </p:nvGrpSpPr>
        <p:grpSpPr>
          <a:xfrm>
            <a:off x="4340673" y="6973833"/>
            <a:ext cx="9983559" cy="2465052"/>
            <a:chOff x="0" y="0"/>
            <a:chExt cx="6350000" cy="6350000"/>
          </a:xfrm>
        </p:grpSpPr>
        <p:sp>
          <p:nvSpPr>
            <p:cNvPr id="11" name="Freeform 11"/>
            <p:cNvSpPr/>
            <p:nvPr/>
          </p:nvSpPr>
          <p:spPr>
            <a:xfrm>
              <a:off x="14167" y="0"/>
              <a:ext cx="6321665" cy="6350000"/>
            </a:xfrm>
            <a:custGeom>
              <a:avLst/>
              <a:gdLst/>
              <a:ahLst/>
              <a:cxnLst/>
              <a:rect l="l" t="t" r="r" b="b"/>
              <a:pathLst>
                <a:path w="6321665" h="6350000">
                  <a:moveTo>
                    <a:pt x="3160833" y="0"/>
                  </a:moveTo>
                  <a:lnTo>
                    <a:pt x="3160833" y="0"/>
                  </a:lnTo>
                  <a:cubicBezTo>
                    <a:pt x="4908795" y="7817"/>
                    <a:pt x="6321666" y="1427021"/>
                    <a:pt x="6321666" y="3175000"/>
                  </a:cubicBezTo>
                  <a:cubicBezTo>
                    <a:pt x="6321666" y="4922979"/>
                    <a:pt x="4908795" y="6342183"/>
                    <a:pt x="3160833" y="6350000"/>
                  </a:cubicBezTo>
                  <a:cubicBezTo>
                    <a:pt x="1412871" y="6342183"/>
                    <a:pt x="0" y="4922979"/>
                    <a:pt x="0" y="3175000"/>
                  </a:cubicBezTo>
                  <a:cubicBezTo>
                    <a:pt x="0" y="1427021"/>
                    <a:pt x="1412871" y="7817"/>
                    <a:pt x="3160833" y="0"/>
                  </a:cubicBezTo>
                  <a:close/>
                </a:path>
              </a:pathLst>
            </a:custGeom>
            <a:solidFill>
              <a:srgbClr val="8C9D8D">
                <a:alpha val="54902"/>
              </a:srgbClr>
            </a:solidFill>
          </p:spPr>
          <p:txBody>
            <a:bodyPr/>
            <a:lstStyle/>
            <a:p>
              <a:endParaRPr lang="fr-FR" dirty="0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4392928" y="7762615"/>
            <a:ext cx="9939009" cy="8874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7280"/>
              </a:lnSpc>
            </a:pPr>
            <a:r>
              <a:rPr lang="fr-FR" sz="5600" dirty="0">
                <a:solidFill>
                  <a:srgbClr val="000000"/>
                </a:solidFill>
                <a:latin typeface="Noto Sans"/>
              </a:rPr>
              <a:t>Notre gamme Classique N&amp;B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48E367F-800F-CC4D-AF4A-C1A5A5199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639300"/>
            <a:ext cx="2133600" cy="365125"/>
          </a:xfrm>
        </p:spPr>
        <p:txBody>
          <a:bodyPr/>
          <a:lstStyle/>
          <a:p>
            <a:fld id="{B6F15528-21DE-4FAA-801E-634DDDAF4B2B}" type="slidenum">
              <a:rPr lang="fr-FR" sz="2000" smtClean="0">
                <a:solidFill>
                  <a:schemeClr val="tx1"/>
                </a:solidFill>
              </a:rPr>
              <a:pPr/>
              <a:t>4</a:t>
            </a:fld>
            <a:endParaRPr lang="fr-FR" sz="2000" dirty="0">
              <a:solidFill>
                <a:schemeClr val="tx1"/>
              </a:solidFill>
            </a:endParaRP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27594CDA-5217-AC3E-37ED-65F6760A53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Freeform 6">
            <a:extLst>
              <a:ext uri="{FF2B5EF4-FFF2-40B4-BE49-F238E27FC236}">
                <a16:creationId xmlns:a16="http://schemas.microsoft.com/office/drawing/2014/main" id="{29A54110-EEBC-834A-AF82-0FD1423EB8DF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 dirty="0"/>
          </a:p>
        </p:txBody>
      </p:sp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 dirty="0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 dirty="0"/>
          </a:p>
        </p:txBody>
      </p:sp>
      <p:sp>
        <p:nvSpPr>
          <p:cNvPr id="8" name="TextBox 8"/>
          <p:cNvSpPr txBox="1"/>
          <p:nvPr/>
        </p:nvSpPr>
        <p:spPr>
          <a:xfrm>
            <a:off x="1028700" y="3387154"/>
            <a:ext cx="10195975" cy="74366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Vitesse d'impression : 40 pages par minute en N&amp;B,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Multifonction laser Monochrome</a:t>
            </a:r>
            <a:endParaRPr lang="fr-FR" sz="1800" dirty="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Impression monochrome par système a faisceau laser,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Résolution d’impression</a:t>
            </a:r>
            <a:r>
              <a:rPr lang="fr-FR" dirty="0">
                <a:solidFill>
                  <a:srgbClr val="000000"/>
                </a:solidFill>
                <a:latin typeface="Noto Sans"/>
              </a:rPr>
              <a:t> : Jusqu’à 1 200 x 1 200 ppp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Langage de description : UFR II, PCL 6 &amp; Postscript</a:t>
            </a:r>
            <a:endParaRPr lang="fr-FR" sz="1800" dirty="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Alimentation papier: 1 cassette A4 de 550 feuilles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Scanner et connexion réseau Couleur (scan to file, scan to mail…),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Plateau d’alimentation manuelle By </a:t>
            </a:r>
            <a:r>
              <a:rPr lang="fr-FR" sz="1800" dirty="0" err="1">
                <a:solidFill>
                  <a:srgbClr val="000000"/>
                </a:solidFill>
                <a:latin typeface="Noto Sans"/>
              </a:rPr>
              <a:t>Pass</a:t>
            </a:r>
            <a:r>
              <a:rPr lang="fr-FR" sz="1800" dirty="0">
                <a:solidFill>
                  <a:srgbClr val="000000"/>
                </a:solidFill>
                <a:latin typeface="Noto Sans"/>
              </a:rPr>
              <a:t>: 50 Feuilles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Impressions depuis iPhone, Tablette Samsung, </a:t>
            </a:r>
            <a:r>
              <a:rPr lang="fr-FR" sz="1800" dirty="0" err="1">
                <a:solidFill>
                  <a:srgbClr val="000000"/>
                </a:solidFill>
                <a:latin typeface="Noto Sans"/>
              </a:rPr>
              <a:t>etc</a:t>
            </a:r>
            <a:r>
              <a:rPr lang="fr-FR" sz="1800" dirty="0">
                <a:solidFill>
                  <a:srgbClr val="000000"/>
                </a:solidFill>
                <a:latin typeface="Noto Sans"/>
              </a:rPr>
              <a:t> …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Temps de sortie de la 1ère Impression : environ 5 secondes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Grammage : 60 a 176 g/m²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Ecran tactile LCD de 12,7 cm</a:t>
            </a:r>
            <a:endParaRPr lang="fr-FR" sz="1800" dirty="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Capacité de 150 feuilles, en sortie.</a:t>
            </a:r>
            <a:endParaRPr lang="fr-FR" sz="1800" dirty="0">
              <a:solidFill>
                <a:srgbClr val="000000"/>
              </a:solidFill>
              <a:latin typeface="Noto Sans"/>
            </a:endParaRPr>
          </a:p>
          <a:p>
            <a:pPr>
              <a:lnSpc>
                <a:spcPts val="3906"/>
              </a:lnSpc>
            </a:pPr>
            <a:endParaRPr lang="fr-FR" sz="1800" dirty="0">
              <a:solidFill>
                <a:srgbClr val="000000"/>
              </a:solidFill>
              <a:latin typeface="Noto Sans"/>
            </a:endParaRPr>
          </a:p>
          <a:p>
            <a:pPr>
              <a:lnSpc>
                <a:spcPts val="3906"/>
              </a:lnSpc>
            </a:pPr>
            <a:endParaRPr lang="fr-FR" sz="1800" dirty="0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028700" y="2719337"/>
            <a:ext cx="770785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fr-FR" sz="2999" spc="-59" dirty="0">
                <a:solidFill>
                  <a:srgbClr val="8C9D8D"/>
                </a:solidFill>
                <a:latin typeface="Noto Sans Bold"/>
              </a:rPr>
              <a:t>CANON </a:t>
            </a:r>
            <a:r>
              <a:rPr lang="fr-FR" sz="2999" spc="-59" dirty="0" err="1">
                <a:solidFill>
                  <a:srgbClr val="8C9D8D"/>
                </a:solidFill>
                <a:latin typeface="Noto Sans Bold"/>
              </a:rPr>
              <a:t>imageFORCE</a:t>
            </a:r>
            <a:r>
              <a:rPr lang="fr-FR" sz="2999" spc="-59" dirty="0">
                <a:solidFill>
                  <a:srgbClr val="8C9D8D"/>
                </a:solidFill>
                <a:latin typeface="Noto Sans Bold"/>
              </a:rPr>
              <a:t> 1440/f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fr-FR" sz="3200" spc="48" dirty="0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17279774" y="1026501"/>
            <a:ext cx="1009204" cy="1013727"/>
            <a:chOff x="148592" y="12699"/>
            <a:chExt cx="1345605" cy="1351636"/>
          </a:xfrm>
        </p:grpSpPr>
        <p:grpSp>
          <p:nvGrpSpPr>
            <p:cNvPr id="14" name="Group 14"/>
            <p:cNvGrpSpPr/>
            <p:nvPr/>
          </p:nvGrpSpPr>
          <p:grpSpPr>
            <a:xfrm>
              <a:off x="148592" y="12699"/>
              <a:ext cx="1345605" cy="1351636"/>
              <a:chOff x="698087" y="59658"/>
              <a:chExt cx="6321668" cy="63500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698087" y="59658"/>
                <a:ext cx="6321668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 dirty="0"/>
              </a:p>
            </p:txBody>
          </p:sp>
        </p:grpSp>
        <p:pic>
          <p:nvPicPr>
            <p:cNvPr id="16" name="Picture 16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>
              <a:fillRect/>
            </a:stretch>
          </p:blipFill>
          <p:spPr>
            <a:xfrm>
              <a:off x="573511" y="560080"/>
              <a:ext cx="581399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F7B6BB46-3E03-3A43-98CA-CE987A574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52843" y="9603423"/>
            <a:ext cx="2133600" cy="365125"/>
          </a:xfrm>
        </p:spPr>
        <p:txBody>
          <a:bodyPr/>
          <a:lstStyle/>
          <a:p>
            <a:fld id="{B6F15528-21DE-4FAA-801E-634DDDAF4B2B}" type="slidenum">
              <a:rPr lang="fr-FR" sz="2000" smtClean="0">
                <a:solidFill>
                  <a:schemeClr val="tx1"/>
                </a:solidFill>
              </a:rPr>
              <a:pPr/>
              <a:t>5</a:t>
            </a:fld>
            <a:endParaRPr lang="fr-FR" sz="2000" dirty="0">
              <a:solidFill>
                <a:schemeClr val="tx1"/>
              </a:solidFill>
            </a:endParaRPr>
          </a:p>
        </p:txBody>
      </p:sp>
      <p:sp>
        <p:nvSpPr>
          <p:cNvPr id="19" name="TextBox 10">
            <a:extLst>
              <a:ext uri="{FF2B5EF4-FFF2-40B4-BE49-F238E27FC236}">
                <a16:creationId xmlns:a16="http://schemas.microsoft.com/office/drawing/2014/main" id="{16929BF5-B1CF-A246-9DF6-7FFC887A6960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fr-FR" sz="1899" dirty="0">
                <a:solidFill>
                  <a:srgbClr val="000000"/>
                </a:solidFill>
                <a:latin typeface="Noto Sans Bold"/>
              </a:rPr>
              <a:t>Quantité : 1</a:t>
            </a:r>
          </a:p>
        </p:txBody>
      </p:sp>
      <p:pic>
        <p:nvPicPr>
          <p:cNvPr id="6" name="Image 5" descr="Une image contenant Appareils électroniques, photocopieur, imprimante&#10;&#10;Description générée automatiquement">
            <a:extLst>
              <a:ext uri="{FF2B5EF4-FFF2-40B4-BE49-F238E27FC236}">
                <a16:creationId xmlns:a16="http://schemas.microsoft.com/office/drawing/2014/main" id="{67319D00-72CC-4278-0B3B-C4E709C559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91519" y="3791127"/>
            <a:ext cx="4747457" cy="3746621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5E121CC7-7CD6-6866-19B6-651CAB74F0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19734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Freeform 6">
            <a:extLst>
              <a:ext uri="{FF2B5EF4-FFF2-40B4-BE49-F238E27FC236}">
                <a16:creationId xmlns:a16="http://schemas.microsoft.com/office/drawing/2014/main" id="{29A54110-EEBC-834A-AF82-0FD1423EB8DF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 dirty="0"/>
          </a:p>
        </p:txBody>
      </p:sp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 dirty="0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 dirty="0"/>
          </a:p>
        </p:txBody>
      </p:sp>
      <p:sp>
        <p:nvSpPr>
          <p:cNvPr id="8" name="TextBox 8"/>
          <p:cNvSpPr txBox="1"/>
          <p:nvPr/>
        </p:nvSpPr>
        <p:spPr>
          <a:xfrm>
            <a:off x="1028700" y="3387154"/>
            <a:ext cx="10195975" cy="74366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Vitesse d'impression : 43 pages par minute en N&amp;B,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Multifonction laser Monochrome</a:t>
            </a:r>
            <a:endParaRPr lang="fr-FR" sz="1800" dirty="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Impression monochrome par système a faisceau laser,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Résolution d’impression</a:t>
            </a:r>
            <a:r>
              <a:rPr lang="fr-FR" dirty="0">
                <a:solidFill>
                  <a:srgbClr val="000000"/>
                </a:solidFill>
                <a:latin typeface="Noto Sans"/>
              </a:rPr>
              <a:t> : Jusqu’à 1 200 x 1 200 ppp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Langage de description : UFR II, PCL 6 &amp; Postscript</a:t>
            </a:r>
            <a:endParaRPr lang="fr-FR" sz="1800" dirty="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Alimentation papier: 1 cassette A4 de 550 feuilles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Scanner et connexion réseau Couleur (scan to file, scan to mail…),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Plateau d’alimentation manuelle By </a:t>
            </a:r>
            <a:r>
              <a:rPr lang="fr-FR" sz="1800" dirty="0" err="1">
                <a:solidFill>
                  <a:srgbClr val="000000"/>
                </a:solidFill>
                <a:latin typeface="Noto Sans"/>
              </a:rPr>
              <a:t>Pass</a:t>
            </a:r>
            <a:r>
              <a:rPr lang="fr-FR" sz="1800" dirty="0">
                <a:solidFill>
                  <a:srgbClr val="000000"/>
                </a:solidFill>
                <a:latin typeface="Noto Sans"/>
              </a:rPr>
              <a:t>: 50 Feuilles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Impressions depuis iPhone, Tablette Samsung, </a:t>
            </a:r>
            <a:r>
              <a:rPr lang="fr-FR" sz="1800" dirty="0" err="1">
                <a:solidFill>
                  <a:srgbClr val="000000"/>
                </a:solidFill>
                <a:latin typeface="Noto Sans"/>
              </a:rPr>
              <a:t>etc</a:t>
            </a:r>
            <a:r>
              <a:rPr lang="fr-FR" sz="1800" dirty="0">
                <a:solidFill>
                  <a:srgbClr val="000000"/>
                </a:solidFill>
                <a:latin typeface="Noto Sans"/>
              </a:rPr>
              <a:t> …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Temps de sortie de la 1ère Impression : environ 5 secondes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Grammage : 60 a 176 g/m²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Ecran tactile LCD de 12,7 cm</a:t>
            </a:r>
            <a:endParaRPr lang="fr-FR" sz="1800" dirty="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Capacité de 150 feuilles, en sortie.</a:t>
            </a:r>
            <a:endParaRPr lang="fr-FR" sz="1800" dirty="0">
              <a:solidFill>
                <a:srgbClr val="000000"/>
              </a:solidFill>
              <a:latin typeface="Noto Sans"/>
            </a:endParaRPr>
          </a:p>
          <a:p>
            <a:pPr>
              <a:lnSpc>
                <a:spcPts val="3906"/>
              </a:lnSpc>
            </a:pPr>
            <a:endParaRPr lang="fr-FR" sz="1800" dirty="0">
              <a:solidFill>
                <a:srgbClr val="000000"/>
              </a:solidFill>
              <a:latin typeface="Noto Sans"/>
            </a:endParaRPr>
          </a:p>
          <a:p>
            <a:pPr>
              <a:lnSpc>
                <a:spcPts val="3906"/>
              </a:lnSpc>
            </a:pPr>
            <a:endParaRPr lang="fr-FR" sz="1800" dirty="0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028700" y="2719337"/>
            <a:ext cx="770785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fr-FR" sz="2999" spc="-59" dirty="0">
                <a:solidFill>
                  <a:srgbClr val="8C9D8D"/>
                </a:solidFill>
                <a:latin typeface="Noto Sans Bold"/>
              </a:rPr>
              <a:t>CANON </a:t>
            </a:r>
            <a:r>
              <a:rPr lang="fr-FR" sz="2999" spc="-59" dirty="0" err="1">
                <a:solidFill>
                  <a:srgbClr val="8C9D8D"/>
                </a:solidFill>
                <a:latin typeface="Noto Sans Bold"/>
              </a:rPr>
              <a:t>imageFORCE</a:t>
            </a:r>
            <a:r>
              <a:rPr lang="fr-FR" sz="2999" spc="-59" dirty="0">
                <a:solidFill>
                  <a:srgbClr val="8C9D8D"/>
                </a:solidFill>
                <a:latin typeface="Noto Sans Bold"/>
              </a:rPr>
              <a:t> 1643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fr-FR" sz="3200" spc="48" dirty="0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4" name="Group 14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 dirty="0"/>
              </a:p>
            </p:txBody>
          </p:sp>
        </p:grpSp>
        <p:pic>
          <p:nvPicPr>
            <p:cNvPr id="16" name="Picture 16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F7B6BB46-3E03-3A43-98CA-CE987A574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52843" y="9603423"/>
            <a:ext cx="2133600" cy="365125"/>
          </a:xfrm>
        </p:spPr>
        <p:txBody>
          <a:bodyPr/>
          <a:lstStyle/>
          <a:p>
            <a:fld id="{B6F15528-21DE-4FAA-801E-634DDDAF4B2B}" type="slidenum">
              <a:rPr lang="fr-FR" sz="2000" smtClean="0">
                <a:solidFill>
                  <a:schemeClr val="tx1"/>
                </a:solidFill>
              </a:rPr>
              <a:pPr/>
              <a:t>6</a:t>
            </a:fld>
            <a:endParaRPr lang="fr-FR" sz="2000" dirty="0">
              <a:solidFill>
                <a:schemeClr val="tx1"/>
              </a:solidFill>
            </a:endParaRPr>
          </a:p>
        </p:txBody>
      </p:sp>
      <p:sp>
        <p:nvSpPr>
          <p:cNvPr id="19" name="TextBox 10">
            <a:extLst>
              <a:ext uri="{FF2B5EF4-FFF2-40B4-BE49-F238E27FC236}">
                <a16:creationId xmlns:a16="http://schemas.microsoft.com/office/drawing/2014/main" id="{16929BF5-B1CF-A246-9DF6-7FFC887A6960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fr-FR" sz="1899" dirty="0">
                <a:solidFill>
                  <a:srgbClr val="000000"/>
                </a:solidFill>
                <a:latin typeface="Noto Sans Bold"/>
              </a:rPr>
              <a:t>Quantité : 1</a:t>
            </a:r>
          </a:p>
        </p:txBody>
      </p:sp>
      <p:pic>
        <p:nvPicPr>
          <p:cNvPr id="6" name="Image 5" descr="Une image contenant Appareils électroniques, photocopieur, imprimante&#10;&#10;Description générée automatiquement">
            <a:extLst>
              <a:ext uri="{FF2B5EF4-FFF2-40B4-BE49-F238E27FC236}">
                <a16:creationId xmlns:a16="http://schemas.microsoft.com/office/drawing/2014/main" id="{67319D00-72CC-4278-0B3B-C4E709C559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91519" y="3791127"/>
            <a:ext cx="4747457" cy="3746621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4A7B8521-F3F0-604B-A695-844812575C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176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6">
            <a:extLst>
              <a:ext uri="{FF2B5EF4-FFF2-40B4-BE49-F238E27FC236}">
                <a16:creationId xmlns:a16="http://schemas.microsoft.com/office/drawing/2014/main" id="{2966770E-3321-E744-91B7-2DDFC8FC1894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 dirty="0"/>
          </a:p>
        </p:txBody>
      </p:sp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 dirty="0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 dirty="0"/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0232681" y="3060305"/>
            <a:ext cx="8865133" cy="5208266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1028698" y="3321826"/>
            <a:ext cx="11058128" cy="6415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Vitesse d'impression : 25 pages par minute en N&amp;B </a:t>
            </a:r>
            <a:r>
              <a:rPr lang="fr-FR" dirty="0">
                <a:solidFill>
                  <a:srgbClr val="000000"/>
                </a:solidFill>
                <a:latin typeface="Noto Sans"/>
              </a:rPr>
              <a:t>,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Chargeur recto verso de document de 100 feuilles,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Alimentation papier : 2 Cassettes A4/A3 de 550 feuilles chacune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Disque Dur de 250 Go et Mémoire Ram de 4Go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Plateau d’alimentation manuel By </a:t>
            </a:r>
            <a:r>
              <a:rPr lang="fr-FR" sz="1800" dirty="0" err="1">
                <a:solidFill>
                  <a:srgbClr val="000000"/>
                </a:solidFill>
                <a:latin typeface="Noto Sans"/>
              </a:rPr>
              <a:t>Pass</a:t>
            </a:r>
            <a:r>
              <a:rPr lang="fr-FR" sz="1800" dirty="0">
                <a:solidFill>
                  <a:srgbClr val="000000"/>
                </a:solidFill>
                <a:latin typeface="Noto Sans"/>
              </a:rPr>
              <a:t> de 100 feuilles,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Module Postscript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Grammage des supports de 52 à 300g/m²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Possibilité de scanner en format Word, PDF, TIFF, JPEG ou Powerpoint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Logiciel PDF Compact, permet la compression de fichiers lourds en Scan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Scanner et Connexion réseau Couleur (scan to file, scan to mail…)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Suppression automatique des pages blanches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Impressions depuis iPhone, Tablette Samsung, iPad, etc…</a:t>
            </a:r>
          </a:p>
          <a:p>
            <a:pPr>
              <a:lnSpc>
                <a:spcPts val="3924"/>
              </a:lnSpc>
            </a:pPr>
            <a:endParaRPr lang="fr-FR" sz="1800" dirty="0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028698" y="2638425"/>
            <a:ext cx="7707857" cy="7725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fr-FR" sz="2999" spc="-59" dirty="0">
                <a:solidFill>
                  <a:srgbClr val="8C9D8D"/>
                </a:solidFill>
                <a:latin typeface="Noto Sans Bold"/>
              </a:rPr>
              <a:t>CANON Image Runner Advance DX 4945i</a:t>
            </a:r>
          </a:p>
          <a:p>
            <a:pPr>
              <a:lnSpc>
                <a:spcPts val="2999"/>
              </a:lnSpc>
            </a:pPr>
            <a:endParaRPr lang="fr-FR" sz="2999" spc="-59" dirty="0">
              <a:solidFill>
                <a:srgbClr val="BB0808"/>
              </a:solidFill>
              <a:latin typeface="Noto Sans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fr-FR" sz="3200" spc="48" dirty="0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 dirty="0"/>
              </a:p>
            </p:txBody>
          </p:sp>
        </p:grpSp>
        <p:pic>
          <p:nvPicPr>
            <p:cNvPr id="17" name="Picture 17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31F85C1-C0A9-F84A-B2C3-814E3C114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5543" y="9665650"/>
            <a:ext cx="2133600" cy="365125"/>
          </a:xfrm>
        </p:spPr>
        <p:txBody>
          <a:bodyPr/>
          <a:lstStyle/>
          <a:p>
            <a:fld id="{B6F15528-21DE-4FAA-801E-634DDDAF4B2B}" type="slidenum">
              <a:rPr lang="fr-FR" sz="2000" smtClean="0">
                <a:solidFill>
                  <a:schemeClr val="tx1"/>
                </a:solidFill>
              </a:rPr>
              <a:pPr/>
              <a:t>7</a:t>
            </a:fld>
            <a:endParaRPr lang="fr-FR" sz="2000" dirty="0">
              <a:solidFill>
                <a:schemeClr val="tx1"/>
              </a:solidFill>
            </a:endParaRPr>
          </a:p>
        </p:txBody>
      </p:sp>
      <p:sp>
        <p:nvSpPr>
          <p:cNvPr id="20" name="TextBox 10">
            <a:extLst>
              <a:ext uri="{FF2B5EF4-FFF2-40B4-BE49-F238E27FC236}">
                <a16:creationId xmlns:a16="http://schemas.microsoft.com/office/drawing/2014/main" id="{DCF63DB6-8BBB-D042-A197-67B7C3942B9C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fr-FR" sz="1899" dirty="0">
                <a:solidFill>
                  <a:srgbClr val="000000"/>
                </a:solidFill>
                <a:latin typeface="Noto Sans Bold"/>
              </a:rPr>
              <a:t>Quantité : 1</a:t>
            </a:r>
          </a:p>
        </p:txBody>
      </p:sp>
      <p:pic>
        <p:nvPicPr>
          <p:cNvPr id="21" name="Picture 12">
            <a:extLst>
              <a:ext uri="{FF2B5EF4-FFF2-40B4-BE49-F238E27FC236}">
                <a16:creationId xmlns:a16="http://schemas.microsoft.com/office/drawing/2014/main" id="{7C2DF1C0-6DD7-1A46-98A4-23D76E946E7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6170592" y="7816408"/>
            <a:ext cx="878545" cy="640083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D8D6B97E-AF72-A351-07B8-61FBF4FD69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24951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6">
            <a:extLst>
              <a:ext uri="{FF2B5EF4-FFF2-40B4-BE49-F238E27FC236}">
                <a16:creationId xmlns:a16="http://schemas.microsoft.com/office/drawing/2014/main" id="{64CAAC97-0150-EB41-8D6E-AFF2E1B2BA9E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 dirty="0"/>
          </a:p>
        </p:txBody>
      </p:sp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 dirty="0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 dirty="0"/>
          </a:p>
        </p:txBody>
      </p:sp>
      <p:sp>
        <p:nvSpPr>
          <p:cNvPr id="9" name="TextBox 9"/>
          <p:cNvSpPr txBox="1"/>
          <p:nvPr/>
        </p:nvSpPr>
        <p:spPr>
          <a:xfrm>
            <a:off x="869431" y="3370494"/>
            <a:ext cx="11058128" cy="6415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Vitesse d'impression : 55 pages par minute en N&amp;B,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Chargeur recto verso 1 passe de document de 200 feuilles,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Alimentation papier : 2 Cassettes A4/A3 de 550 feuilles chacune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Disque Dur de 256 Go et Mémoire Ram de 5Go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Plateau d’alimentation manuel By </a:t>
            </a:r>
            <a:r>
              <a:rPr lang="fr-FR" dirty="0" err="1">
                <a:solidFill>
                  <a:srgbClr val="000000"/>
                </a:solidFill>
                <a:latin typeface="Noto Sans"/>
              </a:rPr>
              <a:t>Pass</a:t>
            </a:r>
            <a:r>
              <a:rPr lang="fr-FR" dirty="0">
                <a:solidFill>
                  <a:srgbClr val="000000"/>
                </a:solidFill>
                <a:latin typeface="Noto Sans"/>
              </a:rPr>
              <a:t> de 100 feuilles,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Module Postscript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Grammage des supports de 52 à 300g/m²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Possibilité de scanner en format Word, PDF, TIFF, JPEG ou Powerpoint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Logiciel PDF Compact, permet la compression de fichiers lourds en Scan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Scanner et Connexion réseau Couleur (scan to file, scan to mail…)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Suppression automatique des pages blanches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Impressions depuis iPhone, Tablette Samsung, iPad, etc…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Matériel Wifi 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699" y="2598969"/>
            <a:ext cx="7707855" cy="771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fr-FR" sz="2999" spc="-59" dirty="0">
                <a:solidFill>
                  <a:srgbClr val="8C9D8D"/>
                </a:solidFill>
                <a:latin typeface="Noto Sans Bold"/>
              </a:rPr>
              <a:t>CANON </a:t>
            </a:r>
            <a:r>
              <a:rPr lang="fr-FR" sz="2999" spc="-59" dirty="0" err="1">
                <a:solidFill>
                  <a:srgbClr val="8C9D8D"/>
                </a:solidFill>
                <a:latin typeface="Noto Sans Bold"/>
              </a:rPr>
              <a:t>ImageFORCE</a:t>
            </a:r>
            <a:r>
              <a:rPr lang="fr-FR" sz="2999" spc="-59" dirty="0">
                <a:solidFill>
                  <a:srgbClr val="8C9D8D"/>
                </a:solidFill>
                <a:latin typeface="Noto Sans Bold"/>
              </a:rPr>
              <a:t> 6155i</a:t>
            </a:r>
          </a:p>
          <a:p>
            <a:pPr>
              <a:lnSpc>
                <a:spcPts val="2999"/>
              </a:lnSpc>
            </a:pPr>
            <a:endParaRPr lang="fr-FR" sz="2999" spc="-59" dirty="0">
              <a:solidFill>
                <a:srgbClr val="BB0808"/>
              </a:solidFill>
              <a:latin typeface="Noto Sans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fr-FR" sz="3200" spc="48" dirty="0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 dirty="0"/>
              </a:p>
            </p:txBody>
          </p:sp>
        </p:grpSp>
        <p:pic>
          <p:nvPicPr>
            <p:cNvPr id="17" name="Picture 17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A5C2392C-EDF8-4E48-A7E4-78286E436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723622"/>
            <a:ext cx="2133600" cy="365125"/>
          </a:xfrm>
        </p:spPr>
        <p:txBody>
          <a:bodyPr/>
          <a:lstStyle/>
          <a:p>
            <a:fld id="{B6F15528-21DE-4FAA-801E-634DDDAF4B2B}" type="slidenum">
              <a:rPr lang="fr-FR" sz="2000" smtClean="0">
                <a:solidFill>
                  <a:schemeClr val="tx1"/>
                </a:solidFill>
              </a:rPr>
              <a:pPr/>
              <a:t>8</a:t>
            </a:fld>
            <a:endParaRPr lang="fr-FR" sz="2000" dirty="0">
              <a:solidFill>
                <a:schemeClr val="tx1"/>
              </a:solidFill>
            </a:endParaRPr>
          </a:p>
        </p:txBody>
      </p:sp>
      <p:sp>
        <p:nvSpPr>
          <p:cNvPr id="20" name="TextBox 10">
            <a:extLst>
              <a:ext uri="{FF2B5EF4-FFF2-40B4-BE49-F238E27FC236}">
                <a16:creationId xmlns:a16="http://schemas.microsoft.com/office/drawing/2014/main" id="{02E5B688-5FC4-FC4C-944B-74224089DAF6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fr-FR" sz="1899" dirty="0">
                <a:solidFill>
                  <a:srgbClr val="000000"/>
                </a:solidFill>
                <a:latin typeface="Noto Sans Bold"/>
              </a:rPr>
              <a:t>Quantité : 1</a:t>
            </a:r>
          </a:p>
        </p:txBody>
      </p:sp>
      <p:pic>
        <p:nvPicPr>
          <p:cNvPr id="22" name="Picture 12">
            <a:extLst>
              <a:ext uri="{FF2B5EF4-FFF2-40B4-BE49-F238E27FC236}">
                <a16:creationId xmlns:a16="http://schemas.microsoft.com/office/drawing/2014/main" id="{B497F895-78DE-774F-9EE5-20117D1986D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6170592" y="7816408"/>
            <a:ext cx="878545" cy="640083"/>
          </a:xfrm>
          <a:prstGeom prst="rect">
            <a:avLst/>
          </a:prstGeom>
        </p:spPr>
      </p:pic>
      <p:pic>
        <p:nvPicPr>
          <p:cNvPr id="6" name="Image 5" descr="Une image contenant Appareils électroniques, photocopieur&#10;&#10;Description générée automatiquement">
            <a:extLst>
              <a:ext uri="{FF2B5EF4-FFF2-40B4-BE49-F238E27FC236}">
                <a16:creationId xmlns:a16="http://schemas.microsoft.com/office/drawing/2014/main" id="{43ED127C-70E1-91E6-719B-9CDFAF6F1BC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6908" y="2448763"/>
            <a:ext cx="6272232" cy="6377392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53DC8B9E-04D5-DE93-0FD7-DD8C7B468D7A}"/>
              </a:ext>
            </a:extLst>
          </p:cNvPr>
          <p:cNvSpPr txBox="1"/>
          <p:nvPr/>
        </p:nvSpPr>
        <p:spPr>
          <a:xfrm>
            <a:off x="13944396" y="9323512"/>
            <a:ext cx="32121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u="sng" dirty="0">
                <a:solidFill>
                  <a:srgbClr val="8C9D8D"/>
                </a:solidFill>
              </a:rPr>
              <a:t>Photo non contractuelle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4C66233D-4E7D-9007-2A89-A5AD8DE747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8925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AutoShape 3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 dirty="0"/>
          </a:p>
        </p:txBody>
      </p:sp>
      <p:grpSp>
        <p:nvGrpSpPr>
          <p:cNvPr id="5" name="Group 5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6" name="Group 6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 dirty="0"/>
              </a:p>
            </p:txBody>
          </p:sp>
        </p:grpSp>
        <p:pic>
          <p:nvPicPr>
            <p:cNvPr id="8" name="Picture 8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grpSp>
        <p:nvGrpSpPr>
          <p:cNvPr id="10" name="Group 10"/>
          <p:cNvGrpSpPr/>
          <p:nvPr/>
        </p:nvGrpSpPr>
        <p:grpSpPr>
          <a:xfrm>
            <a:off x="4514857" y="5792033"/>
            <a:ext cx="9983559" cy="2465052"/>
            <a:chOff x="0" y="0"/>
            <a:chExt cx="6350000" cy="6350000"/>
          </a:xfrm>
        </p:grpSpPr>
        <p:sp>
          <p:nvSpPr>
            <p:cNvPr id="11" name="Freeform 11"/>
            <p:cNvSpPr/>
            <p:nvPr/>
          </p:nvSpPr>
          <p:spPr>
            <a:xfrm>
              <a:off x="14167" y="0"/>
              <a:ext cx="6321665" cy="6350000"/>
            </a:xfrm>
            <a:custGeom>
              <a:avLst/>
              <a:gdLst/>
              <a:ahLst/>
              <a:cxnLst/>
              <a:rect l="l" t="t" r="r" b="b"/>
              <a:pathLst>
                <a:path w="6321665" h="6350000">
                  <a:moveTo>
                    <a:pt x="3160833" y="0"/>
                  </a:moveTo>
                  <a:lnTo>
                    <a:pt x="3160833" y="0"/>
                  </a:lnTo>
                  <a:cubicBezTo>
                    <a:pt x="4908795" y="7817"/>
                    <a:pt x="6321666" y="1427021"/>
                    <a:pt x="6321666" y="3175000"/>
                  </a:cubicBezTo>
                  <a:cubicBezTo>
                    <a:pt x="6321666" y="4922979"/>
                    <a:pt x="4908795" y="6342183"/>
                    <a:pt x="3160833" y="6350000"/>
                  </a:cubicBezTo>
                  <a:cubicBezTo>
                    <a:pt x="1412871" y="6342183"/>
                    <a:pt x="0" y="4922979"/>
                    <a:pt x="0" y="3175000"/>
                  </a:cubicBezTo>
                  <a:cubicBezTo>
                    <a:pt x="0" y="1427021"/>
                    <a:pt x="1412871" y="7817"/>
                    <a:pt x="3160833" y="0"/>
                  </a:cubicBezTo>
                  <a:close/>
                </a:path>
              </a:pathLst>
            </a:custGeom>
            <a:solidFill>
              <a:srgbClr val="8C9D8D">
                <a:alpha val="54902"/>
              </a:srgbClr>
            </a:solidFill>
          </p:spPr>
          <p:txBody>
            <a:bodyPr/>
            <a:lstStyle/>
            <a:p>
              <a:endParaRPr lang="fr-FR" dirty="0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2743200" y="6540708"/>
            <a:ext cx="13334999" cy="8874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7280"/>
              </a:lnSpc>
            </a:pPr>
            <a:r>
              <a:rPr lang="fr-FR" sz="5600" dirty="0">
                <a:solidFill>
                  <a:srgbClr val="000000"/>
                </a:solidFill>
                <a:latin typeface="Noto Sans"/>
              </a:rPr>
              <a:t>Notre gamme Classique N&amp;B &amp; Couleur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48E367F-800F-CC4D-AF4A-C1A5A5199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639300"/>
            <a:ext cx="2133600" cy="365125"/>
          </a:xfrm>
        </p:spPr>
        <p:txBody>
          <a:bodyPr/>
          <a:lstStyle/>
          <a:p>
            <a:fld id="{B6F15528-21DE-4FAA-801E-634DDDAF4B2B}" type="slidenum">
              <a:rPr lang="fr-FR" sz="2000" smtClean="0">
                <a:solidFill>
                  <a:schemeClr val="tx1"/>
                </a:solidFill>
              </a:rPr>
              <a:pPr/>
              <a:t>9</a:t>
            </a:fld>
            <a:endParaRPr lang="fr-FR" sz="2000" dirty="0">
              <a:solidFill>
                <a:schemeClr val="tx1"/>
              </a:solidFill>
            </a:endParaRP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9F53BEE6-5B5E-9684-4DE3-E6411DEF3E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7847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Freeform 6">
            <a:extLst>
              <a:ext uri="{FF2B5EF4-FFF2-40B4-BE49-F238E27FC236}">
                <a16:creationId xmlns:a16="http://schemas.microsoft.com/office/drawing/2014/main" id="{29A54110-EEBC-834A-AF82-0FD1423EB8DF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 dirty="0"/>
          </a:p>
        </p:txBody>
      </p:sp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 dirty="0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 dirty="0"/>
          </a:p>
        </p:txBody>
      </p:sp>
      <p:sp>
        <p:nvSpPr>
          <p:cNvPr id="8" name="TextBox 8"/>
          <p:cNvSpPr txBox="1"/>
          <p:nvPr/>
        </p:nvSpPr>
        <p:spPr>
          <a:xfrm>
            <a:off x="1028700" y="3387154"/>
            <a:ext cx="10195975" cy="64363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Vitesse d'impression : </a:t>
            </a:r>
            <a:r>
              <a:rPr lang="fr-FR" dirty="0">
                <a:solidFill>
                  <a:srgbClr val="000000"/>
                </a:solidFill>
                <a:latin typeface="Noto Sans"/>
              </a:rPr>
              <a:t>33</a:t>
            </a:r>
            <a:r>
              <a:rPr lang="fr-FR" sz="1800" dirty="0">
                <a:solidFill>
                  <a:srgbClr val="000000"/>
                </a:solidFill>
                <a:latin typeface="Noto Sans"/>
              </a:rPr>
              <a:t> pages par minute (A4) N&amp;B et couleur,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Impression Laser Couleur,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Résolution d’impression</a:t>
            </a:r>
            <a:r>
              <a:rPr lang="fr-FR" dirty="0">
                <a:solidFill>
                  <a:srgbClr val="000000"/>
                </a:solidFill>
                <a:latin typeface="Noto Sans"/>
              </a:rPr>
              <a:t> : Jusqu’à 1 200 x 1 200 ppp</a:t>
            </a:r>
            <a:endParaRPr lang="fr-FR" sz="1800" dirty="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Alimentation papier: cassette A4 de 250 feuilles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Scanner et connexion réseau Couleur (scan to file, scan to mail…),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Plateau d’alimentation manuelle By </a:t>
            </a:r>
            <a:r>
              <a:rPr lang="fr-FR" sz="1800" dirty="0" err="1">
                <a:solidFill>
                  <a:srgbClr val="000000"/>
                </a:solidFill>
                <a:latin typeface="Noto Sans"/>
              </a:rPr>
              <a:t>Pass</a:t>
            </a:r>
            <a:r>
              <a:rPr lang="fr-FR" sz="1800" dirty="0">
                <a:solidFill>
                  <a:srgbClr val="000000"/>
                </a:solidFill>
                <a:latin typeface="Noto Sans"/>
              </a:rPr>
              <a:t>: 50 Feuilles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Impressions depuis iPhone, Tablette Samsung, </a:t>
            </a:r>
            <a:r>
              <a:rPr lang="fr-FR" sz="1800" dirty="0" err="1">
                <a:solidFill>
                  <a:srgbClr val="000000"/>
                </a:solidFill>
                <a:latin typeface="Noto Sans"/>
              </a:rPr>
              <a:t>etc</a:t>
            </a:r>
            <a:r>
              <a:rPr lang="fr-FR" sz="1800" dirty="0">
                <a:solidFill>
                  <a:srgbClr val="000000"/>
                </a:solidFill>
                <a:latin typeface="Noto Sans"/>
              </a:rPr>
              <a:t> …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Temps de sortie de la 1ère Impression : environ 7,1 secondes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Grammage : 60 a 176 g/m²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Ecran tactile LCD de 12,7 cm</a:t>
            </a:r>
            <a:endParaRPr lang="fr-FR" sz="1800" dirty="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Capacité de 150 feuilles, en sortie.</a:t>
            </a:r>
            <a:endParaRPr lang="fr-FR" sz="1800" dirty="0">
              <a:solidFill>
                <a:srgbClr val="000000"/>
              </a:solidFill>
              <a:latin typeface="Noto Sans"/>
            </a:endParaRPr>
          </a:p>
          <a:p>
            <a:pPr>
              <a:lnSpc>
                <a:spcPts val="3906"/>
              </a:lnSpc>
            </a:pPr>
            <a:endParaRPr lang="fr-FR" sz="1800" dirty="0">
              <a:solidFill>
                <a:srgbClr val="000000"/>
              </a:solidFill>
              <a:latin typeface="Noto Sans"/>
            </a:endParaRPr>
          </a:p>
          <a:p>
            <a:pPr>
              <a:lnSpc>
                <a:spcPts val="3906"/>
              </a:lnSpc>
            </a:pPr>
            <a:endParaRPr lang="fr-FR" sz="1800" dirty="0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028700" y="2719337"/>
            <a:ext cx="770785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fr-FR" sz="2999" spc="-59" dirty="0">
                <a:solidFill>
                  <a:srgbClr val="8C9D8D"/>
                </a:solidFill>
                <a:latin typeface="Noto Sans Bold"/>
              </a:rPr>
              <a:t>CANON I-</a:t>
            </a:r>
            <a:r>
              <a:rPr lang="fr-FR" sz="2999" spc="-59" dirty="0" err="1">
                <a:solidFill>
                  <a:srgbClr val="8C9D8D"/>
                </a:solidFill>
                <a:latin typeface="Noto Sans Bold"/>
              </a:rPr>
              <a:t>Sensys</a:t>
            </a:r>
            <a:r>
              <a:rPr lang="fr-FR" sz="2999" spc="-59" dirty="0">
                <a:solidFill>
                  <a:srgbClr val="8C9D8D"/>
                </a:solidFill>
                <a:latin typeface="Noto Sans Bold"/>
              </a:rPr>
              <a:t> X C1333P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fr-FR" sz="3200" spc="48" dirty="0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4" name="Group 14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 dirty="0"/>
              </a:p>
            </p:txBody>
          </p:sp>
        </p:grpSp>
        <p:pic>
          <p:nvPicPr>
            <p:cNvPr id="16" name="Picture 16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F7B6BB46-3E03-3A43-98CA-CE987A574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52843" y="9603423"/>
            <a:ext cx="2133600" cy="365125"/>
          </a:xfrm>
        </p:spPr>
        <p:txBody>
          <a:bodyPr/>
          <a:lstStyle/>
          <a:p>
            <a:fld id="{B6F15528-21DE-4FAA-801E-634DDDAF4B2B}" type="slidenum">
              <a:rPr lang="fr-FR" sz="2000" smtClean="0">
                <a:solidFill>
                  <a:schemeClr val="tx1"/>
                </a:solidFill>
              </a:rPr>
              <a:pPr/>
              <a:t>10</a:t>
            </a:fld>
            <a:endParaRPr lang="fr-FR" sz="2000" dirty="0">
              <a:solidFill>
                <a:schemeClr val="tx1"/>
              </a:solidFill>
            </a:endParaRPr>
          </a:p>
        </p:txBody>
      </p:sp>
      <p:sp>
        <p:nvSpPr>
          <p:cNvPr id="19" name="TextBox 10">
            <a:extLst>
              <a:ext uri="{FF2B5EF4-FFF2-40B4-BE49-F238E27FC236}">
                <a16:creationId xmlns:a16="http://schemas.microsoft.com/office/drawing/2014/main" id="{16929BF5-B1CF-A246-9DF6-7FFC887A6960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fr-FR" sz="1899" dirty="0">
                <a:solidFill>
                  <a:srgbClr val="000000"/>
                </a:solidFill>
                <a:latin typeface="Noto Sans Bold"/>
              </a:rPr>
              <a:t>Quantité : 1</a:t>
            </a:r>
          </a:p>
        </p:txBody>
      </p:sp>
      <p:pic>
        <p:nvPicPr>
          <p:cNvPr id="6" name="Image 5" descr="Une image contenant Appareils électroniques, imprimante, Appareil électronique, intérieur&#10;&#10;Description générée automatiquement">
            <a:extLst>
              <a:ext uri="{FF2B5EF4-FFF2-40B4-BE49-F238E27FC236}">
                <a16:creationId xmlns:a16="http://schemas.microsoft.com/office/drawing/2014/main" id="{D978AEE1-CF29-0FFE-DE4B-729553867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01278" y="2652950"/>
            <a:ext cx="5927939" cy="5927939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ACB3AD74-6C81-163D-C848-56B2D282AF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96033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 dirty="0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 dirty="0"/>
          </a:p>
        </p:txBody>
      </p:sp>
      <p:grpSp>
        <p:nvGrpSpPr>
          <p:cNvPr id="5" name="Group 5"/>
          <p:cNvGrpSpPr/>
          <p:nvPr/>
        </p:nvGrpSpPr>
        <p:grpSpPr>
          <a:xfrm>
            <a:off x="11836323" y="2835513"/>
            <a:ext cx="5657850" cy="5657850"/>
            <a:chOff x="0" y="0"/>
            <a:chExt cx="6350000" cy="6350000"/>
          </a:xfrm>
        </p:grpSpPr>
        <p:sp>
          <p:nvSpPr>
            <p:cNvPr id="6" name="Freeform 6"/>
            <p:cNvSpPr/>
            <p:nvPr/>
          </p:nvSpPr>
          <p:spPr>
            <a:xfrm>
              <a:off x="14167" y="0"/>
              <a:ext cx="6321665" cy="6350000"/>
            </a:xfrm>
            <a:custGeom>
              <a:avLst/>
              <a:gdLst/>
              <a:ahLst/>
              <a:cxnLst/>
              <a:rect l="l" t="t" r="r" b="b"/>
              <a:pathLst>
                <a:path w="6321665" h="6350000">
                  <a:moveTo>
                    <a:pt x="3160833" y="0"/>
                  </a:moveTo>
                  <a:lnTo>
                    <a:pt x="3160833" y="0"/>
                  </a:lnTo>
                  <a:cubicBezTo>
                    <a:pt x="4908795" y="7817"/>
                    <a:pt x="6321666" y="1427021"/>
                    <a:pt x="6321666" y="3175000"/>
                  </a:cubicBezTo>
                  <a:cubicBezTo>
                    <a:pt x="6321666" y="4922979"/>
                    <a:pt x="4908795" y="6342183"/>
                    <a:pt x="3160833" y="6350000"/>
                  </a:cubicBezTo>
                  <a:cubicBezTo>
                    <a:pt x="1412871" y="6342183"/>
                    <a:pt x="0" y="4922979"/>
                    <a:pt x="0" y="3175000"/>
                  </a:cubicBezTo>
                  <a:cubicBezTo>
                    <a:pt x="0" y="1427021"/>
                    <a:pt x="1412871" y="7817"/>
                    <a:pt x="3160833" y="0"/>
                  </a:cubicBezTo>
                  <a:close/>
                </a:path>
              </a:pathLst>
            </a:custGeom>
            <a:solidFill>
              <a:srgbClr val="8C9D8D">
                <a:alpha val="64706"/>
              </a:srgbClr>
            </a:solidFill>
          </p:spPr>
          <p:txBody>
            <a:bodyPr/>
            <a:lstStyle/>
            <a:p>
              <a:endParaRPr lang="fr-FR" dirty="0"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028700" y="3451662"/>
            <a:ext cx="9390006" cy="74366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Vitesse d'impression : </a:t>
            </a:r>
            <a:r>
              <a:rPr lang="fr-FR" dirty="0">
                <a:solidFill>
                  <a:srgbClr val="000000"/>
                </a:solidFill>
                <a:latin typeface="Noto Sans"/>
              </a:rPr>
              <a:t>33</a:t>
            </a:r>
            <a:r>
              <a:rPr lang="fr-FR" sz="1800" dirty="0">
                <a:solidFill>
                  <a:srgbClr val="000000"/>
                </a:solidFill>
                <a:latin typeface="Noto Sans"/>
              </a:rPr>
              <a:t> pages par minute (A4)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Chargeur automatique de document 1 Passe de 50 feuilles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Vitesse de Numérisation : 100 Images a la minute,</a:t>
            </a:r>
            <a:endParaRPr lang="fr-FR" sz="1800" dirty="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Alimentation papier: 1 cassette A4 de 250 feuilles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Scanner et connexion réseau Couleur (scan to file, scan to mail…),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Plateau d’alimentation manuelle By </a:t>
            </a:r>
            <a:r>
              <a:rPr lang="fr-FR" sz="1800" dirty="0" err="1">
                <a:solidFill>
                  <a:srgbClr val="000000"/>
                </a:solidFill>
                <a:latin typeface="Noto Sans"/>
              </a:rPr>
              <a:t>Pass</a:t>
            </a:r>
            <a:r>
              <a:rPr lang="fr-FR" sz="1800" dirty="0">
                <a:solidFill>
                  <a:srgbClr val="000000"/>
                </a:solidFill>
                <a:latin typeface="Noto Sans"/>
              </a:rPr>
              <a:t>: 50 Feuilles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Module PostScript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Suppression des pages blanches 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Impressions depuis iPhone, Tablette Samsung, </a:t>
            </a:r>
            <a:r>
              <a:rPr lang="fr-FR" sz="1800" dirty="0" err="1">
                <a:solidFill>
                  <a:srgbClr val="000000"/>
                </a:solidFill>
                <a:latin typeface="Noto Sans"/>
              </a:rPr>
              <a:t>etc</a:t>
            </a:r>
            <a:r>
              <a:rPr lang="fr-FR" sz="1800" dirty="0">
                <a:solidFill>
                  <a:srgbClr val="000000"/>
                </a:solidFill>
                <a:latin typeface="Noto Sans"/>
              </a:rPr>
              <a:t> …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Temps de sortie de la 1ère Impression : environ 7,1 secondes</a:t>
            </a:r>
            <a:endParaRPr lang="fr-FR" sz="1800" dirty="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Grammage : 60 a 176 g/m²</a:t>
            </a: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Ecran tactile LCD de 12,7 cm</a:t>
            </a:r>
            <a:endParaRPr lang="fr-FR" sz="1800" dirty="0">
              <a:solidFill>
                <a:srgbClr val="000000"/>
              </a:solidFill>
              <a:latin typeface="Noto Sans"/>
            </a:endParaRPr>
          </a:p>
          <a:p>
            <a:pPr marL="388622" lvl="1" indent="-194311">
              <a:lnSpc>
                <a:spcPts val="3906"/>
              </a:lnSpc>
              <a:buFont typeface="Arial"/>
              <a:buChar char="•"/>
            </a:pPr>
            <a:endParaRPr lang="fr-FR" sz="1800" dirty="0">
              <a:solidFill>
                <a:srgbClr val="000000"/>
              </a:solidFill>
              <a:latin typeface="Noto Sans"/>
            </a:endParaRPr>
          </a:p>
          <a:p>
            <a:pPr>
              <a:lnSpc>
                <a:spcPts val="3906"/>
              </a:lnSpc>
            </a:pPr>
            <a:endParaRPr lang="fr-FR" sz="1800" dirty="0">
              <a:solidFill>
                <a:srgbClr val="000000"/>
              </a:solidFill>
              <a:latin typeface="Noto Sans"/>
            </a:endParaRPr>
          </a:p>
          <a:p>
            <a:pPr>
              <a:lnSpc>
                <a:spcPts val="3906"/>
              </a:lnSpc>
            </a:pPr>
            <a:endParaRPr lang="fr-FR" sz="1800" dirty="0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028700" y="2704073"/>
            <a:ext cx="770785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fr-FR" sz="2999" spc="-59" dirty="0">
                <a:solidFill>
                  <a:srgbClr val="8C9D8D"/>
                </a:solidFill>
                <a:latin typeface="Noto Sans Bold"/>
              </a:rPr>
              <a:t>CANON I-</a:t>
            </a:r>
            <a:r>
              <a:rPr lang="fr-FR" sz="2999" spc="-59" dirty="0" err="1">
                <a:solidFill>
                  <a:srgbClr val="8C9D8D"/>
                </a:solidFill>
                <a:latin typeface="Noto Sans Bold"/>
              </a:rPr>
              <a:t>Sensys</a:t>
            </a:r>
            <a:r>
              <a:rPr lang="fr-FR" sz="2999" spc="-59" dirty="0">
                <a:solidFill>
                  <a:srgbClr val="8C9D8D"/>
                </a:solidFill>
                <a:latin typeface="Noto Sans Bold"/>
              </a:rPr>
              <a:t> X C 1333i/if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fr-FR" sz="3200" spc="48" dirty="0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fr-FR" sz="1899" dirty="0">
                <a:solidFill>
                  <a:srgbClr val="000000"/>
                </a:solidFill>
                <a:latin typeface="Noto Sans Bold"/>
              </a:rPr>
              <a:t>Quantité : 1</a:t>
            </a: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6170592" y="7816408"/>
            <a:ext cx="878545" cy="640083"/>
          </a:xfrm>
          <a:prstGeom prst="rect">
            <a:avLst/>
          </a:prstGeom>
        </p:spPr>
      </p:pic>
      <p:grpSp>
        <p:nvGrpSpPr>
          <p:cNvPr id="14" name="Group 14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 dirty="0"/>
              </a:p>
            </p:txBody>
          </p:sp>
        </p:grpSp>
        <p:pic>
          <p:nvPicPr>
            <p:cNvPr id="17" name="Picture 17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240FA8DA-C3BD-FA4D-84C5-40C2C6D15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631611"/>
            <a:ext cx="2133600" cy="365125"/>
          </a:xfrm>
        </p:spPr>
        <p:txBody>
          <a:bodyPr/>
          <a:lstStyle/>
          <a:p>
            <a:fld id="{B6F15528-21DE-4FAA-801E-634DDDAF4B2B}" type="slidenum">
              <a:rPr lang="fr-FR" sz="2000" smtClean="0">
                <a:solidFill>
                  <a:schemeClr val="tx1"/>
                </a:solidFill>
              </a:rPr>
              <a:pPr/>
              <a:t>11</a:t>
            </a:fld>
            <a:endParaRPr lang="fr-FR" sz="2000" dirty="0">
              <a:solidFill>
                <a:schemeClr val="tx1"/>
              </a:solidFill>
            </a:endParaRPr>
          </a:p>
        </p:txBody>
      </p:sp>
      <p:pic>
        <p:nvPicPr>
          <p:cNvPr id="19" name="Image 18" descr="Une image contenant Appareils électroniques, photocopieur, imprimante&#10;&#10;Description générée automatiquement">
            <a:extLst>
              <a:ext uri="{FF2B5EF4-FFF2-40B4-BE49-F238E27FC236}">
                <a16:creationId xmlns:a16="http://schemas.microsoft.com/office/drawing/2014/main" id="{1A6AE721-F463-CBE1-6C50-5997797408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33284" y="2973240"/>
            <a:ext cx="5172280" cy="5172280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59742C8C-A0D8-A53F-FCAF-3E01835CB3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6">
            <a:extLst>
              <a:ext uri="{FF2B5EF4-FFF2-40B4-BE49-F238E27FC236}">
                <a16:creationId xmlns:a16="http://schemas.microsoft.com/office/drawing/2014/main" id="{25328EAF-3524-0E4F-9069-0F84F625097A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 dirty="0"/>
          </a:p>
        </p:txBody>
      </p:sp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 dirty="0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 dirty="0"/>
          </a:p>
        </p:txBody>
      </p:sp>
      <p:sp>
        <p:nvSpPr>
          <p:cNvPr id="5" name="TextBox 5"/>
          <p:cNvSpPr txBox="1"/>
          <p:nvPr/>
        </p:nvSpPr>
        <p:spPr>
          <a:xfrm>
            <a:off x="1028700" y="3365587"/>
            <a:ext cx="11058128" cy="69365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Vitesse d'impression : </a:t>
            </a:r>
            <a:r>
              <a:rPr lang="fr-FR" dirty="0">
                <a:solidFill>
                  <a:srgbClr val="000000"/>
                </a:solidFill>
                <a:latin typeface="Noto Sans"/>
              </a:rPr>
              <a:t>33</a:t>
            </a:r>
            <a:r>
              <a:rPr lang="fr-FR" sz="1800" dirty="0">
                <a:solidFill>
                  <a:srgbClr val="000000"/>
                </a:solidFill>
                <a:latin typeface="Noto Sans"/>
              </a:rPr>
              <a:t> pages par minute en N&amp;B et en Couleur, 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Chargeur Recto Verso automatique de document 1 Passe de 100 feuilles, 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Alimentation papier : 1 Cassette A4 de 550 feuilles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Plateau d’alimentation manuel By </a:t>
            </a:r>
            <a:r>
              <a:rPr lang="fr-FR" sz="1800" dirty="0" err="1">
                <a:solidFill>
                  <a:srgbClr val="000000"/>
                </a:solidFill>
                <a:latin typeface="Noto Sans"/>
              </a:rPr>
              <a:t>Pass</a:t>
            </a:r>
            <a:r>
              <a:rPr lang="fr-FR" sz="1800" dirty="0">
                <a:solidFill>
                  <a:srgbClr val="000000"/>
                </a:solidFill>
                <a:latin typeface="Noto Sans"/>
              </a:rPr>
              <a:t> de 100 feuilles,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Disque dur de 256 Go &amp; Mémoire vive de 3,5 Go de Ram,</a:t>
            </a:r>
            <a:endParaRPr lang="fr-FR" sz="1800" dirty="0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Module Postscript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Possibilité de scanner en format Word, PDF, TIFF, JPEG ou Powerpoint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Scanner et Connexion réseau Couleur (scan to file, scan to mail…)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Logiciel PDF Compact, permet la compression de fichiers lourds en Scan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Suppression automatique des pages blanches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Grammage des supports de 60 à 220g/m²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Impressions depuis iPhone, Tablette Samsung, iPad, etc…</a:t>
            </a:r>
          </a:p>
          <a:p>
            <a:pPr marL="194310" lvl="1">
              <a:lnSpc>
                <a:spcPts val="3906"/>
              </a:lnSpc>
            </a:pPr>
            <a:endParaRPr lang="fr-FR" sz="1800" dirty="0">
              <a:solidFill>
                <a:srgbClr val="000000"/>
              </a:solidFill>
              <a:latin typeface="Noto Sans"/>
            </a:endParaRPr>
          </a:p>
          <a:p>
            <a:pPr>
              <a:lnSpc>
                <a:spcPts val="3906"/>
              </a:lnSpc>
            </a:pPr>
            <a:endParaRPr lang="fr-FR" sz="1800" dirty="0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028700" y="2704073"/>
            <a:ext cx="770785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fr-FR" sz="2999" spc="-59" dirty="0">
                <a:solidFill>
                  <a:srgbClr val="8C9D8D"/>
                </a:solidFill>
                <a:latin typeface="Noto Sans Bold"/>
              </a:rPr>
              <a:t>CANON </a:t>
            </a:r>
            <a:r>
              <a:rPr lang="fr-FR" sz="2999" spc="-59" dirty="0" err="1">
                <a:solidFill>
                  <a:srgbClr val="8C9D8D"/>
                </a:solidFill>
                <a:latin typeface="Noto Sans Bold"/>
              </a:rPr>
              <a:t>ImageFORCE</a:t>
            </a:r>
            <a:r>
              <a:rPr lang="fr-FR" sz="2999" spc="-59" dirty="0">
                <a:solidFill>
                  <a:srgbClr val="8C9D8D"/>
                </a:solidFill>
                <a:latin typeface="Noto Sans Bold"/>
              </a:rPr>
              <a:t> C661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fr-FR" sz="3200" spc="48" dirty="0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2666900" y="2835513"/>
            <a:ext cx="4382237" cy="5559647"/>
          </a:xfrm>
          <a:prstGeom prst="rect">
            <a:avLst/>
          </a:prstGeom>
        </p:spPr>
      </p:pic>
      <p:grpSp>
        <p:nvGrpSpPr>
          <p:cNvPr id="14" name="Group 14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 dirty="0"/>
              </a:p>
            </p:txBody>
          </p:sp>
        </p:grpSp>
        <p:pic>
          <p:nvPicPr>
            <p:cNvPr id="17" name="Picture 17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AE7CC901-AE96-1845-B731-4749B164E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26328" y="9603423"/>
            <a:ext cx="2133600" cy="365125"/>
          </a:xfrm>
        </p:spPr>
        <p:txBody>
          <a:bodyPr/>
          <a:lstStyle/>
          <a:p>
            <a:fld id="{B6F15528-21DE-4FAA-801E-634DDDAF4B2B}" type="slidenum">
              <a:rPr lang="fr-FR" sz="2000" smtClean="0">
                <a:solidFill>
                  <a:schemeClr val="tx1"/>
                </a:solidFill>
              </a:rPr>
              <a:pPr/>
              <a:t>12</a:t>
            </a:fld>
            <a:endParaRPr lang="fr-FR" sz="2000" dirty="0">
              <a:solidFill>
                <a:schemeClr val="tx1"/>
              </a:solidFill>
            </a:endParaRPr>
          </a:p>
        </p:txBody>
      </p:sp>
      <p:sp>
        <p:nvSpPr>
          <p:cNvPr id="20" name="TextBox 10">
            <a:extLst>
              <a:ext uri="{FF2B5EF4-FFF2-40B4-BE49-F238E27FC236}">
                <a16:creationId xmlns:a16="http://schemas.microsoft.com/office/drawing/2014/main" id="{C0F48F69-55EE-A54F-A73D-EE9C17916746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fr-FR" sz="1899" dirty="0">
                <a:solidFill>
                  <a:srgbClr val="000000"/>
                </a:solidFill>
                <a:latin typeface="Noto Sans Bold"/>
              </a:rPr>
              <a:t>Quantité : 1</a:t>
            </a:r>
          </a:p>
        </p:txBody>
      </p:sp>
      <p:pic>
        <p:nvPicPr>
          <p:cNvPr id="21" name="Picture 12">
            <a:extLst>
              <a:ext uri="{FF2B5EF4-FFF2-40B4-BE49-F238E27FC236}">
                <a16:creationId xmlns:a16="http://schemas.microsoft.com/office/drawing/2014/main" id="{1623E6D0-D955-3143-A72E-6B9B4B5C9A6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6170592" y="7816408"/>
            <a:ext cx="878545" cy="640083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EE80B6C2-EE5C-FBE4-7924-E56F5F2A82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6">
            <a:extLst>
              <a:ext uri="{FF2B5EF4-FFF2-40B4-BE49-F238E27FC236}">
                <a16:creationId xmlns:a16="http://schemas.microsoft.com/office/drawing/2014/main" id="{2966770E-3321-E744-91B7-2DDFC8FC1894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 dirty="0"/>
          </a:p>
        </p:txBody>
      </p:sp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 dirty="0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 dirty="0"/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0232681" y="3060305"/>
            <a:ext cx="8865133" cy="5208266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1028700" y="3308130"/>
            <a:ext cx="11058128" cy="6415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Vitesse d'impression : 22 pages par minute en N&amp;B et en Couleur,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Chargeur recto verso de document de 100 feuilles,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Alimentation papier : 2 Cassettes A4/A3 de 550 feuilles chacune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Disque Dur de 250 Go et Mémoire Ram de 4Go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Plateau d’alimentation manuel By </a:t>
            </a:r>
            <a:r>
              <a:rPr lang="fr-FR" sz="1800" dirty="0" err="1">
                <a:solidFill>
                  <a:srgbClr val="000000"/>
                </a:solidFill>
                <a:latin typeface="Noto Sans"/>
              </a:rPr>
              <a:t>Pass</a:t>
            </a:r>
            <a:r>
              <a:rPr lang="fr-FR" sz="1800" dirty="0">
                <a:solidFill>
                  <a:srgbClr val="000000"/>
                </a:solidFill>
                <a:latin typeface="Noto Sans"/>
              </a:rPr>
              <a:t> de 100 feuilles,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Module Postscript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Grammage des supports de 52 à 300g/m²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Possibilité de scanner en format Word, PDF, TIFF, JPEG ou Powerpoint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Logiciel PDF Compact, permet la compression de fichiers lourds en Scan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Scanner et Connexion réseau Couleur (scan to file, scan to mail…)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Suppression automatique des pages blanches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Impressions depuis iPhone, Tablette Samsung, iPad, etc…</a:t>
            </a:r>
          </a:p>
          <a:p>
            <a:pPr>
              <a:lnSpc>
                <a:spcPts val="3924"/>
              </a:lnSpc>
            </a:pPr>
            <a:endParaRPr lang="fr-FR" sz="1800" dirty="0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028699" y="2674045"/>
            <a:ext cx="7707857" cy="7725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fr-FR" sz="2999" spc="-59" dirty="0">
                <a:solidFill>
                  <a:srgbClr val="8C9D8D"/>
                </a:solidFill>
                <a:latin typeface="Noto Sans Bold"/>
              </a:rPr>
              <a:t>CANON Image Runner Advance DX C3922i</a:t>
            </a:r>
          </a:p>
          <a:p>
            <a:pPr>
              <a:lnSpc>
                <a:spcPts val="2999"/>
              </a:lnSpc>
            </a:pPr>
            <a:endParaRPr lang="fr-FR" sz="2999" spc="-59" dirty="0">
              <a:solidFill>
                <a:srgbClr val="BB0808"/>
              </a:solidFill>
              <a:latin typeface="Noto Sans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fr-FR" sz="3200" spc="48" dirty="0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 dirty="0"/>
              </a:p>
            </p:txBody>
          </p:sp>
        </p:grpSp>
        <p:pic>
          <p:nvPicPr>
            <p:cNvPr id="17" name="Picture 17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831F85C1-C0A9-F84A-B2C3-814E3C114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5543" y="9665650"/>
            <a:ext cx="2133600" cy="365125"/>
          </a:xfrm>
        </p:spPr>
        <p:txBody>
          <a:bodyPr/>
          <a:lstStyle/>
          <a:p>
            <a:fld id="{B6F15528-21DE-4FAA-801E-634DDDAF4B2B}" type="slidenum">
              <a:rPr lang="fr-FR" sz="2000" smtClean="0">
                <a:solidFill>
                  <a:schemeClr val="tx1"/>
                </a:solidFill>
              </a:rPr>
              <a:pPr/>
              <a:t>13</a:t>
            </a:fld>
            <a:endParaRPr lang="fr-FR" sz="2000" dirty="0">
              <a:solidFill>
                <a:schemeClr val="tx1"/>
              </a:solidFill>
            </a:endParaRPr>
          </a:p>
        </p:txBody>
      </p:sp>
      <p:sp>
        <p:nvSpPr>
          <p:cNvPr id="20" name="TextBox 10">
            <a:extLst>
              <a:ext uri="{FF2B5EF4-FFF2-40B4-BE49-F238E27FC236}">
                <a16:creationId xmlns:a16="http://schemas.microsoft.com/office/drawing/2014/main" id="{DCF63DB6-8BBB-D042-A197-67B7C3942B9C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fr-FR" sz="1899" dirty="0">
                <a:solidFill>
                  <a:srgbClr val="000000"/>
                </a:solidFill>
                <a:latin typeface="Noto Sans Bold"/>
              </a:rPr>
              <a:t>Quantité : 1</a:t>
            </a:r>
          </a:p>
        </p:txBody>
      </p:sp>
      <p:pic>
        <p:nvPicPr>
          <p:cNvPr id="21" name="Picture 12">
            <a:extLst>
              <a:ext uri="{FF2B5EF4-FFF2-40B4-BE49-F238E27FC236}">
                <a16:creationId xmlns:a16="http://schemas.microsoft.com/office/drawing/2014/main" id="{7C2DF1C0-6DD7-1A46-98A4-23D76E946E7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6170592" y="7816408"/>
            <a:ext cx="878545" cy="640083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C8415AE4-2458-AF66-85BD-5625B2BE9A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453E27-CC12-9B3F-0D3E-83C9B1B57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6">
            <a:extLst>
              <a:ext uri="{FF2B5EF4-FFF2-40B4-BE49-F238E27FC236}">
                <a16:creationId xmlns:a16="http://schemas.microsoft.com/office/drawing/2014/main" id="{DB87AAD4-FFEA-104D-C637-396F23B308EE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 dirty="0"/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367D2C8A-2DED-C2A0-4349-70A913D8FA1E}"/>
              </a:ext>
            </a:extLst>
          </p:cNvPr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 dirty="0"/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ADB08F87-425D-B2CC-D600-AA768FBE4903}"/>
              </a:ext>
            </a:extLst>
          </p:cNvPr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 dirty="0"/>
          </a:p>
        </p:txBody>
      </p:sp>
      <p:pic>
        <p:nvPicPr>
          <p:cNvPr id="8" name="Picture 8">
            <a:extLst>
              <a:ext uri="{FF2B5EF4-FFF2-40B4-BE49-F238E27FC236}">
                <a16:creationId xmlns:a16="http://schemas.microsoft.com/office/drawing/2014/main" id="{8CD0AC30-5781-15B8-A3FD-8CE1F5189DB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0232681" y="3060305"/>
            <a:ext cx="8865133" cy="5208266"/>
          </a:xfrm>
          <a:prstGeom prst="rect">
            <a:avLst/>
          </a:prstGeom>
        </p:spPr>
      </p:pic>
      <p:sp>
        <p:nvSpPr>
          <p:cNvPr id="9" name="TextBox 9">
            <a:extLst>
              <a:ext uri="{FF2B5EF4-FFF2-40B4-BE49-F238E27FC236}">
                <a16:creationId xmlns:a16="http://schemas.microsoft.com/office/drawing/2014/main" id="{6BC1EDC3-6938-91B2-9863-FC9E2277C9A8}"/>
              </a:ext>
            </a:extLst>
          </p:cNvPr>
          <p:cNvSpPr txBox="1"/>
          <p:nvPr/>
        </p:nvSpPr>
        <p:spPr>
          <a:xfrm>
            <a:off x="1028700" y="3308130"/>
            <a:ext cx="11058128" cy="6415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Vitesse d'impression : 26 pages par minute en N&amp;B et en Couleur,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Chargeur recto verso de document de 100 feuilles,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Alimentation papier : 2 Cassettes A4/A3 de 550 feuilles chacune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Disque Dur de 250 Go et Mémoire Ram de 4Go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Plateau d’alimentation manuel By </a:t>
            </a:r>
            <a:r>
              <a:rPr lang="fr-FR" sz="1800" dirty="0" err="1">
                <a:solidFill>
                  <a:srgbClr val="000000"/>
                </a:solidFill>
                <a:latin typeface="Noto Sans"/>
              </a:rPr>
              <a:t>Pass</a:t>
            </a:r>
            <a:r>
              <a:rPr lang="fr-FR" sz="1800" dirty="0">
                <a:solidFill>
                  <a:srgbClr val="000000"/>
                </a:solidFill>
                <a:latin typeface="Noto Sans"/>
              </a:rPr>
              <a:t> de 100 feuilles,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Module Postscript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Grammage des supports de 52 à 300g/m²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Possibilité de scanner en format Word, PDF, TIFF, JPEG ou Powerpoint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Logiciel PDF Compact, permet la compression de fichiers lourds en Scan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Scanner et Connexion réseau Couleur (scan to file, scan to mail…)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Suppression automatique des pages blanches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Impressions depuis iPhone, Tablette Samsung, iPad, etc…</a:t>
            </a:r>
          </a:p>
          <a:p>
            <a:pPr>
              <a:lnSpc>
                <a:spcPts val="3924"/>
              </a:lnSpc>
            </a:pPr>
            <a:endParaRPr lang="fr-FR" sz="1800" dirty="0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4D99674-32B1-7290-1AF5-C2280013193C}"/>
              </a:ext>
            </a:extLst>
          </p:cNvPr>
          <p:cNvSpPr txBox="1"/>
          <p:nvPr/>
        </p:nvSpPr>
        <p:spPr>
          <a:xfrm>
            <a:off x="1028699" y="2674045"/>
            <a:ext cx="7707857" cy="7725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fr-FR" sz="2999" spc="-59" dirty="0">
                <a:solidFill>
                  <a:srgbClr val="8C9D8D"/>
                </a:solidFill>
                <a:latin typeface="Noto Sans Bold"/>
              </a:rPr>
              <a:t>CANON </a:t>
            </a:r>
            <a:r>
              <a:rPr lang="fr-FR" sz="2999" spc="-59" dirty="0" err="1">
                <a:solidFill>
                  <a:srgbClr val="8C9D8D"/>
                </a:solidFill>
                <a:latin typeface="Noto Sans Bold"/>
              </a:rPr>
              <a:t>ImageFORCE</a:t>
            </a:r>
            <a:r>
              <a:rPr lang="fr-FR" sz="2999" spc="-59" dirty="0">
                <a:solidFill>
                  <a:srgbClr val="8C9D8D"/>
                </a:solidFill>
                <a:latin typeface="Noto Sans Bold"/>
              </a:rPr>
              <a:t> C3926i</a:t>
            </a:r>
          </a:p>
          <a:p>
            <a:pPr>
              <a:lnSpc>
                <a:spcPts val="2999"/>
              </a:lnSpc>
            </a:pPr>
            <a:endParaRPr lang="fr-FR" sz="2999" spc="-59" dirty="0">
              <a:solidFill>
                <a:srgbClr val="BB0808"/>
              </a:solidFill>
              <a:latin typeface="Noto Sans Bold"/>
            </a:endParaRP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D01E8866-E842-E342-F8E2-887279EA35E9}"/>
              </a:ext>
            </a:extLst>
          </p:cNvPr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fr-FR" sz="3200" spc="48" dirty="0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grpSp>
        <p:nvGrpSpPr>
          <p:cNvPr id="14" name="Group 14">
            <a:extLst>
              <a:ext uri="{FF2B5EF4-FFF2-40B4-BE49-F238E27FC236}">
                <a16:creationId xmlns:a16="http://schemas.microsoft.com/office/drawing/2014/main" id="{2780DEFC-8E2B-EF9B-CD70-72DC842548FA}"/>
              </a:ext>
            </a:extLst>
          </p:cNvPr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5" name="Group 15">
              <a:extLst>
                <a:ext uri="{FF2B5EF4-FFF2-40B4-BE49-F238E27FC236}">
                  <a16:creationId xmlns:a16="http://schemas.microsoft.com/office/drawing/2014/main" id="{FCAF9DF0-B8CD-0675-EA71-445D35007117}"/>
                </a:ext>
              </a:extLst>
            </p:cNvPr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6" name="Freeform 16">
                <a:extLst>
                  <a:ext uri="{FF2B5EF4-FFF2-40B4-BE49-F238E27FC236}">
                    <a16:creationId xmlns:a16="http://schemas.microsoft.com/office/drawing/2014/main" id="{14E2D2A0-C56A-E354-A9C0-79C441702A97}"/>
                  </a:ext>
                </a:extLst>
              </p:cNvPr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 dirty="0"/>
              </a:p>
            </p:txBody>
          </p:sp>
        </p:grpSp>
        <p:pic>
          <p:nvPicPr>
            <p:cNvPr id="17" name="Picture 17">
              <a:extLst>
                <a:ext uri="{FF2B5EF4-FFF2-40B4-BE49-F238E27FC236}">
                  <a16:creationId xmlns:a16="http://schemas.microsoft.com/office/drawing/2014/main" id="{FB875296-A0FF-E815-7704-A34E7D442DE9}"/>
                </a:ext>
              </a:extLst>
            </p:cNvPr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2EF6F574-514B-3DE2-EFB9-3995A0BA29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5543" y="9665650"/>
            <a:ext cx="2133600" cy="365125"/>
          </a:xfrm>
        </p:spPr>
        <p:txBody>
          <a:bodyPr/>
          <a:lstStyle/>
          <a:p>
            <a:fld id="{B6F15528-21DE-4FAA-801E-634DDDAF4B2B}" type="slidenum">
              <a:rPr lang="fr-FR" sz="2000" smtClean="0">
                <a:solidFill>
                  <a:schemeClr val="tx1"/>
                </a:solidFill>
              </a:rPr>
              <a:pPr/>
              <a:t>14</a:t>
            </a:fld>
            <a:endParaRPr lang="fr-FR" sz="2000" dirty="0">
              <a:solidFill>
                <a:schemeClr val="tx1"/>
              </a:solidFill>
            </a:endParaRPr>
          </a:p>
        </p:txBody>
      </p:sp>
      <p:sp>
        <p:nvSpPr>
          <p:cNvPr id="20" name="TextBox 10">
            <a:extLst>
              <a:ext uri="{FF2B5EF4-FFF2-40B4-BE49-F238E27FC236}">
                <a16:creationId xmlns:a16="http://schemas.microsoft.com/office/drawing/2014/main" id="{33130BD3-A734-CB54-C8A9-4752F836605E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fr-FR" sz="1899" dirty="0">
                <a:solidFill>
                  <a:srgbClr val="000000"/>
                </a:solidFill>
                <a:latin typeface="Noto Sans Bold"/>
              </a:rPr>
              <a:t>Quantité : 1</a:t>
            </a:r>
          </a:p>
        </p:txBody>
      </p:sp>
      <p:pic>
        <p:nvPicPr>
          <p:cNvPr id="21" name="Picture 12">
            <a:extLst>
              <a:ext uri="{FF2B5EF4-FFF2-40B4-BE49-F238E27FC236}">
                <a16:creationId xmlns:a16="http://schemas.microsoft.com/office/drawing/2014/main" id="{F2B75E69-1925-D3DF-A79A-34275816E13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6170592" y="7816408"/>
            <a:ext cx="878545" cy="640083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2948EC18-B711-470D-97A9-C8FE67865D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3218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640888-5C2A-F1B8-256A-66F6F0E31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6">
            <a:extLst>
              <a:ext uri="{FF2B5EF4-FFF2-40B4-BE49-F238E27FC236}">
                <a16:creationId xmlns:a16="http://schemas.microsoft.com/office/drawing/2014/main" id="{F7A94576-61A8-0259-D512-78D953DD04E7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 dirty="0"/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07810EA8-4F30-7B7C-EA4B-07A038B323EC}"/>
              </a:ext>
            </a:extLst>
          </p:cNvPr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 dirty="0"/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1156051D-888F-BF11-815E-729C14D264B3}"/>
              </a:ext>
            </a:extLst>
          </p:cNvPr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 dirty="0"/>
          </a:p>
        </p:txBody>
      </p:sp>
      <p:pic>
        <p:nvPicPr>
          <p:cNvPr id="8" name="Picture 8">
            <a:extLst>
              <a:ext uri="{FF2B5EF4-FFF2-40B4-BE49-F238E27FC236}">
                <a16:creationId xmlns:a16="http://schemas.microsoft.com/office/drawing/2014/main" id="{130E0D29-B8EE-A03D-2054-C347A28CFCF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0232681" y="3060305"/>
            <a:ext cx="8865133" cy="5208266"/>
          </a:xfrm>
          <a:prstGeom prst="rect">
            <a:avLst/>
          </a:prstGeom>
        </p:spPr>
      </p:pic>
      <p:sp>
        <p:nvSpPr>
          <p:cNvPr id="9" name="TextBox 9">
            <a:extLst>
              <a:ext uri="{FF2B5EF4-FFF2-40B4-BE49-F238E27FC236}">
                <a16:creationId xmlns:a16="http://schemas.microsoft.com/office/drawing/2014/main" id="{FBBB8448-3D8A-25FE-24B3-E8178D271399}"/>
              </a:ext>
            </a:extLst>
          </p:cNvPr>
          <p:cNvSpPr txBox="1"/>
          <p:nvPr/>
        </p:nvSpPr>
        <p:spPr>
          <a:xfrm>
            <a:off x="1028700" y="3308130"/>
            <a:ext cx="11058128" cy="6415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Vitesse d'impression : 22 pages par minute en N&amp;B et en Couleur,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Chargeur recto verso de document de 100 feuilles,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Alimentation papier : 2 Cassettes A4/A3 de 550 feuilles chacune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Disque Dur de 250 Go et Mémoire Ram de 4Go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Plateau d’alimentation manuel By </a:t>
            </a:r>
            <a:r>
              <a:rPr lang="fr-FR" sz="1800" dirty="0" err="1">
                <a:solidFill>
                  <a:srgbClr val="000000"/>
                </a:solidFill>
                <a:latin typeface="Noto Sans"/>
              </a:rPr>
              <a:t>Pass</a:t>
            </a:r>
            <a:r>
              <a:rPr lang="fr-FR" sz="1800" dirty="0">
                <a:solidFill>
                  <a:srgbClr val="000000"/>
                </a:solidFill>
                <a:latin typeface="Noto Sans"/>
              </a:rPr>
              <a:t> de 100 feuilles,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Module Postscript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Grammage des supports de 52 à 300g/m²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Possibilité de scanner en format Word, PDF, TIFF, JPEG ou Powerpoint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Logiciel PDF Compact, permet la compression de fichiers lourds en Scan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Scanner et Connexion réseau Couleur (scan to file, scan to mail…)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Suppression automatique des pages blanches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Impressions depuis iPhone, Tablette Samsung, iPad, etc…</a:t>
            </a:r>
          </a:p>
          <a:p>
            <a:pPr>
              <a:lnSpc>
                <a:spcPts val="3924"/>
              </a:lnSpc>
            </a:pPr>
            <a:endParaRPr lang="fr-FR" sz="1800" dirty="0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38C11EA7-C303-C2E9-75D2-1643F745E3F5}"/>
              </a:ext>
            </a:extLst>
          </p:cNvPr>
          <p:cNvSpPr txBox="1"/>
          <p:nvPr/>
        </p:nvSpPr>
        <p:spPr>
          <a:xfrm>
            <a:off x="1028699" y="2674045"/>
            <a:ext cx="7707857" cy="7725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fr-FR" sz="2999" spc="-59" dirty="0">
                <a:solidFill>
                  <a:srgbClr val="8C9D8D"/>
                </a:solidFill>
                <a:latin typeface="Noto Sans Bold"/>
              </a:rPr>
              <a:t>CANON </a:t>
            </a:r>
            <a:r>
              <a:rPr lang="fr-FR" sz="2999" spc="-59" dirty="0" err="1">
                <a:solidFill>
                  <a:srgbClr val="8C9D8D"/>
                </a:solidFill>
                <a:latin typeface="Noto Sans Bold"/>
              </a:rPr>
              <a:t>ImageFORCE</a:t>
            </a:r>
            <a:r>
              <a:rPr lang="fr-FR" sz="2999" spc="-59" dirty="0">
                <a:solidFill>
                  <a:srgbClr val="8C9D8D"/>
                </a:solidFill>
                <a:latin typeface="Noto Sans Bold"/>
              </a:rPr>
              <a:t> C3122</a:t>
            </a:r>
          </a:p>
          <a:p>
            <a:pPr>
              <a:lnSpc>
                <a:spcPts val="2999"/>
              </a:lnSpc>
            </a:pPr>
            <a:endParaRPr lang="fr-FR" sz="2999" spc="-59" dirty="0">
              <a:solidFill>
                <a:srgbClr val="BB0808"/>
              </a:solidFill>
              <a:latin typeface="Noto Sans Bold"/>
            </a:endParaRP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F422699D-2445-D189-CC06-0023E8CA055C}"/>
              </a:ext>
            </a:extLst>
          </p:cNvPr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fr-FR" sz="3200" spc="48" dirty="0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grpSp>
        <p:nvGrpSpPr>
          <p:cNvPr id="14" name="Group 14">
            <a:extLst>
              <a:ext uri="{FF2B5EF4-FFF2-40B4-BE49-F238E27FC236}">
                <a16:creationId xmlns:a16="http://schemas.microsoft.com/office/drawing/2014/main" id="{BC7636A1-5E87-D03A-717F-70BB73EB075E}"/>
              </a:ext>
            </a:extLst>
          </p:cNvPr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5" name="Group 15">
              <a:extLst>
                <a:ext uri="{FF2B5EF4-FFF2-40B4-BE49-F238E27FC236}">
                  <a16:creationId xmlns:a16="http://schemas.microsoft.com/office/drawing/2014/main" id="{CCAC4DBE-6612-7AF4-F288-B3D6032A48F4}"/>
                </a:ext>
              </a:extLst>
            </p:cNvPr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6" name="Freeform 16">
                <a:extLst>
                  <a:ext uri="{FF2B5EF4-FFF2-40B4-BE49-F238E27FC236}">
                    <a16:creationId xmlns:a16="http://schemas.microsoft.com/office/drawing/2014/main" id="{4D8CCE73-5D79-05C4-E7ED-E14875AB0853}"/>
                  </a:ext>
                </a:extLst>
              </p:cNvPr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 dirty="0"/>
              </a:p>
            </p:txBody>
          </p:sp>
        </p:grpSp>
        <p:pic>
          <p:nvPicPr>
            <p:cNvPr id="17" name="Picture 17">
              <a:extLst>
                <a:ext uri="{FF2B5EF4-FFF2-40B4-BE49-F238E27FC236}">
                  <a16:creationId xmlns:a16="http://schemas.microsoft.com/office/drawing/2014/main" id="{7C9B347C-60E9-0A67-5559-174E3E56C9EC}"/>
                </a:ext>
              </a:extLst>
            </p:cNvPr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E08C7235-2905-5E68-7F4C-B349B1DB5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5543" y="9665650"/>
            <a:ext cx="2133600" cy="365125"/>
          </a:xfrm>
        </p:spPr>
        <p:txBody>
          <a:bodyPr/>
          <a:lstStyle/>
          <a:p>
            <a:fld id="{B6F15528-21DE-4FAA-801E-634DDDAF4B2B}" type="slidenum">
              <a:rPr lang="fr-FR" sz="2000" smtClean="0">
                <a:solidFill>
                  <a:schemeClr val="tx1"/>
                </a:solidFill>
              </a:rPr>
              <a:pPr/>
              <a:t>15</a:t>
            </a:fld>
            <a:endParaRPr lang="fr-FR" sz="2000" dirty="0">
              <a:solidFill>
                <a:schemeClr val="tx1"/>
              </a:solidFill>
            </a:endParaRPr>
          </a:p>
        </p:txBody>
      </p:sp>
      <p:sp>
        <p:nvSpPr>
          <p:cNvPr id="20" name="TextBox 10">
            <a:extLst>
              <a:ext uri="{FF2B5EF4-FFF2-40B4-BE49-F238E27FC236}">
                <a16:creationId xmlns:a16="http://schemas.microsoft.com/office/drawing/2014/main" id="{C06D1897-0F89-EB67-31F5-179A51C58C84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fr-FR" sz="1899" dirty="0">
                <a:solidFill>
                  <a:srgbClr val="000000"/>
                </a:solidFill>
                <a:latin typeface="Noto Sans Bold"/>
              </a:rPr>
              <a:t>Quantité : 1</a:t>
            </a:r>
          </a:p>
        </p:txBody>
      </p:sp>
      <p:pic>
        <p:nvPicPr>
          <p:cNvPr id="21" name="Picture 12">
            <a:extLst>
              <a:ext uri="{FF2B5EF4-FFF2-40B4-BE49-F238E27FC236}">
                <a16:creationId xmlns:a16="http://schemas.microsoft.com/office/drawing/2014/main" id="{5B0C11C0-6313-BC75-DB53-5A97A66310F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6170592" y="7816408"/>
            <a:ext cx="878545" cy="640083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DB930E0B-2C90-F182-E1F4-35AB87B135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35394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6">
            <a:extLst>
              <a:ext uri="{FF2B5EF4-FFF2-40B4-BE49-F238E27FC236}">
                <a16:creationId xmlns:a16="http://schemas.microsoft.com/office/drawing/2014/main" id="{64CAAC97-0150-EB41-8D6E-AFF2E1B2BA9E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 dirty="0"/>
          </a:p>
        </p:txBody>
      </p:sp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 dirty="0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 dirty="0"/>
          </a:p>
        </p:txBody>
      </p:sp>
      <p:sp>
        <p:nvSpPr>
          <p:cNvPr id="9" name="TextBox 9"/>
          <p:cNvSpPr txBox="1"/>
          <p:nvPr/>
        </p:nvSpPr>
        <p:spPr>
          <a:xfrm>
            <a:off x="1028700" y="3308130"/>
            <a:ext cx="11058128" cy="64154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Vitesse d'impression : 40 pages par minute en N&amp;B et en Couleur,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Chargeur recto verso 1 passe de document de 200 feuilles,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Alimentation papier : 2 Cassettes A4/A3 de 550 feuilles chacune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Disque Dur de 256 Go et Mémoire Ram de 5Go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Plateau d’alimentation manuel By </a:t>
            </a:r>
            <a:r>
              <a:rPr lang="fr-FR" dirty="0" err="1">
                <a:solidFill>
                  <a:srgbClr val="000000"/>
                </a:solidFill>
                <a:latin typeface="Noto Sans"/>
              </a:rPr>
              <a:t>Pass</a:t>
            </a:r>
            <a:r>
              <a:rPr lang="fr-FR" dirty="0">
                <a:solidFill>
                  <a:srgbClr val="000000"/>
                </a:solidFill>
                <a:latin typeface="Noto Sans"/>
              </a:rPr>
              <a:t> de 100 feuilles,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Module Postscript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Grammage des supports de 52 à 300g/m²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Possibilité de scanner en format Word, PDF, TIFF, JPEG ou Powerpoint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Logiciel PDF Compact, permet la compression de fichiers lourds en Scan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Scanner et Connexion réseau Couleur (scan to file, scan to mail…)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Suppression automatique des pages blanches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Impressions depuis iPhone, Tablette Samsung, iPad, etc…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Matériel Wifi 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2513573"/>
            <a:ext cx="7707855" cy="771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fr-FR" sz="2999" spc="-59" dirty="0">
                <a:solidFill>
                  <a:srgbClr val="8C9D8D"/>
                </a:solidFill>
                <a:latin typeface="Noto Sans Bold"/>
              </a:rPr>
              <a:t>CANON </a:t>
            </a:r>
            <a:r>
              <a:rPr lang="fr-FR" sz="2999" spc="-59" dirty="0" err="1">
                <a:solidFill>
                  <a:srgbClr val="8C9D8D"/>
                </a:solidFill>
                <a:latin typeface="Noto Sans Bold"/>
              </a:rPr>
              <a:t>ImageFORCE</a:t>
            </a:r>
            <a:r>
              <a:rPr lang="fr-FR" sz="2999" spc="-59" dirty="0">
                <a:solidFill>
                  <a:srgbClr val="8C9D8D"/>
                </a:solidFill>
                <a:latin typeface="Noto Sans Bold"/>
              </a:rPr>
              <a:t> C5140</a:t>
            </a:r>
          </a:p>
          <a:p>
            <a:pPr>
              <a:lnSpc>
                <a:spcPts val="2999"/>
              </a:lnSpc>
            </a:pPr>
            <a:endParaRPr lang="fr-FR" sz="2999" spc="-59" dirty="0">
              <a:solidFill>
                <a:srgbClr val="BB0808"/>
              </a:solidFill>
              <a:latin typeface="Noto Sans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fr-FR" sz="3200" spc="48" dirty="0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 dirty="0"/>
              </a:p>
            </p:txBody>
          </p:sp>
        </p:grpSp>
        <p:pic>
          <p:nvPicPr>
            <p:cNvPr id="17" name="Picture 17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A5C2392C-EDF8-4E48-A7E4-78286E436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723622"/>
            <a:ext cx="2133600" cy="365125"/>
          </a:xfrm>
        </p:spPr>
        <p:txBody>
          <a:bodyPr/>
          <a:lstStyle/>
          <a:p>
            <a:fld id="{B6F15528-21DE-4FAA-801E-634DDDAF4B2B}" type="slidenum">
              <a:rPr lang="fr-FR" sz="2000" smtClean="0">
                <a:solidFill>
                  <a:schemeClr val="tx1"/>
                </a:solidFill>
              </a:rPr>
              <a:pPr/>
              <a:t>16</a:t>
            </a:fld>
            <a:endParaRPr lang="fr-FR" sz="2000" dirty="0">
              <a:solidFill>
                <a:schemeClr val="tx1"/>
              </a:solidFill>
            </a:endParaRPr>
          </a:p>
        </p:txBody>
      </p:sp>
      <p:sp>
        <p:nvSpPr>
          <p:cNvPr id="20" name="TextBox 10">
            <a:extLst>
              <a:ext uri="{FF2B5EF4-FFF2-40B4-BE49-F238E27FC236}">
                <a16:creationId xmlns:a16="http://schemas.microsoft.com/office/drawing/2014/main" id="{02E5B688-5FC4-FC4C-944B-74224089DAF6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fr-FR" sz="1899" dirty="0">
                <a:solidFill>
                  <a:srgbClr val="000000"/>
                </a:solidFill>
                <a:latin typeface="Noto Sans Bold"/>
              </a:rPr>
              <a:t>Quantité : 1</a:t>
            </a:r>
          </a:p>
        </p:txBody>
      </p:sp>
      <p:pic>
        <p:nvPicPr>
          <p:cNvPr id="22" name="Picture 12">
            <a:extLst>
              <a:ext uri="{FF2B5EF4-FFF2-40B4-BE49-F238E27FC236}">
                <a16:creationId xmlns:a16="http://schemas.microsoft.com/office/drawing/2014/main" id="{B497F895-78DE-774F-9EE5-20117D1986D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6170592" y="7816408"/>
            <a:ext cx="878545" cy="640083"/>
          </a:xfrm>
          <a:prstGeom prst="rect">
            <a:avLst/>
          </a:prstGeom>
        </p:spPr>
      </p:pic>
      <p:pic>
        <p:nvPicPr>
          <p:cNvPr id="6" name="Image 5" descr="Une image contenant Appareils électroniques, photocopieur&#10;&#10;Description générée automatiquement">
            <a:extLst>
              <a:ext uri="{FF2B5EF4-FFF2-40B4-BE49-F238E27FC236}">
                <a16:creationId xmlns:a16="http://schemas.microsoft.com/office/drawing/2014/main" id="{43ED127C-70E1-91E6-719B-9CDFAF6F1BC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6908" y="2448763"/>
            <a:ext cx="6272232" cy="6377392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53DC8B9E-04D5-DE93-0FD7-DD8C7B468D7A}"/>
              </a:ext>
            </a:extLst>
          </p:cNvPr>
          <p:cNvSpPr txBox="1"/>
          <p:nvPr/>
        </p:nvSpPr>
        <p:spPr>
          <a:xfrm>
            <a:off x="13944396" y="9323512"/>
            <a:ext cx="32121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b="1" u="sng" dirty="0">
                <a:solidFill>
                  <a:srgbClr val="8C9D8D"/>
                </a:solidFill>
              </a:rPr>
              <a:t>Photo non contractuelle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7D1C46F5-3C89-ADF9-26BC-1439B0B961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6">
            <a:extLst>
              <a:ext uri="{FF2B5EF4-FFF2-40B4-BE49-F238E27FC236}">
                <a16:creationId xmlns:a16="http://schemas.microsoft.com/office/drawing/2014/main" id="{590102F3-E1DF-AB4F-A0C0-3F3A319DF673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 dirty="0"/>
          </a:p>
        </p:txBody>
      </p:sp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 dirty="0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 dirty="0"/>
          </a:p>
        </p:txBody>
      </p:sp>
      <p:pic>
        <p:nvPicPr>
          <p:cNvPr id="8" name="Picture 8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1125200" y="3162766"/>
            <a:ext cx="7312865" cy="4653642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1028700" y="3341084"/>
            <a:ext cx="10387833" cy="70750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8620" lvl="1" indent="-194310">
              <a:lnSpc>
                <a:spcPct val="150000"/>
              </a:lnSpc>
              <a:buFont typeface="Arial"/>
              <a:buChar char="•"/>
            </a:pPr>
            <a:r>
              <a:rPr lang="fr-FR" sz="1900" dirty="0">
                <a:solidFill>
                  <a:srgbClr val="000000"/>
                </a:solidFill>
                <a:latin typeface="Noto Sans"/>
              </a:rPr>
              <a:t>Vitesse d'impression : 65 pages par minute en N&amp;B et en Couleur, </a:t>
            </a:r>
          </a:p>
          <a:p>
            <a:pPr marL="388620" lvl="1" indent="-194310">
              <a:lnSpc>
                <a:spcPct val="150000"/>
              </a:lnSpc>
              <a:buFont typeface="Arial"/>
              <a:buChar char="•"/>
            </a:pPr>
            <a:r>
              <a:rPr lang="fr-FR" sz="1900" dirty="0">
                <a:solidFill>
                  <a:srgbClr val="000000"/>
                </a:solidFill>
                <a:latin typeface="Noto Sans"/>
              </a:rPr>
              <a:t>Chargeur recto verso automatique 1 passe de document de 200 feuilles, </a:t>
            </a:r>
          </a:p>
          <a:p>
            <a:pPr marL="388620" lvl="1" indent="-194310">
              <a:lnSpc>
                <a:spcPct val="150000"/>
              </a:lnSpc>
              <a:buFont typeface="Arial"/>
              <a:buChar char="•"/>
            </a:pPr>
            <a:r>
              <a:rPr lang="fr-FR" sz="1900" dirty="0">
                <a:solidFill>
                  <a:srgbClr val="000000"/>
                </a:solidFill>
                <a:latin typeface="Noto Sans"/>
              </a:rPr>
              <a:t>Alimentation papier : 1 Plateau multifonction et 2 cassettes A4/A3 de 550 feuilles chacune</a:t>
            </a:r>
          </a:p>
          <a:p>
            <a:pPr marL="388620" lvl="1" indent="-194310">
              <a:lnSpc>
                <a:spcPct val="150000"/>
              </a:lnSpc>
              <a:buFont typeface="Arial"/>
              <a:buChar char="•"/>
            </a:pPr>
            <a:r>
              <a:rPr lang="fr-FR" sz="1900" dirty="0">
                <a:solidFill>
                  <a:srgbClr val="000000"/>
                </a:solidFill>
                <a:latin typeface="Noto Sans"/>
              </a:rPr>
              <a:t>Plateau d’alimentation manuel By </a:t>
            </a:r>
            <a:r>
              <a:rPr lang="fr-FR" sz="1900" dirty="0" err="1">
                <a:solidFill>
                  <a:srgbClr val="000000"/>
                </a:solidFill>
                <a:latin typeface="Noto Sans"/>
              </a:rPr>
              <a:t>Pass</a:t>
            </a:r>
            <a:r>
              <a:rPr lang="fr-FR" sz="1900" dirty="0">
                <a:solidFill>
                  <a:srgbClr val="000000"/>
                </a:solidFill>
                <a:latin typeface="Noto Sans"/>
              </a:rPr>
              <a:t> de 250 feuilles,</a:t>
            </a:r>
          </a:p>
          <a:p>
            <a:pPr marL="388620" lvl="1" indent="-194310">
              <a:lnSpc>
                <a:spcPct val="150000"/>
              </a:lnSpc>
              <a:buFont typeface="Arial"/>
              <a:buChar char="•"/>
            </a:pPr>
            <a:r>
              <a:rPr lang="fr-FR" sz="1900" dirty="0">
                <a:solidFill>
                  <a:srgbClr val="000000"/>
                </a:solidFill>
                <a:latin typeface="Noto Sans"/>
              </a:rPr>
              <a:t>Résolution d’impression : 2 400 x 2 400 ppp</a:t>
            </a:r>
          </a:p>
          <a:p>
            <a:pPr marL="388620" lvl="1" indent="-194310">
              <a:lnSpc>
                <a:spcPct val="150000"/>
              </a:lnSpc>
              <a:buFont typeface="Arial"/>
              <a:buChar char="•"/>
            </a:pPr>
            <a:r>
              <a:rPr lang="fr-FR" sz="1900" dirty="0">
                <a:solidFill>
                  <a:srgbClr val="000000"/>
                </a:solidFill>
                <a:latin typeface="Noto Sans"/>
              </a:rPr>
              <a:t>Langage de description : UFR II, PCL 6 ou Postscript G1@E</a:t>
            </a:r>
          </a:p>
          <a:p>
            <a:pPr marL="388620" lvl="1" indent="-194310">
              <a:lnSpc>
                <a:spcPct val="150000"/>
              </a:lnSpc>
              <a:buFont typeface="Arial"/>
              <a:buChar char="•"/>
            </a:pPr>
            <a:r>
              <a:rPr lang="fr-FR" sz="1900" dirty="0">
                <a:solidFill>
                  <a:srgbClr val="000000"/>
                </a:solidFill>
                <a:latin typeface="Noto Sans"/>
              </a:rPr>
              <a:t>Mémoire vive de 50 Go de Ram &amp; Disque dur de 8 Go</a:t>
            </a:r>
          </a:p>
          <a:p>
            <a:pPr marL="388620" lvl="1" indent="-194310">
              <a:lnSpc>
                <a:spcPct val="150000"/>
              </a:lnSpc>
              <a:buFont typeface="Arial"/>
              <a:buChar char="•"/>
            </a:pPr>
            <a:r>
              <a:rPr lang="fr-FR" sz="1900" dirty="0">
                <a:solidFill>
                  <a:srgbClr val="000000"/>
                </a:solidFill>
                <a:latin typeface="Noto Sans"/>
              </a:rPr>
              <a:t>Grammage des supports de 52 à 350g/m²</a:t>
            </a:r>
          </a:p>
          <a:p>
            <a:pPr marL="388620" lvl="1" indent="-194310">
              <a:lnSpc>
                <a:spcPct val="150000"/>
              </a:lnSpc>
              <a:buFont typeface="Arial"/>
              <a:buChar char="•"/>
            </a:pPr>
            <a:r>
              <a:rPr lang="fr-FR" sz="1900" dirty="0">
                <a:solidFill>
                  <a:srgbClr val="000000"/>
                </a:solidFill>
                <a:latin typeface="Noto Sans"/>
              </a:rPr>
              <a:t>Possibilité de scanner en format Word, PDF, TIFF, JPEG ou Powerpoint</a:t>
            </a:r>
          </a:p>
          <a:p>
            <a:pPr marL="388620" lvl="1" indent="-194310">
              <a:lnSpc>
                <a:spcPct val="150000"/>
              </a:lnSpc>
              <a:buFont typeface="Arial"/>
              <a:buChar char="•"/>
            </a:pPr>
            <a:r>
              <a:rPr lang="fr-FR" sz="1900" dirty="0">
                <a:solidFill>
                  <a:srgbClr val="000000"/>
                </a:solidFill>
                <a:latin typeface="Noto Sans"/>
              </a:rPr>
              <a:t>Logiciel PDF Compact, permet la compression de fichiers lourds en Scan</a:t>
            </a:r>
          </a:p>
          <a:p>
            <a:pPr marL="388620" lvl="1" indent="-194310">
              <a:lnSpc>
                <a:spcPct val="150000"/>
              </a:lnSpc>
              <a:buFont typeface="Arial"/>
              <a:buChar char="•"/>
            </a:pPr>
            <a:r>
              <a:rPr lang="fr-FR" sz="1900" dirty="0">
                <a:solidFill>
                  <a:srgbClr val="000000"/>
                </a:solidFill>
                <a:latin typeface="Noto Sans"/>
              </a:rPr>
              <a:t>Scanner et Connexion réseau Couleur (scan to file, scan to mail…)</a:t>
            </a:r>
          </a:p>
          <a:p>
            <a:pPr marL="388620" lvl="1" indent="-194310">
              <a:lnSpc>
                <a:spcPct val="150000"/>
              </a:lnSpc>
              <a:buFont typeface="Arial"/>
              <a:buChar char="•"/>
            </a:pPr>
            <a:r>
              <a:rPr lang="fr-FR" sz="1900" dirty="0">
                <a:solidFill>
                  <a:srgbClr val="000000"/>
                </a:solidFill>
                <a:latin typeface="Noto Sans"/>
              </a:rPr>
              <a:t>Suppression automatique des pages blanches</a:t>
            </a:r>
          </a:p>
          <a:p>
            <a:pPr marL="388620" lvl="1" indent="-194310">
              <a:lnSpc>
                <a:spcPct val="150000"/>
              </a:lnSpc>
              <a:buFont typeface="Arial"/>
              <a:buChar char="•"/>
            </a:pPr>
            <a:r>
              <a:rPr lang="fr-FR" sz="1900" dirty="0">
                <a:solidFill>
                  <a:srgbClr val="000000"/>
                </a:solidFill>
                <a:latin typeface="Noto Sans"/>
              </a:rPr>
              <a:t>Impressions depuis iPhone, Tablette Samsung, iPad, etc…</a:t>
            </a:r>
          </a:p>
          <a:p>
            <a:pPr marL="194310" lvl="1">
              <a:lnSpc>
                <a:spcPts val="3924"/>
              </a:lnSpc>
            </a:pPr>
            <a:endParaRPr lang="fr-FR" dirty="0">
              <a:solidFill>
                <a:srgbClr val="000000"/>
              </a:solidFill>
              <a:latin typeface="Noto Sans"/>
            </a:endParaRPr>
          </a:p>
          <a:p>
            <a:pPr>
              <a:lnSpc>
                <a:spcPts val="3924"/>
              </a:lnSpc>
            </a:pPr>
            <a:endParaRPr lang="fr-FR" dirty="0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028699" y="2278065"/>
            <a:ext cx="7707856" cy="11572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endParaRPr lang="fr-FR" sz="2999" spc="-59" dirty="0">
              <a:solidFill>
                <a:srgbClr val="BB0808"/>
              </a:solidFill>
              <a:latin typeface="Noto Sans Bold"/>
            </a:endParaRPr>
          </a:p>
          <a:p>
            <a:pPr>
              <a:lnSpc>
                <a:spcPts val="2999"/>
              </a:lnSpc>
            </a:pPr>
            <a:r>
              <a:rPr lang="fr-FR" sz="2999" spc="-59" dirty="0">
                <a:solidFill>
                  <a:srgbClr val="8C9D8D"/>
                </a:solidFill>
                <a:latin typeface="Noto Sans Bold"/>
              </a:rPr>
              <a:t>CANON </a:t>
            </a:r>
            <a:r>
              <a:rPr lang="fr-FR" sz="2999" spc="-59" dirty="0" err="1">
                <a:solidFill>
                  <a:srgbClr val="8C9D8D"/>
                </a:solidFill>
                <a:latin typeface="Noto Sans Bold"/>
              </a:rPr>
              <a:t>ImageFORCE</a:t>
            </a:r>
            <a:r>
              <a:rPr lang="fr-FR" sz="2999" spc="-59" dirty="0">
                <a:solidFill>
                  <a:srgbClr val="8C9D8D"/>
                </a:solidFill>
                <a:latin typeface="Noto Sans Bold"/>
              </a:rPr>
              <a:t> C 7165</a:t>
            </a:r>
          </a:p>
          <a:p>
            <a:pPr>
              <a:lnSpc>
                <a:spcPts val="2999"/>
              </a:lnSpc>
            </a:pPr>
            <a:endParaRPr lang="fr-FR" sz="2999" spc="-59" dirty="0">
              <a:solidFill>
                <a:srgbClr val="BB0808"/>
              </a:solidFill>
              <a:latin typeface="Noto Sans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fr-FR" sz="3200" spc="48" dirty="0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 dirty="0"/>
              </a:p>
            </p:txBody>
          </p:sp>
        </p:grpSp>
        <p:pic>
          <p:nvPicPr>
            <p:cNvPr id="17" name="Picture 17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4FE797DD-07C6-EB4C-A6CB-ACCDCCAA2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637067"/>
            <a:ext cx="2133600" cy="365125"/>
          </a:xfrm>
        </p:spPr>
        <p:txBody>
          <a:bodyPr/>
          <a:lstStyle/>
          <a:p>
            <a:fld id="{B6F15528-21DE-4FAA-801E-634DDDAF4B2B}" type="slidenum">
              <a:rPr lang="fr-FR" sz="2000" smtClean="0">
                <a:solidFill>
                  <a:schemeClr val="tx1"/>
                </a:solidFill>
              </a:rPr>
              <a:pPr/>
              <a:t>17</a:t>
            </a:fld>
            <a:endParaRPr lang="fr-FR" sz="2000" dirty="0">
              <a:solidFill>
                <a:schemeClr val="tx1"/>
              </a:solidFill>
            </a:endParaRPr>
          </a:p>
        </p:txBody>
      </p:sp>
      <p:sp>
        <p:nvSpPr>
          <p:cNvPr id="20" name="TextBox 10">
            <a:extLst>
              <a:ext uri="{FF2B5EF4-FFF2-40B4-BE49-F238E27FC236}">
                <a16:creationId xmlns:a16="http://schemas.microsoft.com/office/drawing/2014/main" id="{98E1923E-5757-6345-80D1-9BD51906641D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fr-FR" sz="1899" dirty="0">
                <a:solidFill>
                  <a:srgbClr val="000000"/>
                </a:solidFill>
                <a:latin typeface="Noto Sans Bold"/>
              </a:rPr>
              <a:t>Quantité : 1</a:t>
            </a:r>
          </a:p>
        </p:txBody>
      </p:sp>
      <p:pic>
        <p:nvPicPr>
          <p:cNvPr id="21" name="Picture 12">
            <a:extLst>
              <a:ext uri="{FF2B5EF4-FFF2-40B4-BE49-F238E27FC236}">
                <a16:creationId xmlns:a16="http://schemas.microsoft.com/office/drawing/2014/main" id="{350A89C6-C039-9F44-A134-91444515CB4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6170592" y="7816408"/>
            <a:ext cx="878545" cy="640083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86893551-5CD6-77FB-7306-B659018F3E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Freeform 6">
            <a:extLst>
              <a:ext uri="{FF2B5EF4-FFF2-40B4-BE49-F238E27FC236}">
                <a16:creationId xmlns:a16="http://schemas.microsoft.com/office/drawing/2014/main" id="{8A2C446D-4A40-6941-B532-7869A2F38EB9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 dirty="0"/>
          </a:p>
        </p:txBody>
      </p:sp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 dirty="0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 dirty="0"/>
          </a:p>
        </p:txBody>
      </p:sp>
      <p:grpSp>
        <p:nvGrpSpPr>
          <p:cNvPr id="7" name="Group 7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8" name="Group 8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 dirty="0"/>
              </a:p>
            </p:txBody>
          </p:sp>
        </p:grpSp>
        <p:pic>
          <p:nvPicPr>
            <p:cNvPr id="10" name="Picture 10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pic>
        <p:nvPicPr>
          <p:cNvPr id="11" name="Picture 11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1729396" y="3565189"/>
            <a:ext cx="6046240" cy="4702631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1028700" y="3501887"/>
            <a:ext cx="11058128" cy="59172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Format: 36 pouces-formatA1 (241mm) A0  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 Largeur des rouleaux: A3, A2 ,A1,A0 &amp; en 48 Secondes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 Cutter rotatif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 Disque dur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 Carte réseau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 Calcul de la gâche papier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 Environ 2,5 fois et demi plus rapide à l’impression qu’HP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 Carte PostScript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5 cartouches : noir, noir mat, cyan, magenta et jaune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 1 socle</a:t>
            </a:r>
          </a:p>
          <a:p>
            <a:pPr>
              <a:lnSpc>
                <a:spcPts val="3924"/>
              </a:lnSpc>
            </a:pPr>
            <a:r>
              <a:rPr lang="fr-FR" dirty="0">
                <a:solidFill>
                  <a:srgbClr val="8C9D8D"/>
                </a:solidFill>
                <a:latin typeface="Noto Sans"/>
              </a:rPr>
              <a:t>Conforme au cahier des charges en tout point</a:t>
            </a:r>
          </a:p>
          <a:p>
            <a:pPr>
              <a:lnSpc>
                <a:spcPts val="3924"/>
              </a:lnSpc>
            </a:pPr>
            <a:endParaRPr lang="fr-FR" dirty="0">
              <a:solidFill>
                <a:srgbClr val="BB0808"/>
              </a:solidFill>
              <a:latin typeface="Noto Sans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028700" y="2704073"/>
            <a:ext cx="770785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fr-FR" sz="2999" spc="-59" dirty="0">
                <a:solidFill>
                  <a:srgbClr val="8C9D8D"/>
                </a:solidFill>
                <a:latin typeface="Noto Sans Bold"/>
              </a:rPr>
              <a:t>CANON IPF TM 300 MFP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fr-FR" sz="3200" spc="48" dirty="0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1B901552-C3BF-0B44-9E37-2165FB641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653198"/>
            <a:ext cx="2133600" cy="365125"/>
          </a:xfrm>
        </p:spPr>
        <p:txBody>
          <a:bodyPr/>
          <a:lstStyle/>
          <a:p>
            <a:fld id="{B6F15528-21DE-4FAA-801E-634DDDAF4B2B}" type="slidenum">
              <a:rPr lang="fr-FR" sz="2000" smtClean="0">
                <a:solidFill>
                  <a:schemeClr val="tx1"/>
                </a:solidFill>
              </a:rPr>
              <a:pPr/>
              <a:t>18</a:t>
            </a:fld>
            <a:endParaRPr lang="fr-FR" sz="2000" dirty="0">
              <a:solidFill>
                <a:schemeClr val="tx1"/>
              </a:solidFill>
            </a:endParaRPr>
          </a:p>
        </p:txBody>
      </p:sp>
      <p:sp>
        <p:nvSpPr>
          <p:cNvPr id="19" name="TextBox 10">
            <a:extLst>
              <a:ext uri="{FF2B5EF4-FFF2-40B4-BE49-F238E27FC236}">
                <a16:creationId xmlns:a16="http://schemas.microsoft.com/office/drawing/2014/main" id="{5E00FA80-6C44-EF4B-87AB-F39A4014F76E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fr-FR" sz="1899" dirty="0">
                <a:solidFill>
                  <a:srgbClr val="000000"/>
                </a:solidFill>
                <a:latin typeface="Noto Sans Bold"/>
              </a:rPr>
              <a:t>Quantité : 1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D8EC3720-6CD1-B6FA-D354-A88B608D52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AutoShape 3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 dirty="0"/>
          </a:p>
        </p:txBody>
      </p:sp>
      <p:grpSp>
        <p:nvGrpSpPr>
          <p:cNvPr id="5" name="Group 5"/>
          <p:cNvGrpSpPr/>
          <p:nvPr/>
        </p:nvGrpSpPr>
        <p:grpSpPr>
          <a:xfrm>
            <a:off x="4514857" y="5986127"/>
            <a:ext cx="9983559" cy="2465052"/>
            <a:chOff x="0" y="0"/>
            <a:chExt cx="6350000" cy="6350000"/>
          </a:xfrm>
          <a:solidFill>
            <a:srgbClr val="8C9D8D"/>
          </a:solidFill>
        </p:grpSpPr>
        <p:sp>
          <p:nvSpPr>
            <p:cNvPr id="6" name="Freeform 6"/>
            <p:cNvSpPr/>
            <p:nvPr/>
          </p:nvSpPr>
          <p:spPr>
            <a:xfrm>
              <a:off x="14167" y="0"/>
              <a:ext cx="6321665" cy="6350000"/>
            </a:xfrm>
            <a:custGeom>
              <a:avLst/>
              <a:gdLst/>
              <a:ahLst/>
              <a:cxnLst/>
              <a:rect l="l" t="t" r="r" b="b"/>
              <a:pathLst>
                <a:path w="6321665" h="6350000">
                  <a:moveTo>
                    <a:pt x="3160833" y="0"/>
                  </a:moveTo>
                  <a:lnTo>
                    <a:pt x="3160833" y="0"/>
                  </a:lnTo>
                  <a:cubicBezTo>
                    <a:pt x="4908795" y="7817"/>
                    <a:pt x="6321666" y="1427021"/>
                    <a:pt x="6321666" y="3175000"/>
                  </a:cubicBezTo>
                  <a:cubicBezTo>
                    <a:pt x="6321666" y="4922979"/>
                    <a:pt x="4908795" y="6342183"/>
                    <a:pt x="3160833" y="6350000"/>
                  </a:cubicBezTo>
                  <a:cubicBezTo>
                    <a:pt x="1412871" y="6342183"/>
                    <a:pt x="0" y="4922979"/>
                    <a:pt x="0" y="3175000"/>
                  </a:cubicBezTo>
                  <a:cubicBezTo>
                    <a:pt x="0" y="1427021"/>
                    <a:pt x="1412871" y="7817"/>
                    <a:pt x="3160833" y="0"/>
                  </a:cubicBez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fr-FR" dirty="0"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4689043" y="6734803"/>
            <a:ext cx="9635189" cy="910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280"/>
              </a:lnSpc>
            </a:pPr>
            <a:r>
              <a:rPr lang="fr-FR" sz="5600" dirty="0">
                <a:solidFill>
                  <a:srgbClr val="000000"/>
                </a:solidFill>
                <a:latin typeface="Noto Sans"/>
              </a:rPr>
              <a:t>Notre gamme écologique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0" name="Group 10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 dirty="0"/>
              </a:p>
            </p:txBody>
          </p:sp>
        </p:grpSp>
        <p:pic>
          <p:nvPicPr>
            <p:cNvPr id="12" name="Picture 12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36E5474-1CFA-6D46-8863-FC280303D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5845" y="9639300"/>
            <a:ext cx="2133600" cy="365125"/>
          </a:xfrm>
        </p:spPr>
        <p:txBody>
          <a:bodyPr/>
          <a:lstStyle/>
          <a:p>
            <a:fld id="{B6F15528-21DE-4FAA-801E-634DDDAF4B2B}" type="slidenum">
              <a:rPr lang="fr-FR" sz="2000" smtClean="0">
                <a:solidFill>
                  <a:schemeClr val="tx1"/>
                </a:solidFill>
              </a:rPr>
              <a:pPr/>
              <a:t>19</a:t>
            </a:fld>
            <a:endParaRPr lang="fr-FR" sz="2000" dirty="0">
              <a:solidFill>
                <a:schemeClr val="tx1"/>
              </a:solidFill>
            </a:endParaRP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E9D6EA05-5F8F-3235-3AA4-55B33B209A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6">
            <a:extLst>
              <a:ext uri="{FF2B5EF4-FFF2-40B4-BE49-F238E27FC236}">
                <a16:creationId xmlns:a16="http://schemas.microsoft.com/office/drawing/2014/main" id="{0A613F1D-0993-484B-AA57-D2D8C26AD29C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 dirty="0"/>
          </a:p>
        </p:txBody>
      </p:sp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 dirty="0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 dirty="0"/>
          </a:p>
        </p:txBody>
      </p:sp>
      <p:sp>
        <p:nvSpPr>
          <p:cNvPr id="8" name="TextBox 8"/>
          <p:cNvSpPr txBox="1"/>
          <p:nvPr/>
        </p:nvSpPr>
        <p:spPr>
          <a:xfrm>
            <a:off x="1028700" y="3458403"/>
            <a:ext cx="11058128" cy="69365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Vitesse d'impression : 25 pages par minute en N&amp;B et en Couleur, 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Chargeur Recto Verso automatique de document 1 Passe de 100 feuilles, 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Alimentation papier : 1 Cassette A4 de 550 feuilles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Plateau d’alimentation manuel By </a:t>
            </a:r>
            <a:r>
              <a:rPr lang="fr-FR" sz="1800" dirty="0" err="1">
                <a:solidFill>
                  <a:srgbClr val="000000"/>
                </a:solidFill>
                <a:latin typeface="Noto Sans"/>
              </a:rPr>
              <a:t>Pass</a:t>
            </a:r>
            <a:r>
              <a:rPr lang="fr-FR" sz="1800" dirty="0">
                <a:solidFill>
                  <a:srgbClr val="000000"/>
                </a:solidFill>
                <a:latin typeface="Noto Sans"/>
              </a:rPr>
              <a:t> de 100 feuilles,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Disque dur de 256 Go &amp; Mémoire vive de 3,5 Go de Ram,</a:t>
            </a:r>
            <a:endParaRPr lang="fr-FR" sz="1800" dirty="0">
              <a:solidFill>
                <a:srgbClr val="000000"/>
              </a:solidFill>
              <a:latin typeface="Noto Sans"/>
            </a:endParaRP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Module Postscript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Possibilité de scanner en format Word, PDF, TIFF, JPEG ou Powerpoint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Scanner et Connexion réseau Couleur (scan to file, scan to mail…)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Logiciel PDF Compact, permet la compression de fichiers lourds en Scan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Suppression automatique des pages blanches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Grammage des supports de 60 à 220g/m²</a:t>
            </a:r>
          </a:p>
          <a:p>
            <a:pPr marL="388620" lvl="1" indent="-194310">
              <a:lnSpc>
                <a:spcPts val="3906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Impressions depuis iPhone, Tablette Samsung, iPad, etc…</a:t>
            </a:r>
          </a:p>
          <a:p>
            <a:pPr>
              <a:lnSpc>
                <a:spcPts val="3924"/>
              </a:lnSpc>
            </a:pPr>
            <a:endParaRPr lang="fr-FR" dirty="0">
              <a:solidFill>
                <a:srgbClr val="000000"/>
              </a:solidFill>
              <a:latin typeface="Noto Sans"/>
            </a:endParaRPr>
          </a:p>
          <a:p>
            <a:pPr>
              <a:lnSpc>
                <a:spcPts val="3924"/>
              </a:lnSpc>
            </a:pPr>
            <a:endParaRPr lang="fr-FR" dirty="0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028699" y="2677338"/>
            <a:ext cx="10553700" cy="11572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fr-FR" sz="2999" spc="-59" dirty="0">
                <a:solidFill>
                  <a:srgbClr val="8C9D8D"/>
                </a:solidFill>
                <a:latin typeface="Noto Sans Bold"/>
              </a:rPr>
              <a:t>CANON Image Runner Advance C255i/256i</a:t>
            </a:r>
          </a:p>
          <a:p>
            <a:pPr>
              <a:lnSpc>
                <a:spcPts val="2999"/>
              </a:lnSpc>
            </a:pPr>
            <a:endParaRPr lang="fr-FR" sz="2999" spc="-59" dirty="0">
              <a:solidFill>
                <a:srgbClr val="BB0808"/>
              </a:solidFill>
              <a:latin typeface="Noto Sans Bold"/>
            </a:endParaRPr>
          </a:p>
          <a:p>
            <a:pPr>
              <a:lnSpc>
                <a:spcPts val="2999"/>
              </a:lnSpc>
            </a:pPr>
            <a:endParaRPr lang="fr-FR" sz="2999" spc="-59" dirty="0">
              <a:solidFill>
                <a:srgbClr val="BB0808"/>
              </a:solidFill>
              <a:latin typeface="Noto Sans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fr-FR" sz="3200" spc="48" dirty="0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 dirty="0"/>
              </a:p>
            </p:txBody>
          </p:sp>
        </p:grpSp>
        <p:pic>
          <p:nvPicPr>
            <p:cNvPr id="17" name="Picture 17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68209F9A-368C-BD49-9623-DE0944907C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666644"/>
            <a:ext cx="2133600" cy="365125"/>
          </a:xfrm>
        </p:spPr>
        <p:txBody>
          <a:bodyPr/>
          <a:lstStyle/>
          <a:p>
            <a:fld id="{B6F15528-21DE-4FAA-801E-634DDDAF4B2B}" type="slidenum">
              <a:rPr lang="fr-FR" sz="2000" smtClean="0">
                <a:solidFill>
                  <a:schemeClr val="tx1"/>
                </a:solidFill>
              </a:rPr>
              <a:pPr/>
              <a:t>20</a:t>
            </a:fld>
            <a:endParaRPr lang="fr-FR" sz="2000" dirty="0">
              <a:solidFill>
                <a:schemeClr val="tx1"/>
              </a:solidFill>
            </a:endParaRPr>
          </a:p>
        </p:txBody>
      </p:sp>
      <p:sp>
        <p:nvSpPr>
          <p:cNvPr id="20" name="TextBox 10">
            <a:extLst>
              <a:ext uri="{FF2B5EF4-FFF2-40B4-BE49-F238E27FC236}">
                <a16:creationId xmlns:a16="http://schemas.microsoft.com/office/drawing/2014/main" id="{99E62FF0-F614-514C-811E-D04E74432FEE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fr-FR" sz="1899" dirty="0">
                <a:solidFill>
                  <a:srgbClr val="000000"/>
                </a:solidFill>
                <a:latin typeface="Noto Sans Bold"/>
              </a:rPr>
              <a:t>Quantité : 1</a:t>
            </a:r>
          </a:p>
        </p:txBody>
      </p:sp>
      <p:pic>
        <p:nvPicPr>
          <p:cNvPr id="21" name="Picture 12">
            <a:extLst>
              <a:ext uri="{FF2B5EF4-FFF2-40B4-BE49-F238E27FC236}">
                <a16:creationId xmlns:a16="http://schemas.microsoft.com/office/drawing/2014/main" id="{75994ED6-6EF1-374B-BE65-56734252FF4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6170592" y="7816408"/>
            <a:ext cx="878545" cy="640083"/>
          </a:xfrm>
          <a:prstGeom prst="rect">
            <a:avLst/>
          </a:prstGeom>
        </p:spPr>
      </p:pic>
      <p:pic>
        <p:nvPicPr>
          <p:cNvPr id="11" name="Image 10" descr="Une image contenant Appareils électroniques, photocopieur, imprimante&#10;&#10;Description générée automatiquement">
            <a:extLst>
              <a:ext uri="{FF2B5EF4-FFF2-40B4-BE49-F238E27FC236}">
                <a16:creationId xmlns:a16="http://schemas.microsoft.com/office/drawing/2014/main" id="{D8B7DA84-21D0-B951-DFA3-EE8A7278DE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67887" y="2846697"/>
            <a:ext cx="5632604" cy="5657850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AA358603-E339-E60E-1410-8E216AC274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6">
            <a:extLst>
              <a:ext uri="{FF2B5EF4-FFF2-40B4-BE49-F238E27FC236}">
                <a16:creationId xmlns:a16="http://schemas.microsoft.com/office/drawing/2014/main" id="{E85A907C-0363-CA4A-8777-962D5EDDD720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 dirty="0"/>
          </a:p>
        </p:txBody>
      </p:sp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 dirty="0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 dirty="0"/>
          </a:p>
        </p:txBody>
      </p:sp>
      <p:sp>
        <p:nvSpPr>
          <p:cNvPr id="8" name="TextBox 8"/>
          <p:cNvSpPr txBox="1"/>
          <p:nvPr/>
        </p:nvSpPr>
        <p:spPr>
          <a:xfrm>
            <a:off x="1028700" y="3460567"/>
            <a:ext cx="9203981" cy="69365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Vitesse d'impression : 20 pages par minute en N&amp;B et en Couleur,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Chargeur recto verso de document de 100 feuilles,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Alimentation papier : 2 Cassettes A4/A3 de 550 feuilles chacune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Disque Dur de 250 Go et Mémoire Ram de 4Go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Plateau d’alimentation manuel By </a:t>
            </a:r>
            <a:r>
              <a:rPr lang="fr-FR" sz="1800" dirty="0" err="1">
                <a:solidFill>
                  <a:srgbClr val="000000"/>
                </a:solidFill>
                <a:latin typeface="Noto Sans"/>
              </a:rPr>
              <a:t>Pass</a:t>
            </a:r>
            <a:r>
              <a:rPr lang="fr-FR" sz="1800" dirty="0">
                <a:solidFill>
                  <a:srgbClr val="000000"/>
                </a:solidFill>
                <a:latin typeface="Noto Sans"/>
              </a:rPr>
              <a:t> de 100 feuilles,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Module Postscript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Grammage des supports de 52 à 300g/m²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Possibilité de scanner en format Word, PDF, TIFF, JPEG ou Powerpoint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Logiciel PDF Compact, permet la compression de fichiers lourds en Scan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Scanner et Connexion réseau Couleur (scan to file, scan to mail…)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Suppression automatique des pages blanches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sz="1800" dirty="0">
                <a:solidFill>
                  <a:srgbClr val="000000"/>
                </a:solidFill>
                <a:latin typeface="Noto Sans"/>
              </a:rPr>
              <a:t>Impressions depuis iPhone, Tablette Samsung, iPad, etc…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Matériel Wifi</a:t>
            </a:r>
            <a:endParaRPr lang="fr-FR" sz="1800" dirty="0">
              <a:solidFill>
                <a:srgbClr val="000000"/>
              </a:solidFill>
              <a:latin typeface="Noto Sans"/>
            </a:endParaRPr>
          </a:p>
          <a:p>
            <a:pPr>
              <a:lnSpc>
                <a:spcPts val="3924"/>
              </a:lnSpc>
            </a:pPr>
            <a:endParaRPr lang="fr-FR" dirty="0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028699" y="2596644"/>
            <a:ext cx="8932515" cy="1152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fr-FR" sz="2999" spc="-59" dirty="0">
                <a:solidFill>
                  <a:srgbClr val="8C9D8D"/>
                </a:solidFill>
                <a:latin typeface="Noto Sans Bold"/>
              </a:rPr>
              <a:t>CANON Image Runner Adv C3520i / 3720i</a:t>
            </a:r>
          </a:p>
          <a:p>
            <a:pPr>
              <a:lnSpc>
                <a:spcPts val="2999"/>
              </a:lnSpc>
            </a:pPr>
            <a:endParaRPr lang="fr-FR" sz="2999" spc="-59" dirty="0">
              <a:solidFill>
                <a:srgbClr val="BB0808"/>
              </a:solidFill>
              <a:latin typeface="Noto Sans Bold"/>
            </a:endParaRPr>
          </a:p>
          <a:p>
            <a:pPr>
              <a:lnSpc>
                <a:spcPts val="2999"/>
              </a:lnSpc>
            </a:pPr>
            <a:endParaRPr lang="fr-FR" sz="2999" spc="-59" dirty="0">
              <a:solidFill>
                <a:srgbClr val="BB0808"/>
              </a:solidFill>
              <a:latin typeface="Noto Sans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fr-FR" sz="3200" spc="48" dirty="0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 dirty="0"/>
              </a:p>
            </p:txBody>
          </p:sp>
        </p:grpSp>
        <p:pic>
          <p:nvPicPr>
            <p:cNvPr id="17" name="Picture 17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78E7B9B9-D4A8-0C40-A76C-49D2AFE56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50727" y="9603423"/>
            <a:ext cx="2133600" cy="365125"/>
          </a:xfrm>
        </p:spPr>
        <p:txBody>
          <a:bodyPr/>
          <a:lstStyle/>
          <a:p>
            <a:fld id="{B6F15528-21DE-4FAA-801E-634DDDAF4B2B}" type="slidenum">
              <a:rPr lang="fr-FR" sz="2000" smtClean="0">
                <a:solidFill>
                  <a:schemeClr val="tx1"/>
                </a:solidFill>
              </a:rPr>
              <a:pPr/>
              <a:t>21</a:t>
            </a:fld>
            <a:endParaRPr lang="fr-FR" sz="2000" dirty="0">
              <a:solidFill>
                <a:schemeClr val="tx1"/>
              </a:solidFill>
            </a:endParaRPr>
          </a:p>
        </p:txBody>
      </p:sp>
      <p:sp>
        <p:nvSpPr>
          <p:cNvPr id="20" name="TextBox 10">
            <a:extLst>
              <a:ext uri="{FF2B5EF4-FFF2-40B4-BE49-F238E27FC236}">
                <a16:creationId xmlns:a16="http://schemas.microsoft.com/office/drawing/2014/main" id="{4E1E03A8-FFBE-9143-BBB0-C39C60722536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fr-FR" sz="1899" dirty="0">
                <a:solidFill>
                  <a:srgbClr val="000000"/>
                </a:solidFill>
                <a:latin typeface="Noto Sans Bold"/>
              </a:rPr>
              <a:t>Quantité : 1</a:t>
            </a:r>
          </a:p>
        </p:txBody>
      </p:sp>
      <p:pic>
        <p:nvPicPr>
          <p:cNvPr id="21" name="Picture 12">
            <a:extLst>
              <a:ext uri="{FF2B5EF4-FFF2-40B4-BE49-F238E27FC236}">
                <a16:creationId xmlns:a16="http://schemas.microsoft.com/office/drawing/2014/main" id="{7AB6252F-39A4-124E-AEDE-BA5D906C2E5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6170592" y="7816408"/>
            <a:ext cx="878545" cy="640083"/>
          </a:xfrm>
          <a:prstGeom prst="rect">
            <a:avLst/>
          </a:prstGeom>
        </p:spPr>
      </p:pic>
      <p:pic>
        <p:nvPicPr>
          <p:cNvPr id="11" name="Image 10" descr="Une image contenant Téléphone mobile, Appareil de communication, Appareil de communications portable, Appareil mobile&#10;&#10;Description générée automatiquement">
            <a:extLst>
              <a:ext uri="{FF2B5EF4-FFF2-40B4-BE49-F238E27FC236}">
                <a16:creationId xmlns:a16="http://schemas.microsoft.com/office/drawing/2014/main" id="{EDA4E0AE-DFDA-14FF-480A-85AEB6F69A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1156" y="2547092"/>
            <a:ext cx="6383171" cy="6383171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ACBF4C98-600A-1352-12AD-98A6E917C8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6">
            <a:extLst>
              <a:ext uri="{FF2B5EF4-FFF2-40B4-BE49-F238E27FC236}">
                <a16:creationId xmlns:a16="http://schemas.microsoft.com/office/drawing/2014/main" id="{C600BDA3-8E9E-B946-A44D-B2EAEA38C8C0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 dirty="0"/>
          </a:p>
        </p:txBody>
      </p:sp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 dirty="0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 dirty="0"/>
          </a:p>
        </p:txBody>
      </p:sp>
      <p:sp>
        <p:nvSpPr>
          <p:cNvPr id="8" name="TextBox 8"/>
          <p:cNvSpPr txBox="1"/>
          <p:nvPr/>
        </p:nvSpPr>
        <p:spPr>
          <a:xfrm>
            <a:off x="912036" y="3473287"/>
            <a:ext cx="9715500" cy="69365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Vitesse d'impression : 35 pages par minute en N&amp;B et en Couleur,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Chargeur recto verso 1 passe de document de 200 feuilles,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Alimentation papier : 2 Cassettes A4/A3 de 550 feuilles chacune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Disque Dur de 256 Go et Mémoire Ram de 5Go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Plateau d’alimentation manuel By </a:t>
            </a:r>
            <a:r>
              <a:rPr lang="fr-FR" dirty="0" err="1">
                <a:solidFill>
                  <a:srgbClr val="000000"/>
                </a:solidFill>
                <a:latin typeface="Noto Sans"/>
              </a:rPr>
              <a:t>Pass</a:t>
            </a:r>
            <a:r>
              <a:rPr lang="fr-FR" dirty="0">
                <a:solidFill>
                  <a:srgbClr val="000000"/>
                </a:solidFill>
                <a:latin typeface="Noto Sans"/>
              </a:rPr>
              <a:t> de 100 feuilles,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Module Postscript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Grammage des supports de 52 à 300g/m²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Possibilité de scanner en format Word, PDF, TIFF, JPEG ou Powerpoint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Logiciel PDF Compact, permet la compression de fichiers lourds en Scan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Scanner et Connexion réseau Couleur (scan to file, scan to mail…)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Suppression automatique des pages blanches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Impressions depuis iPhone, Tablette Samsung, iPad, etc…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Matériel Wifi </a:t>
            </a:r>
          </a:p>
          <a:p>
            <a:pPr>
              <a:lnSpc>
                <a:spcPts val="3924"/>
              </a:lnSpc>
            </a:pPr>
            <a:endParaRPr lang="fr-FR" dirty="0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011465" y="2701762"/>
            <a:ext cx="8810049" cy="771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fr-FR" sz="2999" spc="-59" dirty="0">
                <a:solidFill>
                  <a:srgbClr val="8C9D8D"/>
                </a:solidFill>
                <a:latin typeface="Noto Sans Bold"/>
              </a:rPr>
              <a:t>CANON Image Runner Adv C5535i / 5735i</a:t>
            </a:r>
          </a:p>
          <a:p>
            <a:pPr>
              <a:lnSpc>
                <a:spcPts val="2999"/>
              </a:lnSpc>
            </a:pPr>
            <a:endParaRPr lang="fr-FR" sz="2999" spc="-59" dirty="0">
              <a:solidFill>
                <a:srgbClr val="BB0808"/>
              </a:solidFill>
              <a:latin typeface="Noto Sans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fr-FR" sz="3200" spc="48" dirty="0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 dirty="0"/>
              </a:p>
            </p:txBody>
          </p:sp>
        </p:grpSp>
        <p:pic>
          <p:nvPicPr>
            <p:cNvPr id="17" name="Picture 17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0F440D28-F6D0-044B-9F7E-1B82D516E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602450"/>
            <a:ext cx="2133600" cy="365125"/>
          </a:xfrm>
        </p:spPr>
        <p:txBody>
          <a:bodyPr/>
          <a:lstStyle/>
          <a:p>
            <a:fld id="{B6F15528-21DE-4FAA-801E-634DDDAF4B2B}" type="slidenum">
              <a:rPr lang="fr-FR" sz="2000" smtClean="0">
                <a:solidFill>
                  <a:schemeClr val="tx1"/>
                </a:solidFill>
              </a:rPr>
              <a:pPr/>
              <a:t>22</a:t>
            </a:fld>
            <a:endParaRPr lang="fr-FR" sz="2000" dirty="0">
              <a:solidFill>
                <a:schemeClr val="tx1"/>
              </a:solidFill>
            </a:endParaRPr>
          </a:p>
        </p:txBody>
      </p:sp>
      <p:sp>
        <p:nvSpPr>
          <p:cNvPr id="20" name="TextBox 10">
            <a:extLst>
              <a:ext uri="{FF2B5EF4-FFF2-40B4-BE49-F238E27FC236}">
                <a16:creationId xmlns:a16="http://schemas.microsoft.com/office/drawing/2014/main" id="{93CEAE0C-828F-6441-A303-9A7F74573E3D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fr-FR" sz="1899" dirty="0">
                <a:solidFill>
                  <a:srgbClr val="000000"/>
                </a:solidFill>
                <a:latin typeface="Noto Sans Bold"/>
              </a:rPr>
              <a:t>Quantité : 1</a:t>
            </a:r>
          </a:p>
        </p:txBody>
      </p:sp>
      <p:pic>
        <p:nvPicPr>
          <p:cNvPr id="21" name="Picture 12">
            <a:extLst>
              <a:ext uri="{FF2B5EF4-FFF2-40B4-BE49-F238E27FC236}">
                <a16:creationId xmlns:a16="http://schemas.microsoft.com/office/drawing/2014/main" id="{84AB6ECE-2685-8442-972E-5EDCC569DF0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6170592" y="7816408"/>
            <a:ext cx="878545" cy="640083"/>
          </a:xfrm>
          <a:prstGeom prst="rect">
            <a:avLst/>
          </a:prstGeom>
        </p:spPr>
      </p:pic>
      <p:pic>
        <p:nvPicPr>
          <p:cNvPr id="6" name="Image 5" descr="Une image contenant Appareils électroniques, photocopieur&#10;&#10;Description générée automatiquement">
            <a:extLst>
              <a:ext uri="{FF2B5EF4-FFF2-40B4-BE49-F238E27FC236}">
                <a16:creationId xmlns:a16="http://schemas.microsoft.com/office/drawing/2014/main" id="{7C9D6092-A3E2-E29B-CA8D-8E72C4C966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22710" y="3087525"/>
            <a:ext cx="5153825" cy="5153825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BD3F5D0E-005D-8281-474E-2735992E01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6">
            <a:extLst>
              <a:ext uri="{FF2B5EF4-FFF2-40B4-BE49-F238E27FC236}">
                <a16:creationId xmlns:a16="http://schemas.microsoft.com/office/drawing/2014/main" id="{C7824D14-66A9-7648-B00E-E862711856F5}"/>
              </a:ext>
            </a:extLst>
          </p:cNvPr>
          <p:cNvSpPr/>
          <p:nvPr/>
        </p:nvSpPr>
        <p:spPr>
          <a:xfrm>
            <a:off x="11848946" y="2835513"/>
            <a:ext cx="5632604" cy="5657850"/>
          </a:xfrm>
          <a:custGeom>
            <a:avLst/>
            <a:gdLst/>
            <a:ahLst/>
            <a:cxnLst/>
            <a:rect l="l" t="t" r="r" b="b"/>
            <a:pathLst>
              <a:path w="6321665" h="6350000">
                <a:moveTo>
                  <a:pt x="3160833" y="0"/>
                </a:moveTo>
                <a:lnTo>
                  <a:pt x="3160833" y="0"/>
                </a:lnTo>
                <a:cubicBezTo>
                  <a:pt x="4908795" y="7817"/>
                  <a:pt x="6321666" y="1427021"/>
                  <a:pt x="6321666" y="3175000"/>
                </a:cubicBezTo>
                <a:cubicBezTo>
                  <a:pt x="6321666" y="4922979"/>
                  <a:pt x="4908795" y="6342183"/>
                  <a:pt x="3160833" y="6350000"/>
                </a:cubicBezTo>
                <a:cubicBezTo>
                  <a:pt x="1412871" y="6342183"/>
                  <a:pt x="0" y="4922979"/>
                  <a:pt x="0" y="3175000"/>
                </a:cubicBezTo>
                <a:cubicBezTo>
                  <a:pt x="0" y="1427021"/>
                  <a:pt x="1412871" y="7817"/>
                  <a:pt x="3160833" y="0"/>
                </a:cubicBezTo>
                <a:close/>
              </a:path>
            </a:pathLst>
          </a:custGeom>
          <a:solidFill>
            <a:srgbClr val="8C9D8D">
              <a:alpha val="64706"/>
            </a:srgbClr>
          </a:solidFill>
        </p:spPr>
        <p:txBody>
          <a:bodyPr/>
          <a:lstStyle/>
          <a:p>
            <a:endParaRPr lang="fr-FR" dirty="0"/>
          </a:p>
        </p:txBody>
      </p:sp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 dirty="0"/>
          </a:p>
        </p:txBody>
      </p:sp>
      <p:sp>
        <p:nvSpPr>
          <p:cNvPr id="4" name="AutoShape 4"/>
          <p:cNvSpPr/>
          <p:nvPr/>
        </p:nvSpPr>
        <p:spPr>
          <a:xfrm rot="-5400000">
            <a:off x="4965374" y="-680716"/>
            <a:ext cx="9525" cy="7882873"/>
          </a:xfrm>
          <a:prstGeom prst="rect">
            <a:avLst/>
          </a:prstGeom>
          <a:solidFill>
            <a:srgbClr val="8C9D8D"/>
          </a:solidFill>
        </p:spPr>
        <p:txBody>
          <a:bodyPr/>
          <a:lstStyle/>
          <a:p>
            <a:endParaRPr lang="fr-FR" dirty="0"/>
          </a:p>
        </p:txBody>
      </p:sp>
      <p:sp>
        <p:nvSpPr>
          <p:cNvPr id="8" name="TextBox 8"/>
          <p:cNvSpPr txBox="1"/>
          <p:nvPr/>
        </p:nvSpPr>
        <p:spPr>
          <a:xfrm>
            <a:off x="1028700" y="3341084"/>
            <a:ext cx="9406002" cy="64363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Vitesse d'impression : 65 pages par minute en N&amp;B et en Couleur,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Chargeur recto verso automatique 1 passe de document de 300 feuilles, 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Alimentation papier : 2 Cassettes A4 de 1100 feuilles et 2 cassettes A4/A3 de 550 feuilles chacune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Plateau d’alimentation manuel By </a:t>
            </a:r>
            <a:r>
              <a:rPr lang="fr-FR" dirty="0" err="1">
                <a:solidFill>
                  <a:srgbClr val="000000"/>
                </a:solidFill>
                <a:latin typeface="Noto Sans"/>
              </a:rPr>
              <a:t>Pass</a:t>
            </a:r>
            <a:r>
              <a:rPr lang="fr-FR" dirty="0">
                <a:solidFill>
                  <a:srgbClr val="000000"/>
                </a:solidFill>
                <a:latin typeface="Noto Sans"/>
              </a:rPr>
              <a:t> de 250 feuilles,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Module Postscript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Grammage des supports de 52 à 300g/m²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Possibilité de scanner en format Word, PDF, TIFF, JPEG ou Powerpoint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Logiciel PDF Compact, permet la compression de fichiers lourds en Scan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Scanner et Connexion réseau Couleur (scan to file, scan to mail…)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Suppression automatique des pages blanches</a:t>
            </a:r>
          </a:p>
          <a:p>
            <a:pPr marL="388620" lvl="1" indent="-194310">
              <a:lnSpc>
                <a:spcPts val="3924"/>
              </a:lnSpc>
              <a:buFont typeface="Arial"/>
              <a:buChar char="•"/>
            </a:pPr>
            <a:r>
              <a:rPr lang="fr-FR" dirty="0">
                <a:solidFill>
                  <a:srgbClr val="000000"/>
                </a:solidFill>
                <a:latin typeface="Noto Sans"/>
              </a:rPr>
              <a:t>Impressions depuis iPhone, Tablette Samsung, iPad, etc…</a:t>
            </a:r>
          </a:p>
          <a:p>
            <a:pPr>
              <a:lnSpc>
                <a:spcPts val="3924"/>
              </a:lnSpc>
            </a:pPr>
            <a:endParaRPr lang="fr-FR" dirty="0">
              <a:solidFill>
                <a:srgbClr val="000000"/>
              </a:solidFill>
              <a:latin typeface="Noto Sans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028700" y="2513573"/>
            <a:ext cx="8810049" cy="771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99"/>
              </a:lnSpc>
            </a:pPr>
            <a:r>
              <a:rPr lang="fr-FR" sz="2999" spc="-59" dirty="0">
                <a:solidFill>
                  <a:srgbClr val="8C9D8D"/>
                </a:solidFill>
                <a:latin typeface="Noto Sans Bold"/>
              </a:rPr>
              <a:t>CANON Image Runner Adv C7565i</a:t>
            </a:r>
          </a:p>
          <a:p>
            <a:pPr>
              <a:lnSpc>
                <a:spcPts val="2999"/>
              </a:lnSpc>
            </a:pPr>
            <a:endParaRPr lang="fr-FR" sz="2999" spc="-59" dirty="0">
              <a:solidFill>
                <a:srgbClr val="BB0808"/>
              </a:solidFill>
              <a:latin typeface="Noto Sans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fr-FR" sz="3200" spc="48" dirty="0">
                <a:solidFill>
                  <a:srgbClr val="252629"/>
                </a:solidFill>
                <a:latin typeface="Noto Sans Bold"/>
              </a:rPr>
              <a:t>NOTRE SOLUTION TECHNIQUE</a:t>
            </a: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1282001" y="3332050"/>
            <a:ext cx="7046848" cy="4484358"/>
          </a:xfrm>
          <a:prstGeom prst="rect">
            <a:avLst/>
          </a:prstGeom>
        </p:spPr>
      </p:pic>
      <p:grpSp>
        <p:nvGrpSpPr>
          <p:cNvPr id="14" name="Group 14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 dirty="0"/>
              </a:p>
            </p:txBody>
          </p:sp>
        </p:grpSp>
        <p:pic>
          <p:nvPicPr>
            <p:cNvPr id="17" name="Picture 17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0BCEB8EC-A47B-124F-A084-18FD48C8A4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685108"/>
            <a:ext cx="2133600" cy="365125"/>
          </a:xfrm>
        </p:spPr>
        <p:txBody>
          <a:bodyPr/>
          <a:lstStyle/>
          <a:p>
            <a:fld id="{B6F15528-21DE-4FAA-801E-634DDDAF4B2B}" type="slidenum">
              <a:rPr lang="fr-FR" sz="2000" smtClean="0">
                <a:solidFill>
                  <a:schemeClr val="tx1"/>
                </a:solidFill>
              </a:rPr>
              <a:pPr/>
              <a:t>23</a:t>
            </a:fld>
            <a:endParaRPr lang="fr-FR" sz="2000" dirty="0">
              <a:solidFill>
                <a:schemeClr val="tx1"/>
              </a:solidFill>
            </a:endParaRPr>
          </a:p>
        </p:txBody>
      </p:sp>
      <p:sp>
        <p:nvSpPr>
          <p:cNvPr id="20" name="TextBox 10">
            <a:extLst>
              <a:ext uri="{FF2B5EF4-FFF2-40B4-BE49-F238E27FC236}">
                <a16:creationId xmlns:a16="http://schemas.microsoft.com/office/drawing/2014/main" id="{2A569834-A8BE-CA49-8DDE-FA4906D6058A}"/>
              </a:ext>
            </a:extLst>
          </p:cNvPr>
          <p:cNvSpPr txBox="1"/>
          <p:nvPr/>
        </p:nvSpPr>
        <p:spPr>
          <a:xfrm>
            <a:off x="13958910" y="8601007"/>
            <a:ext cx="1412677" cy="3275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</a:pPr>
            <a:r>
              <a:rPr lang="fr-FR" sz="1899" dirty="0">
                <a:solidFill>
                  <a:srgbClr val="000000"/>
                </a:solidFill>
                <a:latin typeface="Noto Sans Bold"/>
              </a:rPr>
              <a:t>Quantité : 1</a:t>
            </a:r>
          </a:p>
        </p:txBody>
      </p:sp>
      <p:pic>
        <p:nvPicPr>
          <p:cNvPr id="21" name="Picture 12">
            <a:extLst>
              <a:ext uri="{FF2B5EF4-FFF2-40B4-BE49-F238E27FC236}">
                <a16:creationId xmlns:a16="http://schemas.microsoft.com/office/drawing/2014/main" id="{860FC23E-85DC-A34A-81D1-980AC8BF7F2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16170592" y="7816408"/>
            <a:ext cx="878545" cy="640083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F283D67B-E09B-335C-D507-C845C4BCA1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utoShape 2">
            <a:extLst>
              <a:ext uri="{FF2B5EF4-FFF2-40B4-BE49-F238E27FC236}">
                <a16:creationId xmlns:a16="http://schemas.microsoft.com/office/drawing/2014/main" id="{40E80DC4-7583-C088-799C-76B47E6CEF95}"/>
              </a:ext>
            </a:extLst>
          </p:cNvPr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 dirty="0"/>
          </a:p>
        </p:txBody>
      </p:sp>
      <p:sp>
        <p:nvSpPr>
          <p:cNvPr id="4" name="TextBox 7">
            <a:extLst>
              <a:ext uri="{FF2B5EF4-FFF2-40B4-BE49-F238E27FC236}">
                <a16:creationId xmlns:a16="http://schemas.microsoft.com/office/drawing/2014/main" id="{B2FE370E-D02C-FC76-481F-BAC0FAA0BE18}"/>
              </a:ext>
            </a:extLst>
          </p:cNvPr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fr-FR" sz="3200" spc="48" dirty="0">
                <a:solidFill>
                  <a:srgbClr val="252629"/>
                </a:solidFill>
                <a:latin typeface="Noto Sans Bold"/>
              </a:rPr>
              <a:t>NOS CONDITIONS FINANCIÈRES</a:t>
            </a:r>
          </a:p>
        </p:txBody>
      </p:sp>
      <p:sp>
        <p:nvSpPr>
          <p:cNvPr id="5" name="TextBox 8">
            <a:extLst>
              <a:ext uri="{FF2B5EF4-FFF2-40B4-BE49-F238E27FC236}">
                <a16:creationId xmlns:a16="http://schemas.microsoft.com/office/drawing/2014/main" id="{FFE9EDE5-B00F-B857-F256-EC059D11268C}"/>
              </a:ext>
            </a:extLst>
          </p:cNvPr>
          <p:cNvSpPr txBox="1"/>
          <p:nvPr/>
        </p:nvSpPr>
        <p:spPr>
          <a:xfrm>
            <a:off x="910692" y="2087854"/>
            <a:ext cx="6328307" cy="10305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>
              <a:lnSpc>
                <a:spcPts val="2652"/>
              </a:lnSpc>
              <a:spcBef>
                <a:spcPct val="0"/>
              </a:spcBef>
              <a:buFont typeface="Wingdings" panose="05000000000000000000" pitchFamily="2" charset="2"/>
              <a:buChar char="v"/>
            </a:pPr>
            <a:r>
              <a:rPr lang="fr-FR" sz="2200" spc="-53" dirty="0">
                <a:solidFill>
                  <a:srgbClr val="000000"/>
                </a:solidFill>
                <a:latin typeface="Noto Sans"/>
              </a:rPr>
              <a:t>Location financière évolutive</a:t>
            </a:r>
          </a:p>
          <a:p>
            <a:pPr marL="342900" indent="-342900">
              <a:lnSpc>
                <a:spcPts val="2652"/>
              </a:lnSpc>
              <a:spcBef>
                <a:spcPct val="0"/>
              </a:spcBef>
              <a:buFont typeface="Wingdings" panose="05000000000000000000" pitchFamily="2" charset="2"/>
              <a:buChar char="v"/>
            </a:pPr>
            <a:r>
              <a:rPr lang="fr-FR" sz="2200" spc="-53" dirty="0">
                <a:solidFill>
                  <a:srgbClr val="000000"/>
                </a:solidFill>
                <a:latin typeface="Noto Sans"/>
              </a:rPr>
              <a:t> Durée : {{DUR_TRIM}} trimestres</a:t>
            </a:r>
          </a:p>
          <a:p>
            <a:pPr marL="342900" indent="-342900">
              <a:lnSpc>
                <a:spcPts val="2652"/>
              </a:lnSpc>
              <a:spcBef>
                <a:spcPct val="0"/>
              </a:spcBef>
              <a:buFont typeface="Wingdings" panose="05000000000000000000" pitchFamily="2" charset="2"/>
              <a:buChar char="v"/>
            </a:pPr>
            <a:r>
              <a:rPr lang="fr-FR" sz="2200" spc="-53" dirty="0">
                <a:solidFill>
                  <a:srgbClr val="000000"/>
                </a:solidFill>
                <a:latin typeface="Noto Sans"/>
              </a:rPr>
              <a:t> Périodicité {{PER_ADJ}}, terme à échoir</a:t>
            </a:r>
          </a:p>
        </p:txBody>
      </p:sp>
      <p:grpSp>
        <p:nvGrpSpPr>
          <p:cNvPr id="6" name="Group 20">
            <a:extLst>
              <a:ext uri="{FF2B5EF4-FFF2-40B4-BE49-F238E27FC236}">
                <a16:creationId xmlns:a16="http://schemas.microsoft.com/office/drawing/2014/main" id="{490A895B-7985-3CBE-9B92-6E8D14648EF0}"/>
              </a:ext>
            </a:extLst>
          </p:cNvPr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7" name="Group 21">
              <a:extLst>
                <a:ext uri="{FF2B5EF4-FFF2-40B4-BE49-F238E27FC236}">
                  <a16:creationId xmlns:a16="http://schemas.microsoft.com/office/drawing/2014/main" id="{3E28CC3C-B818-D1AB-FC53-D720B964EF80}"/>
                </a:ext>
              </a:extLst>
            </p:cNvPr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9" name="Freeform 22">
                <a:extLst>
                  <a:ext uri="{FF2B5EF4-FFF2-40B4-BE49-F238E27FC236}">
                    <a16:creationId xmlns:a16="http://schemas.microsoft.com/office/drawing/2014/main" id="{F1D9EC08-34A8-AACB-0CD8-B25B0FDBEDB7}"/>
                  </a:ext>
                </a:extLst>
              </p:cNvPr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 dirty="0"/>
              </a:p>
            </p:txBody>
          </p:sp>
        </p:grpSp>
        <p:pic>
          <p:nvPicPr>
            <p:cNvPr id="8" name="Picture 23">
              <a:extLst>
                <a:ext uri="{FF2B5EF4-FFF2-40B4-BE49-F238E27FC236}">
                  <a16:creationId xmlns:a16="http://schemas.microsoft.com/office/drawing/2014/main" id="{96467D57-C18A-001C-ECEC-8CB01B3C573C}"/>
                </a:ext>
              </a:extLst>
            </p:cNvPr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10" name="TextBox 8">
            <a:extLst>
              <a:ext uri="{FF2B5EF4-FFF2-40B4-BE49-F238E27FC236}">
                <a16:creationId xmlns:a16="http://schemas.microsoft.com/office/drawing/2014/main" id="{717807D9-9BEC-12EC-FC5F-F8A7B2458C75}"/>
              </a:ext>
            </a:extLst>
          </p:cNvPr>
          <p:cNvSpPr txBox="1"/>
          <p:nvPr/>
        </p:nvSpPr>
        <p:spPr>
          <a:xfrm>
            <a:off x="527545" y="7168555"/>
            <a:ext cx="17232909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400"/>
              </a:lnSpc>
              <a:spcBef>
                <a:spcPct val="0"/>
              </a:spcBef>
            </a:pPr>
            <a:r>
              <a:rPr lang="fr-FR" sz="2200" b="1" spc="-48" dirty="0">
                <a:solidFill>
                  <a:srgbClr val="8C9D8D"/>
                </a:solidFill>
                <a:latin typeface="Noto Sans"/>
              </a:rPr>
              <a:t>Dans le cadre de cette proposition, ce nouveau contrat annule et remplace le précédent sans aucune pénalité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26256895-C3E1-A8DA-3F74-1CCD7C4351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  <p:graphicFrame>
        <p:nvGraphicFramePr>
          <p:cNvPr id="12" name="Tableau 11">
            <a:extLst>
              <a:ext uri="{FF2B5EF4-FFF2-40B4-BE49-F238E27FC236}">
                <a16:creationId xmlns:a16="http://schemas.microsoft.com/office/drawing/2014/main" id="{AED35A68-540A-63C0-607A-233207AC2E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8077216"/>
              </p:ext>
            </p:extLst>
          </p:nvPr>
        </p:nvGraphicFramePr>
        <p:xfrm>
          <a:off x="3800475" y="3757645"/>
          <a:ext cx="10687050" cy="2602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43525">
                  <a:extLst>
                    <a:ext uri="{9D8B030D-6E8A-4147-A177-3AD203B41FA5}">
                      <a16:colId xmlns:a16="http://schemas.microsoft.com/office/drawing/2014/main" val="1755289887"/>
                    </a:ext>
                  </a:extLst>
                </a:gridCol>
                <a:gridCol w="5343525">
                  <a:extLst>
                    <a:ext uri="{9D8B030D-6E8A-4147-A177-3AD203B41FA5}">
                      <a16:colId xmlns:a16="http://schemas.microsoft.com/office/drawing/2014/main" val="342274598"/>
                    </a:ext>
                  </a:extLst>
                </a:gridCol>
              </a:tblGrid>
              <a:tr h="1301168">
                <a:tc>
                  <a:txBody>
                    <a:bodyPr/>
                    <a:lstStyle/>
                    <a:p>
                      <a:pPr algn="ctr"/>
                      <a:r>
                        <a:rPr lang="fr-FR" sz="2800" b="1" dirty="0">
                          <a:solidFill>
                            <a:schemeClr val="tx1"/>
                          </a:solidFill>
                        </a:rPr>
                        <a:t>Modèle machine</a:t>
                      </a:r>
                    </a:p>
                  </a:txBody>
                  <a:tcPr anchor="ctr" anchorCtr="1"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C9D8D"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800" b="1" dirty="0">
                          <a:solidFill>
                            <a:schemeClr val="tx1"/>
                          </a:solidFill>
                        </a:rPr>
                        <a:t>Loyer trimestriel</a:t>
                      </a:r>
                    </a:p>
                  </a:txBody>
                  <a:tcPr anchor="ctr" anchorCtr="1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C9D8D"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1993013"/>
                  </a:ext>
                </a:extLst>
              </a:tr>
              <a:tr h="1301168">
                <a:tc>
                  <a:txBody>
                    <a:bodyPr/>
                    <a:lstStyle/>
                    <a:p>
                      <a:pPr algn="ctr"/>
                      <a:r>
                        <a:rPr lang="fr-FR" sz="2800" b="1" dirty="0" err="1">
                          <a:solidFill>
                            <a:schemeClr val="tx1"/>
                          </a:solidFill>
                        </a:rPr>
                        <a:t>{{PROP_MACHINE_1}}</a:t>
                      </a:r>
                    </a:p>
                  </a:txBody>
                  <a:tcPr anchor="ctr" anchorCtr="1"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8C9D8D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800" b="1" dirty="0">
                          <a:solidFill>
                            <a:schemeClr val="tx1"/>
                          </a:solidFill>
                        </a:rPr>
                        <a:t>{{PROP_LOYER_1}} € HT</a:t>
                      </a:r>
                    </a:p>
                  </a:txBody>
                  <a:tcPr anchor="ctr" anchorCtr="1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8C9D8D">
                        <a:alpha val="3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0535712"/>
                  </a:ext>
                </a:extLst>
              </a:tr>
            </a:tbl>
          </a:graphicData>
        </a:graphic>
      </p:graphicFrame>
      <p:sp>
        <p:nvSpPr>
          <p:cNvPr id="15" name="ZoneTexte 14">
            <a:extLst>
              <a:ext uri="{FF2B5EF4-FFF2-40B4-BE49-F238E27FC236}">
                <a16:creationId xmlns:a16="http://schemas.microsoft.com/office/drawing/2014/main" id="{5FC860F6-A651-04BA-96CC-0894DAB27996}"/>
              </a:ext>
            </a:extLst>
          </p:cNvPr>
          <p:cNvSpPr txBox="1"/>
          <p:nvPr/>
        </p:nvSpPr>
        <p:spPr>
          <a:xfrm>
            <a:off x="5500687" y="8062288"/>
            <a:ext cx="7286624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2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Livraison et installation</a:t>
            </a:r>
          </a:p>
          <a:p>
            <a:pPr algn="ctr"/>
            <a:r>
              <a:rPr lang="fr-FR" sz="22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Mise en configuration sur réseaux pour tous les postes</a:t>
            </a:r>
          </a:p>
          <a:p>
            <a:pPr algn="ctr"/>
            <a:r>
              <a:rPr lang="fr-FR" sz="22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Formation aux utilisateurs</a:t>
            </a:r>
            <a:br>
              <a:rPr lang="fr-FR" sz="22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</a:br>
            <a:r>
              <a:rPr lang="fr-FR" sz="22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Prix de la prestation </a:t>
            </a:r>
            <a:r>
              <a:rPr lang="fr-FR" sz="2200" b="1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: {{LIVRAISON_PRIX}}</a:t>
            </a:r>
            <a:endParaRPr lang="fr-FR" sz="2200" b="1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52837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 dirty="0"/>
          </a:p>
        </p:txBody>
      </p:sp>
      <p:sp>
        <p:nvSpPr>
          <p:cNvPr id="5" name="TextBox 5"/>
          <p:cNvSpPr txBox="1"/>
          <p:nvPr/>
        </p:nvSpPr>
        <p:spPr>
          <a:xfrm>
            <a:off x="5551438" y="2009694"/>
            <a:ext cx="7185124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  <a:spcBef>
                <a:spcPct val="0"/>
              </a:spcBef>
            </a:pPr>
            <a:r>
              <a:rPr lang="fr-FR" sz="2999" spc="-59" dirty="0">
                <a:solidFill>
                  <a:srgbClr val="8C9D8D"/>
                </a:solidFill>
                <a:latin typeface="Noto Sans Bold"/>
              </a:rPr>
              <a:t>SITUATION ACTUELLE € HT / TRIMESTRE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477619" y="6167707"/>
            <a:ext cx="7181106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  <a:spcBef>
                <a:spcPct val="0"/>
              </a:spcBef>
            </a:pPr>
            <a:r>
              <a:rPr lang="fr-FR" sz="2999" spc="-59" dirty="0">
                <a:solidFill>
                  <a:srgbClr val="8C9D8D"/>
                </a:solidFill>
                <a:latin typeface="Noto Sans Bold"/>
              </a:rPr>
              <a:t>SOLUTION PROPOSEE € HT / TRIMESTRE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513386" y="1095375"/>
            <a:ext cx="952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  <a:spcBef>
                <a:spcPct val="0"/>
              </a:spcBef>
            </a:pPr>
            <a:endParaRPr lang="fr-FR" dirty="0"/>
          </a:p>
        </p:txBody>
      </p:sp>
      <p:sp>
        <p:nvSpPr>
          <p:cNvPr id="8" name="TextBox 8"/>
          <p:cNvSpPr txBox="1"/>
          <p:nvPr/>
        </p:nvSpPr>
        <p:spPr>
          <a:xfrm>
            <a:off x="3513386" y="1095375"/>
            <a:ext cx="952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  <a:spcBef>
                <a:spcPct val="0"/>
              </a:spcBef>
            </a:pPr>
            <a:endParaRPr lang="fr-FR" dirty="0"/>
          </a:p>
        </p:txBody>
      </p:sp>
      <p:sp>
        <p:nvSpPr>
          <p:cNvPr id="9" name="TextBox 9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fr-FR" sz="3200" spc="48" dirty="0">
                <a:solidFill>
                  <a:srgbClr val="252629"/>
                </a:solidFill>
                <a:latin typeface="Noto Sans Bold"/>
              </a:rPr>
              <a:t>NOS CONDITIONS FINANCIÈRES</a:t>
            </a:r>
          </a:p>
        </p:txBody>
      </p:sp>
      <p:grpSp>
        <p:nvGrpSpPr>
          <p:cNvPr id="109" name="Group 109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10" name="Group 110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11" name="Freeform 111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 dirty="0"/>
              </a:p>
            </p:txBody>
          </p:sp>
        </p:grpSp>
        <p:pic>
          <p:nvPicPr>
            <p:cNvPr id="112" name="Picture 112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B7104FC7-7394-3C4B-942F-08903C419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797407" y="9646746"/>
            <a:ext cx="2133600" cy="365125"/>
          </a:xfrm>
        </p:spPr>
        <p:txBody>
          <a:bodyPr/>
          <a:lstStyle/>
          <a:p>
            <a:fld id="{B6F15528-21DE-4FAA-801E-634DDDAF4B2B}" type="slidenum">
              <a:rPr lang="fr-FR" sz="2000" smtClean="0">
                <a:solidFill>
                  <a:schemeClr val="tx1"/>
                </a:solidFill>
              </a:rPr>
              <a:pPr/>
              <a:t>25</a:t>
            </a:fld>
            <a:endParaRPr lang="fr-FR" dirty="0">
              <a:solidFill>
                <a:schemeClr val="tx1"/>
              </a:solidFill>
            </a:endParaRPr>
          </a:p>
        </p:txBody>
      </p:sp>
      <p:graphicFrame>
        <p:nvGraphicFramePr>
          <p:cNvPr id="213" name="Tableau 26">
            <a:extLst>
              <a:ext uri="{FF2B5EF4-FFF2-40B4-BE49-F238E27FC236}">
                <a16:creationId xmlns:a16="http://schemas.microsoft.com/office/drawing/2014/main" id="{23D1523C-3632-499B-9DE6-233C6AF525B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85819716"/>
              </p:ext>
            </p:extLst>
          </p:nvPr>
        </p:nvGraphicFramePr>
        <p:xfrm>
          <a:off x="594200" y="2647415"/>
          <a:ext cx="17436240" cy="2589373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510950">
                  <a:extLst>
                    <a:ext uri="{9D8B030D-6E8A-4147-A177-3AD203B41FA5}">
                      <a16:colId xmlns:a16="http://schemas.microsoft.com/office/drawing/2014/main" val="549118772"/>
                    </a:ext>
                  </a:extLst>
                </a:gridCol>
                <a:gridCol w="1657350">
                  <a:extLst>
                    <a:ext uri="{9D8B030D-6E8A-4147-A177-3AD203B41FA5}">
                      <a16:colId xmlns:a16="http://schemas.microsoft.com/office/drawing/2014/main" val="1251446253"/>
                    </a:ext>
                  </a:extLst>
                </a:gridCol>
                <a:gridCol w="1886307">
                  <a:extLst>
                    <a:ext uri="{9D8B030D-6E8A-4147-A177-3AD203B41FA5}">
                      <a16:colId xmlns:a16="http://schemas.microsoft.com/office/drawing/2014/main" val="465068022"/>
                    </a:ext>
                  </a:extLst>
                </a:gridCol>
                <a:gridCol w="1681935">
                  <a:extLst>
                    <a:ext uri="{9D8B030D-6E8A-4147-A177-3AD203B41FA5}">
                      <a16:colId xmlns:a16="http://schemas.microsoft.com/office/drawing/2014/main" val="561660978"/>
                    </a:ext>
                  </a:extLst>
                </a:gridCol>
                <a:gridCol w="1681935">
                  <a:extLst>
                    <a:ext uri="{9D8B030D-6E8A-4147-A177-3AD203B41FA5}">
                      <a16:colId xmlns:a16="http://schemas.microsoft.com/office/drawing/2014/main" val="3011595207"/>
                    </a:ext>
                  </a:extLst>
                </a:gridCol>
                <a:gridCol w="1785493">
                  <a:extLst>
                    <a:ext uri="{9D8B030D-6E8A-4147-A177-3AD203B41FA5}">
                      <a16:colId xmlns:a16="http://schemas.microsoft.com/office/drawing/2014/main" val="1273604443"/>
                    </a:ext>
                  </a:extLst>
                </a:gridCol>
                <a:gridCol w="1480001">
                  <a:extLst>
                    <a:ext uri="{9D8B030D-6E8A-4147-A177-3AD203B41FA5}">
                      <a16:colId xmlns:a16="http://schemas.microsoft.com/office/drawing/2014/main" val="1031765818"/>
                    </a:ext>
                  </a:extLst>
                </a:gridCol>
                <a:gridCol w="1450713">
                  <a:extLst>
                    <a:ext uri="{9D8B030D-6E8A-4147-A177-3AD203B41FA5}">
                      <a16:colId xmlns:a16="http://schemas.microsoft.com/office/drawing/2014/main" val="2478536853"/>
                    </a:ext>
                  </a:extLst>
                </a:gridCol>
                <a:gridCol w="1691167">
                  <a:extLst>
                    <a:ext uri="{9D8B030D-6E8A-4147-A177-3AD203B41FA5}">
                      <a16:colId xmlns:a16="http://schemas.microsoft.com/office/drawing/2014/main" val="2630415731"/>
                    </a:ext>
                  </a:extLst>
                </a:gridCol>
                <a:gridCol w="1610389">
                  <a:extLst>
                    <a:ext uri="{9D8B030D-6E8A-4147-A177-3AD203B41FA5}">
                      <a16:colId xmlns:a16="http://schemas.microsoft.com/office/drawing/2014/main" val="3555321625"/>
                    </a:ext>
                  </a:extLst>
                </a:gridCol>
              </a:tblGrid>
              <a:tr h="1672582">
                <a:tc>
                  <a:txBody>
                    <a:bodyPr/>
                    <a:lstStyle/>
                    <a:p>
                      <a:pPr algn="ctr"/>
                      <a:r>
                        <a:rPr lang="fr-FR" b="0" dirty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Type Machine</a:t>
                      </a:r>
                    </a:p>
                  </a:txBody>
                  <a:tcPr anchor="ctr" anchorCtr="1">
                    <a:solidFill>
                      <a:srgbClr val="8C9D8D"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 dirty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Type Financement </a:t>
                      </a:r>
                    </a:p>
                  </a:txBody>
                  <a:tcPr anchor="ctr" anchorCtr="1">
                    <a:solidFill>
                      <a:srgbClr val="8C9D8D"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 dirty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Loyer</a:t>
                      </a:r>
                    </a:p>
                    <a:p>
                      <a:pPr algn="ctr"/>
                      <a:r>
                        <a:rPr lang="fr-FR" b="0" dirty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Trimestriel</a:t>
                      </a:r>
                    </a:p>
                  </a:txBody>
                  <a:tcPr anchor="ctr" anchorCtr="1">
                    <a:solidFill>
                      <a:srgbClr val="8C9D8D"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 dirty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Volume Pages</a:t>
                      </a:r>
                    </a:p>
                    <a:p>
                      <a:pPr algn="ctr"/>
                      <a:r>
                        <a:rPr lang="fr-FR" b="0" dirty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Noir et Blanc</a:t>
                      </a:r>
                    </a:p>
                  </a:txBody>
                  <a:tcPr anchor="ctr" anchorCtr="1">
                    <a:solidFill>
                      <a:srgbClr val="8C9D8D"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 dirty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Volume Pages Couleurs</a:t>
                      </a:r>
                      <a:endParaRPr lang="fr-FR" dirty="0"/>
                    </a:p>
                  </a:txBody>
                  <a:tcPr anchor="ctr" anchorCtr="1">
                    <a:solidFill>
                      <a:srgbClr val="8C9D8D"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 dirty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Abonnements et services</a:t>
                      </a:r>
                    </a:p>
                  </a:txBody>
                  <a:tcPr anchor="ctr" anchorCtr="1">
                    <a:solidFill>
                      <a:srgbClr val="8C9D8D"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 dirty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Coût copies</a:t>
                      </a:r>
                    </a:p>
                    <a:p>
                      <a:pPr algn="ctr"/>
                      <a:r>
                        <a:rPr lang="fr-FR" b="0" dirty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N&amp;B</a:t>
                      </a:r>
                    </a:p>
                  </a:txBody>
                  <a:tcPr anchor="ctr" anchorCtr="1">
                    <a:solidFill>
                      <a:srgbClr val="8C9D8D"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 dirty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Coût copies Couleurs</a:t>
                      </a:r>
                    </a:p>
                  </a:txBody>
                  <a:tcPr anchor="ctr" anchorCtr="1">
                    <a:solidFill>
                      <a:srgbClr val="8C9D8D"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 dirty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Total maintenance</a:t>
                      </a:r>
                    </a:p>
                  </a:txBody>
                  <a:tcPr anchor="ctr" anchorCtr="1">
                    <a:solidFill>
                      <a:srgbClr val="8C9D8D"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 dirty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TOTAL</a:t>
                      </a:r>
                    </a:p>
                    <a:p>
                      <a:pPr algn="ctr"/>
                      <a:r>
                        <a:rPr lang="fr-FR" b="0" dirty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Trimestriel</a:t>
                      </a:r>
                    </a:p>
                  </a:txBody>
                  <a:tcPr anchor="ctr" anchorCtr="1">
                    <a:solidFill>
                      <a:srgbClr val="8C9D8D"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5148770"/>
                  </a:ext>
                </a:extLst>
              </a:tr>
              <a:tr h="916791">
                <a:tc>
                  <a:txBody>
                    <a:bodyPr/>
                    <a:lstStyle/>
                    <a:p>
                      <a:pPr algn="ctr"/>
                      <a:r>
                        <a:rPr lang="fr-FR" b="1" dirty="0" err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{{SA_TYPE}}</a:t>
                      </a:r>
                    </a:p>
                  </a:txBody>
                  <a:tcPr anchor="ctr" anchorCtr="1">
                    <a:solidFill>
                      <a:srgbClr val="8C9D8D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 dirty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{{SA_FIN}}</a:t>
                      </a:r>
                    </a:p>
                  </a:txBody>
                  <a:tcPr anchor="ctr" anchorCtr="1">
                    <a:solidFill>
                      <a:srgbClr val="8C9D8D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 dirty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{{SA_LOYER}}</a:t>
                      </a:r>
                    </a:p>
                  </a:txBody>
                  <a:tcPr anchor="ctr" anchorCtr="1">
                    <a:solidFill>
                      <a:srgbClr val="8C9D8D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 dirty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{{SA_VNB}}</a:t>
                      </a:r>
                    </a:p>
                  </a:txBody>
                  <a:tcPr anchor="ctr" anchorCtr="1">
                    <a:solidFill>
                      <a:srgbClr val="8C9D8D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{{SA_VCOUL}}</a:t>
                      </a:r>
                      <a:endParaRPr lang="fr-FR" dirty="0"/>
                    </a:p>
                  </a:txBody>
                  <a:tcPr anchor="ctr" anchorCtr="1">
                    <a:solidFill>
                      <a:srgbClr val="8C9D8D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 dirty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{{SA_PASS}}</a:t>
                      </a:r>
                    </a:p>
                  </a:txBody>
                  <a:tcPr anchor="ctr" anchorCtr="1">
                    <a:solidFill>
                      <a:srgbClr val="8C9D8D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 dirty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{{SA_CCNB}}</a:t>
                      </a:r>
                    </a:p>
                  </a:txBody>
                  <a:tcPr anchor="ctr" anchorCtr="1">
                    <a:solidFill>
                      <a:srgbClr val="8C9D8D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 dirty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{{SA_CCCOUL}}</a:t>
                      </a:r>
                    </a:p>
                  </a:txBody>
                  <a:tcPr anchor="ctr" anchorCtr="1">
                    <a:solidFill>
                      <a:srgbClr val="8C9D8D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 dirty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{{SA_MAINT}}</a:t>
                      </a:r>
                    </a:p>
                  </a:txBody>
                  <a:tcPr anchor="ctr" anchorCtr="1">
                    <a:solidFill>
                      <a:srgbClr val="8C9D8D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fr-FR" b="1" dirty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{{SA_TOTAL}}</a:t>
                      </a:r>
                    </a:p>
                  </a:txBody>
                  <a:tcPr anchor="ctr" anchorCtr="1">
                    <a:solidFill>
                      <a:srgbClr val="8C9D8D">
                        <a:alpha val="1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7093460"/>
                  </a:ext>
                </a:extLst>
              </a:tr>
            </a:tbl>
          </a:graphicData>
        </a:graphic>
      </p:graphicFrame>
      <p:pic>
        <p:nvPicPr>
          <p:cNvPr id="10" name="Image 9">
            <a:extLst>
              <a:ext uri="{FF2B5EF4-FFF2-40B4-BE49-F238E27FC236}">
                <a16:creationId xmlns:a16="http://schemas.microsoft.com/office/drawing/2014/main" id="{F5F8D836-18B7-DB03-EF50-28381E9948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  <p:graphicFrame>
        <p:nvGraphicFramePr>
          <p:cNvPr id="4" name="Tableau 26">
            <a:extLst>
              <a:ext uri="{FF2B5EF4-FFF2-40B4-BE49-F238E27FC236}">
                <a16:creationId xmlns:a16="http://schemas.microsoft.com/office/drawing/2014/main" id="{FB7596B3-6825-C09F-7DC8-28D768A1606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34858366"/>
              </p:ext>
            </p:extLst>
          </p:nvPr>
        </p:nvGraphicFramePr>
        <p:xfrm>
          <a:off x="594200" y="6671125"/>
          <a:ext cx="17436240" cy="2589373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510950">
                  <a:extLst>
                    <a:ext uri="{9D8B030D-6E8A-4147-A177-3AD203B41FA5}">
                      <a16:colId xmlns:a16="http://schemas.microsoft.com/office/drawing/2014/main" val="549118772"/>
                    </a:ext>
                  </a:extLst>
                </a:gridCol>
                <a:gridCol w="1657350">
                  <a:extLst>
                    <a:ext uri="{9D8B030D-6E8A-4147-A177-3AD203B41FA5}">
                      <a16:colId xmlns:a16="http://schemas.microsoft.com/office/drawing/2014/main" val="1251446253"/>
                    </a:ext>
                  </a:extLst>
                </a:gridCol>
                <a:gridCol w="1886307">
                  <a:extLst>
                    <a:ext uri="{9D8B030D-6E8A-4147-A177-3AD203B41FA5}">
                      <a16:colId xmlns:a16="http://schemas.microsoft.com/office/drawing/2014/main" val="465068022"/>
                    </a:ext>
                  </a:extLst>
                </a:gridCol>
                <a:gridCol w="1681935">
                  <a:extLst>
                    <a:ext uri="{9D8B030D-6E8A-4147-A177-3AD203B41FA5}">
                      <a16:colId xmlns:a16="http://schemas.microsoft.com/office/drawing/2014/main" val="561660978"/>
                    </a:ext>
                  </a:extLst>
                </a:gridCol>
                <a:gridCol w="1681935">
                  <a:extLst>
                    <a:ext uri="{9D8B030D-6E8A-4147-A177-3AD203B41FA5}">
                      <a16:colId xmlns:a16="http://schemas.microsoft.com/office/drawing/2014/main" val="3011595207"/>
                    </a:ext>
                  </a:extLst>
                </a:gridCol>
                <a:gridCol w="1785493">
                  <a:extLst>
                    <a:ext uri="{9D8B030D-6E8A-4147-A177-3AD203B41FA5}">
                      <a16:colId xmlns:a16="http://schemas.microsoft.com/office/drawing/2014/main" val="1273604443"/>
                    </a:ext>
                  </a:extLst>
                </a:gridCol>
                <a:gridCol w="1480001">
                  <a:extLst>
                    <a:ext uri="{9D8B030D-6E8A-4147-A177-3AD203B41FA5}">
                      <a16:colId xmlns:a16="http://schemas.microsoft.com/office/drawing/2014/main" val="1031765818"/>
                    </a:ext>
                  </a:extLst>
                </a:gridCol>
                <a:gridCol w="1450713">
                  <a:extLst>
                    <a:ext uri="{9D8B030D-6E8A-4147-A177-3AD203B41FA5}">
                      <a16:colId xmlns:a16="http://schemas.microsoft.com/office/drawing/2014/main" val="2478536853"/>
                    </a:ext>
                  </a:extLst>
                </a:gridCol>
                <a:gridCol w="1691167">
                  <a:extLst>
                    <a:ext uri="{9D8B030D-6E8A-4147-A177-3AD203B41FA5}">
                      <a16:colId xmlns:a16="http://schemas.microsoft.com/office/drawing/2014/main" val="2630415731"/>
                    </a:ext>
                  </a:extLst>
                </a:gridCol>
                <a:gridCol w="1610389">
                  <a:extLst>
                    <a:ext uri="{9D8B030D-6E8A-4147-A177-3AD203B41FA5}">
                      <a16:colId xmlns:a16="http://schemas.microsoft.com/office/drawing/2014/main" val="3555321625"/>
                    </a:ext>
                  </a:extLst>
                </a:gridCol>
              </a:tblGrid>
              <a:tr h="1672582">
                <a:tc>
                  <a:txBody>
                    <a:bodyPr/>
                    <a:lstStyle/>
                    <a:p>
                      <a:pPr algn="ctr"/>
                      <a:r>
                        <a:rPr lang="fr-FR" b="0" dirty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Type Machine</a:t>
                      </a:r>
                    </a:p>
                  </a:txBody>
                  <a:tcPr anchor="ctr" anchorCtr="1">
                    <a:solidFill>
                      <a:srgbClr val="8C9D8D"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 dirty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Type Financement </a:t>
                      </a:r>
                    </a:p>
                  </a:txBody>
                  <a:tcPr anchor="ctr" anchorCtr="1">
                    <a:solidFill>
                      <a:srgbClr val="8C9D8D"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 dirty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Loyer</a:t>
                      </a:r>
                    </a:p>
                    <a:p>
                      <a:pPr algn="ctr"/>
                      <a:r>
                        <a:rPr lang="fr-FR" b="0" dirty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Trimestriel</a:t>
                      </a:r>
                    </a:p>
                  </a:txBody>
                  <a:tcPr anchor="ctr" anchorCtr="1">
                    <a:solidFill>
                      <a:srgbClr val="8C9D8D"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 dirty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Volume Pages</a:t>
                      </a:r>
                    </a:p>
                    <a:p>
                      <a:pPr algn="ctr"/>
                      <a:r>
                        <a:rPr lang="fr-FR" b="0" dirty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Noir et Blanc</a:t>
                      </a:r>
                    </a:p>
                  </a:txBody>
                  <a:tcPr anchor="ctr" anchorCtr="1">
                    <a:solidFill>
                      <a:srgbClr val="8C9D8D"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 dirty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Volume Pages Couleurs</a:t>
                      </a:r>
                      <a:endParaRPr lang="fr-FR" dirty="0"/>
                    </a:p>
                  </a:txBody>
                  <a:tcPr anchor="ctr" anchorCtr="1">
                    <a:solidFill>
                      <a:srgbClr val="8C9D8D"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 dirty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Abonnements et services</a:t>
                      </a:r>
                    </a:p>
                  </a:txBody>
                  <a:tcPr anchor="ctr" anchorCtr="1">
                    <a:solidFill>
                      <a:srgbClr val="8C9D8D"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 dirty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Coût copies</a:t>
                      </a:r>
                    </a:p>
                    <a:p>
                      <a:pPr algn="ctr"/>
                      <a:r>
                        <a:rPr lang="fr-FR" b="0" dirty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N&amp;B</a:t>
                      </a:r>
                    </a:p>
                  </a:txBody>
                  <a:tcPr anchor="ctr" anchorCtr="1">
                    <a:solidFill>
                      <a:srgbClr val="8C9D8D"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 dirty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Coût copies Couleurs</a:t>
                      </a:r>
                    </a:p>
                  </a:txBody>
                  <a:tcPr anchor="ctr" anchorCtr="1">
                    <a:solidFill>
                      <a:srgbClr val="8C9D8D"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 dirty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Total maintenance</a:t>
                      </a:r>
                    </a:p>
                  </a:txBody>
                  <a:tcPr anchor="ctr" anchorCtr="1">
                    <a:solidFill>
                      <a:srgbClr val="8C9D8D">
                        <a:alpha val="6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0" dirty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TOTAL</a:t>
                      </a:r>
                    </a:p>
                    <a:p>
                      <a:pPr algn="ctr"/>
                      <a:r>
                        <a:rPr lang="fr-FR" b="0" dirty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Trimestriel</a:t>
                      </a:r>
                    </a:p>
                  </a:txBody>
                  <a:tcPr anchor="ctr" anchorCtr="1">
                    <a:solidFill>
                      <a:srgbClr val="8C9D8D">
                        <a:alpha val="6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5148770"/>
                  </a:ext>
                </a:extLst>
              </a:tr>
              <a:tr h="916791">
                <a:tc>
                  <a:txBody>
                    <a:bodyPr/>
                    <a:lstStyle/>
                    <a:p>
                      <a:pPr algn="ctr"/>
                      <a:r>
                        <a:rPr lang="fr-FR" b="1" dirty="0" err="1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{{SP_TYPE}}</a:t>
                      </a:r>
                    </a:p>
                  </a:txBody>
                  <a:tcPr anchor="ctr" anchorCtr="1">
                    <a:solidFill>
                      <a:srgbClr val="8C9D8D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 dirty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{{SP_FIN}}</a:t>
                      </a:r>
                    </a:p>
                  </a:txBody>
                  <a:tcPr anchor="ctr" anchorCtr="1">
                    <a:solidFill>
                      <a:srgbClr val="8C9D8D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 dirty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{{SP_LOYER}}</a:t>
                      </a:r>
                    </a:p>
                  </a:txBody>
                  <a:tcPr anchor="ctr" anchorCtr="1">
                    <a:solidFill>
                      <a:srgbClr val="8C9D8D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 dirty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{{SP_VNB}}</a:t>
                      </a:r>
                    </a:p>
                  </a:txBody>
                  <a:tcPr anchor="ctr" anchorCtr="1">
                    <a:solidFill>
                      <a:srgbClr val="8C9D8D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fr-FR" b="1" dirty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{{SP_VCOUL}}</a:t>
                      </a:r>
                      <a:endParaRPr lang="fr-FR" dirty="0"/>
                    </a:p>
                  </a:txBody>
                  <a:tcPr anchor="ctr" anchorCtr="1">
                    <a:solidFill>
                      <a:srgbClr val="8C9D8D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 dirty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{{SP_PASS}}</a:t>
                      </a:r>
                    </a:p>
                  </a:txBody>
                  <a:tcPr anchor="ctr" anchorCtr="1">
                    <a:solidFill>
                      <a:srgbClr val="8C9D8D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 dirty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{{SP_CCNB}}</a:t>
                      </a:r>
                    </a:p>
                  </a:txBody>
                  <a:tcPr anchor="ctr" anchorCtr="1">
                    <a:solidFill>
                      <a:srgbClr val="8C9D8D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 dirty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{{SP_CCCOUL}}</a:t>
                      </a:r>
                    </a:p>
                  </a:txBody>
                  <a:tcPr anchor="ctr" anchorCtr="1">
                    <a:solidFill>
                      <a:srgbClr val="8C9D8D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 dirty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{{SP_MAINT}}</a:t>
                      </a:r>
                    </a:p>
                  </a:txBody>
                  <a:tcPr anchor="ctr" anchorCtr="1">
                    <a:solidFill>
                      <a:srgbClr val="8C9D8D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fr-FR" b="1" dirty="0">
                          <a:solidFill>
                            <a:schemeClr val="tx1"/>
                          </a:solidFill>
                          <a:latin typeface="Noto Sans" panose="020B0502040504020204" pitchFamily="34" charset="0"/>
                          <a:ea typeface="Noto Sans" panose="020B0502040504020204" pitchFamily="34" charset="0"/>
                          <a:cs typeface="Noto Sans" panose="020B0502040504020204" pitchFamily="34" charset="0"/>
                        </a:rPr>
                        <a:t>{{SP_TOTAL}}</a:t>
                      </a:r>
                    </a:p>
                  </a:txBody>
                  <a:tcPr anchor="ctr" anchorCtr="1">
                    <a:solidFill>
                      <a:srgbClr val="8C9D8D">
                        <a:alpha val="1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709346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 dirty="0"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rcRect l="13810" r="13810"/>
          <a:stretch>
            <a:fillRect/>
          </a:stretch>
        </p:blipFill>
        <p:spPr>
          <a:xfrm>
            <a:off x="0" y="1552414"/>
            <a:ext cx="6708966" cy="8734586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fr-FR" sz="3200" spc="48" dirty="0">
                <a:solidFill>
                  <a:srgbClr val="252629"/>
                </a:solidFill>
                <a:latin typeface="Noto Sans Bold"/>
              </a:rPr>
              <a:t>CONTRAT DE SERVICE MAINTENANCE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513386" y="1095375"/>
            <a:ext cx="952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  <a:spcBef>
                <a:spcPct val="0"/>
              </a:spcBef>
            </a:pPr>
            <a:endParaRPr lang="fr-FR" dirty="0"/>
          </a:p>
        </p:txBody>
      </p:sp>
      <p:sp>
        <p:nvSpPr>
          <p:cNvPr id="8" name="TextBox 8"/>
          <p:cNvSpPr txBox="1"/>
          <p:nvPr/>
        </p:nvSpPr>
        <p:spPr>
          <a:xfrm>
            <a:off x="3513386" y="1095375"/>
            <a:ext cx="952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  <a:spcBef>
                <a:spcPct val="0"/>
              </a:spcBef>
            </a:pPr>
            <a:endParaRPr lang="fr-FR" dirty="0"/>
          </a:p>
        </p:txBody>
      </p:sp>
      <p:sp>
        <p:nvSpPr>
          <p:cNvPr id="9" name="TextBox 9"/>
          <p:cNvSpPr txBox="1"/>
          <p:nvPr/>
        </p:nvSpPr>
        <p:spPr>
          <a:xfrm>
            <a:off x="7931975" y="1906879"/>
            <a:ext cx="8720882" cy="51991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069"/>
              </a:lnSpc>
            </a:pPr>
            <a:r>
              <a:rPr lang="fr-FR" sz="2199" spc="-43" dirty="0">
                <a:solidFill>
                  <a:srgbClr val="000000"/>
                </a:solidFill>
                <a:latin typeface="Noto Sans"/>
              </a:rPr>
              <a:t>Le contrat de service maintenance couvre : </a:t>
            </a:r>
          </a:p>
          <a:p>
            <a:pPr marL="474979" lvl="1" indent="-237490">
              <a:lnSpc>
                <a:spcPts val="4069"/>
              </a:lnSpc>
              <a:buFont typeface="Arial"/>
              <a:buChar char="•"/>
            </a:pPr>
            <a:r>
              <a:rPr lang="fr-FR" sz="2199" spc="-43" dirty="0">
                <a:solidFill>
                  <a:srgbClr val="000000"/>
                </a:solidFill>
                <a:latin typeface="Noto Sans"/>
              </a:rPr>
              <a:t> La garantie totale pendant toute la durée du contrat </a:t>
            </a:r>
          </a:p>
          <a:p>
            <a:pPr marL="474979" lvl="1" indent="-237490">
              <a:lnSpc>
                <a:spcPts val="4069"/>
              </a:lnSpc>
              <a:buFont typeface="Arial"/>
              <a:buChar char="•"/>
            </a:pPr>
            <a:r>
              <a:rPr lang="fr-FR" sz="2199" spc="-43" dirty="0">
                <a:solidFill>
                  <a:srgbClr val="000000"/>
                </a:solidFill>
                <a:latin typeface="Noto Sans"/>
              </a:rPr>
              <a:t> Le changement de toutes les pièces </a:t>
            </a:r>
          </a:p>
          <a:p>
            <a:pPr marL="474979" lvl="1" indent="-237490">
              <a:lnSpc>
                <a:spcPts val="4069"/>
              </a:lnSpc>
              <a:buFont typeface="Arial"/>
              <a:buChar char="•"/>
            </a:pPr>
            <a:r>
              <a:rPr lang="fr-FR" sz="2199" spc="-43" dirty="0">
                <a:solidFill>
                  <a:srgbClr val="000000"/>
                </a:solidFill>
                <a:latin typeface="Noto Sans"/>
              </a:rPr>
              <a:t> La main d’œuvre</a:t>
            </a:r>
          </a:p>
          <a:p>
            <a:pPr marL="474979" lvl="1" indent="-237490">
              <a:lnSpc>
                <a:spcPts val="4069"/>
              </a:lnSpc>
              <a:buFont typeface="Arial"/>
              <a:buChar char="•"/>
            </a:pPr>
            <a:r>
              <a:rPr lang="fr-FR" sz="2199" spc="-43" dirty="0">
                <a:solidFill>
                  <a:srgbClr val="000000"/>
                </a:solidFill>
                <a:latin typeface="Noto Sans"/>
              </a:rPr>
              <a:t> Les déplacements des techniciens dans un délai de 4H Maximum</a:t>
            </a:r>
          </a:p>
          <a:p>
            <a:pPr marL="474979" lvl="1" indent="-237490">
              <a:lnSpc>
                <a:spcPts val="4069"/>
              </a:lnSpc>
              <a:buFont typeface="Arial"/>
              <a:buChar char="•"/>
            </a:pPr>
            <a:r>
              <a:rPr lang="fr-FR" sz="2199" spc="-43" dirty="0">
                <a:solidFill>
                  <a:srgbClr val="000000"/>
                </a:solidFill>
                <a:latin typeface="Noto Sans"/>
              </a:rPr>
              <a:t> Les entretiens et les visites de pré-maintenance</a:t>
            </a:r>
          </a:p>
          <a:p>
            <a:pPr marL="474979" lvl="1" indent="-237490">
              <a:lnSpc>
                <a:spcPts val="4069"/>
              </a:lnSpc>
              <a:buFont typeface="Arial"/>
              <a:buChar char="•"/>
            </a:pPr>
            <a:r>
              <a:rPr lang="fr-FR" sz="2199" spc="-43" dirty="0">
                <a:solidFill>
                  <a:srgbClr val="000000"/>
                </a:solidFill>
                <a:latin typeface="Noto Sans"/>
              </a:rPr>
              <a:t> Le remplacement des tambours</a:t>
            </a:r>
          </a:p>
          <a:p>
            <a:pPr marL="474979" lvl="1" indent="-237490">
              <a:lnSpc>
                <a:spcPts val="4069"/>
              </a:lnSpc>
              <a:buFont typeface="Arial"/>
              <a:buChar char="•"/>
            </a:pPr>
            <a:r>
              <a:rPr lang="fr-FR" sz="2199" spc="-43" dirty="0">
                <a:solidFill>
                  <a:srgbClr val="000000"/>
                </a:solidFill>
                <a:latin typeface="Noto Sans"/>
              </a:rPr>
              <a:t> La fourniture des toners noirs et couleurs</a:t>
            </a:r>
          </a:p>
          <a:p>
            <a:pPr marL="474979" lvl="1" indent="-237490">
              <a:lnSpc>
                <a:spcPts val="4069"/>
              </a:lnSpc>
              <a:buFont typeface="Arial"/>
              <a:buChar char="•"/>
            </a:pPr>
            <a:r>
              <a:rPr lang="fr-FR" sz="2199" spc="-43" dirty="0">
                <a:solidFill>
                  <a:srgbClr val="000000"/>
                </a:solidFill>
                <a:latin typeface="Noto Sans"/>
              </a:rPr>
              <a:t> Le réceptacle d’encre usagée</a:t>
            </a:r>
          </a:p>
          <a:p>
            <a:pPr marL="474979" lvl="1" indent="-237490">
              <a:lnSpc>
                <a:spcPts val="4069"/>
              </a:lnSpc>
              <a:buFont typeface="Arial"/>
              <a:buChar char="•"/>
            </a:pPr>
            <a:r>
              <a:rPr lang="fr-FR" sz="2199" spc="-43" dirty="0">
                <a:solidFill>
                  <a:srgbClr val="000000"/>
                </a:solidFill>
                <a:latin typeface="Noto Sans"/>
              </a:rPr>
              <a:t> L’assistance technique téléphonique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620000" y="7568076"/>
            <a:ext cx="9143999" cy="16029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lang="fr-FR" sz="2400" spc="-55" dirty="0">
                <a:solidFill>
                  <a:srgbClr val="8C9D8D"/>
                </a:solidFill>
                <a:latin typeface="Noto Sans Bold"/>
              </a:rPr>
              <a:t>Coût Copie {{PROP_MACHINE_1}} </a:t>
            </a:r>
          </a:p>
          <a:p>
            <a:pPr marL="457200" indent="-457200" algn="ctr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fr-FR" sz="2400" spc="-55" dirty="0">
                <a:solidFill>
                  <a:srgbClr val="8C9D8D"/>
                </a:solidFill>
                <a:latin typeface="Noto Sans Bold"/>
              </a:rPr>
              <a:t>N&amp;B : {{SUM_CC_NB}} € HT</a:t>
            </a:r>
          </a:p>
          <a:p>
            <a:pPr marL="457200" indent="-457200" algn="ctr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fr-FR" sz="2400" spc="-55" dirty="0">
                <a:solidFill>
                  <a:srgbClr val="8C9D8D"/>
                </a:solidFill>
                <a:latin typeface="Noto Sans Bold"/>
              </a:rPr>
              <a:t>Couleur : {{SUM_CC_COUL}} € HT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2" name="Group 12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 dirty="0"/>
              </a:p>
            </p:txBody>
          </p:sp>
        </p:grpSp>
        <p:pic>
          <p:nvPicPr>
            <p:cNvPr id="14" name="Picture 14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C26C7FDA-7EA9-EC47-A50B-1D699CF90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715500"/>
            <a:ext cx="2133600" cy="365125"/>
          </a:xfrm>
        </p:spPr>
        <p:txBody>
          <a:bodyPr/>
          <a:lstStyle/>
          <a:p>
            <a:fld id="{B6F15528-21DE-4FAA-801E-634DDDAF4B2B}" type="slidenum">
              <a:rPr lang="fr-FR" sz="2000" smtClean="0">
                <a:solidFill>
                  <a:schemeClr val="tx1"/>
                </a:solidFill>
              </a:rPr>
              <a:pPr/>
              <a:t>26</a:t>
            </a:fld>
            <a:endParaRPr lang="fr-FR" sz="2000" dirty="0">
              <a:solidFill>
                <a:schemeClr val="tx1"/>
              </a:solidFill>
            </a:endParaRP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97DA8600-810A-F56F-D372-84EF472859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 dirty="0"/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794434" y="9209081"/>
            <a:ext cx="2464866" cy="514541"/>
          </a:xfrm>
          <a:prstGeom prst="rect">
            <a:avLst/>
          </a:prstGeom>
        </p:spPr>
      </p:pic>
      <p:grpSp>
        <p:nvGrpSpPr>
          <p:cNvPr id="5" name="Group 5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6" name="Group 6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 dirty="0"/>
              </a:p>
            </p:txBody>
          </p:sp>
        </p:grpSp>
        <p:pic>
          <p:nvPicPr>
            <p:cNvPr id="8" name="Picture 8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pic>
        <p:nvPicPr>
          <p:cNvPr id="9" name="Picture 9"/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p:blipFill>
        <p:spPr>
          <a:xfrm>
            <a:off x="826372" y="2223094"/>
            <a:ext cx="836047" cy="857484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>
            <a:fillRect/>
          </a:stretch>
        </p:blipFill>
        <p:spPr>
          <a:xfrm>
            <a:off x="679330" y="5960694"/>
            <a:ext cx="1084416" cy="905487"/>
          </a:xfrm>
          <a:prstGeom prst="rect">
            <a:avLst/>
          </a:prstGeom>
        </p:spPr>
      </p:pic>
      <p:grpSp>
        <p:nvGrpSpPr>
          <p:cNvPr id="11" name="Group 11"/>
          <p:cNvGrpSpPr/>
          <p:nvPr/>
        </p:nvGrpSpPr>
        <p:grpSpPr>
          <a:xfrm>
            <a:off x="845011" y="4038412"/>
            <a:ext cx="817409" cy="952790"/>
            <a:chOff x="0" y="0"/>
            <a:chExt cx="1089878" cy="1270387"/>
          </a:xfrm>
        </p:grpSpPr>
        <p:pic>
          <p:nvPicPr>
            <p:cNvPr id="12" name="Picture 12"/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>
              <a:fillRect/>
            </a:stretch>
          </p:blipFill>
          <p:spPr>
            <a:xfrm>
              <a:off x="0" y="0"/>
              <a:ext cx="581907" cy="929192"/>
            </a:xfrm>
            <a:prstGeom prst="rect">
              <a:avLst/>
            </a:prstGeom>
          </p:spPr>
        </p:pic>
        <p:pic>
          <p:nvPicPr>
            <p:cNvPr id="13" name="Picture 13"/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>
              <a:fillRect/>
            </a:stretch>
          </p:blipFill>
          <p:spPr>
            <a:xfrm>
              <a:off x="407489" y="587998"/>
              <a:ext cx="682389" cy="682389"/>
            </a:xfrm>
            <a:prstGeom prst="rect">
              <a:avLst/>
            </a:prstGeom>
          </p:spPr>
        </p:pic>
      </p:grpSp>
      <p:grpSp>
        <p:nvGrpSpPr>
          <p:cNvPr id="14" name="Group 14"/>
          <p:cNvGrpSpPr/>
          <p:nvPr/>
        </p:nvGrpSpPr>
        <p:grpSpPr>
          <a:xfrm>
            <a:off x="812834" y="7738297"/>
            <a:ext cx="1130131" cy="841973"/>
            <a:chOff x="0" y="0"/>
            <a:chExt cx="1506842" cy="1122630"/>
          </a:xfrm>
        </p:grpSpPr>
        <p:pic>
          <p:nvPicPr>
            <p:cNvPr id="15" name="Picture 15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>
              <a:fillRect/>
            </a:stretch>
          </p:blipFill>
          <p:spPr>
            <a:xfrm>
              <a:off x="0" y="325129"/>
              <a:ext cx="1139288" cy="797501"/>
            </a:xfrm>
            <a:prstGeom prst="rect">
              <a:avLst/>
            </a:prstGeom>
          </p:spPr>
        </p:pic>
        <p:pic>
          <p:nvPicPr>
            <p:cNvPr id="16" name="Picture 16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>
              <a:fillRect/>
            </a:stretch>
          </p:blipFill>
          <p:spPr>
            <a:xfrm>
              <a:off x="856584" y="0"/>
              <a:ext cx="650257" cy="650257"/>
            </a:xfrm>
            <a:prstGeom prst="rect">
              <a:avLst/>
            </a:prstGeom>
          </p:spPr>
        </p:pic>
      </p:grpSp>
      <p:sp>
        <p:nvSpPr>
          <p:cNvPr id="18" name="TextBox 18"/>
          <p:cNvSpPr txBox="1"/>
          <p:nvPr/>
        </p:nvSpPr>
        <p:spPr>
          <a:xfrm>
            <a:off x="3513386" y="1095375"/>
            <a:ext cx="952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  <a:spcBef>
                <a:spcPct val="0"/>
              </a:spcBef>
            </a:pPr>
            <a:endParaRPr lang="fr-FR" dirty="0"/>
          </a:p>
        </p:txBody>
      </p:sp>
      <p:sp>
        <p:nvSpPr>
          <p:cNvPr id="19" name="TextBox 19"/>
          <p:cNvSpPr txBox="1"/>
          <p:nvPr/>
        </p:nvSpPr>
        <p:spPr>
          <a:xfrm>
            <a:off x="3513386" y="1095375"/>
            <a:ext cx="952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  <a:spcBef>
                <a:spcPct val="0"/>
              </a:spcBef>
            </a:pPr>
            <a:endParaRPr lang="fr-FR" dirty="0"/>
          </a:p>
        </p:txBody>
      </p:sp>
      <p:sp>
        <p:nvSpPr>
          <p:cNvPr id="20" name="TextBox 20"/>
          <p:cNvSpPr txBox="1"/>
          <p:nvPr/>
        </p:nvSpPr>
        <p:spPr>
          <a:xfrm>
            <a:off x="2354769" y="655052"/>
            <a:ext cx="13265445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fr-FR" sz="3200" spc="48" dirty="0">
                <a:solidFill>
                  <a:srgbClr val="252629"/>
                </a:solidFill>
                <a:latin typeface="Noto Sans Bold"/>
              </a:rPr>
              <a:t>LA SÉCURITÉ AU COEUR DES ÉQUIPEMENTS CANON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788579" y="1819264"/>
            <a:ext cx="3431977" cy="403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fr-FR" sz="2400" dirty="0">
                <a:solidFill>
                  <a:srgbClr val="8C9D8D"/>
                </a:solidFill>
                <a:latin typeface="Noto Sans"/>
              </a:rPr>
              <a:t>Sécurité des documents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006761" y="3817447"/>
            <a:ext cx="5577185" cy="403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fr-FR" sz="2400" dirty="0">
                <a:solidFill>
                  <a:srgbClr val="8C9D8D"/>
                </a:solidFill>
                <a:latin typeface="Noto Sans"/>
              </a:rPr>
              <a:t>Protection de la propriété intellectuelle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860090" y="5556864"/>
            <a:ext cx="3142059" cy="403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fr-FR" sz="2400" dirty="0">
                <a:solidFill>
                  <a:srgbClr val="8C9D8D"/>
                </a:solidFill>
                <a:latin typeface="Noto Sans"/>
              </a:rPr>
              <a:t>Sécurité des appareils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2886805" y="7345743"/>
            <a:ext cx="3235523" cy="403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fr-FR" sz="2400" dirty="0">
                <a:solidFill>
                  <a:srgbClr val="8C9D8D"/>
                </a:solidFill>
                <a:latin typeface="Noto Sans"/>
              </a:rPr>
              <a:t>Sécurité du disque dur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2344219" y="7968745"/>
            <a:ext cx="15154627" cy="1194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380"/>
              </a:lnSpc>
            </a:pPr>
            <a:r>
              <a:rPr lang="fr-FR" sz="1700" dirty="0">
                <a:solidFill>
                  <a:srgbClr val="000000"/>
                </a:solidFill>
                <a:latin typeface="Noto Sans"/>
              </a:rPr>
              <a:t>Le disque dur interne de l'appareil </a:t>
            </a:r>
            <a:r>
              <a:rPr lang="fr-FR" sz="1700" dirty="0">
                <a:solidFill>
                  <a:srgbClr val="000000"/>
                </a:solidFill>
                <a:latin typeface="Noto Sans Bold"/>
              </a:rPr>
              <a:t>Canon </a:t>
            </a:r>
            <a:r>
              <a:rPr lang="fr-FR" sz="1700" dirty="0">
                <a:solidFill>
                  <a:srgbClr val="000000"/>
                </a:solidFill>
                <a:latin typeface="Noto Sans"/>
              </a:rPr>
              <a:t>peut être protégé par deux fonctionnalités de sécurité importantes:</a:t>
            </a:r>
          </a:p>
          <a:p>
            <a:pPr marL="367031" lvl="1" indent="-183515" algn="just">
              <a:lnSpc>
                <a:spcPts val="2380"/>
              </a:lnSpc>
              <a:buFont typeface="Arial"/>
              <a:buChar char="•"/>
            </a:pPr>
            <a:r>
              <a:rPr lang="fr-FR" sz="1700" dirty="0">
                <a:solidFill>
                  <a:srgbClr val="000000"/>
                </a:solidFill>
                <a:latin typeface="Noto Sans"/>
              </a:rPr>
              <a:t>Fichiers cryptés dès leurs création, afin d'éviter tout accès non autorisé</a:t>
            </a:r>
          </a:p>
          <a:p>
            <a:pPr marL="367031" lvl="1" indent="-183515" algn="just">
              <a:lnSpc>
                <a:spcPts val="2380"/>
              </a:lnSpc>
              <a:buFont typeface="Arial"/>
              <a:buChar char="•"/>
            </a:pPr>
            <a:r>
              <a:rPr lang="fr-FR" sz="1700" dirty="0">
                <a:solidFill>
                  <a:srgbClr val="000000"/>
                </a:solidFill>
                <a:latin typeface="Noto Sans"/>
              </a:rPr>
              <a:t>Une fonction d'écrasement de l'image peut être définie pour effacer automatiquement les données résiduelles en les </a:t>
            </a:r>
            <a:r>
              <a:rPr lang="fr-FR" sz="1700" dirty="0" err="1">
                <a:solidFill>
                  <a:srgbClr val="000000"/>
                </a:solidFill>
                <a:latin typeface="Noto Sans"/>
              </a:rPr>
              <a:t>remplacant</a:t>
            </a:r>
            <a:r>
              <a:rPr lang="fr-FR" sz="1700" dirty="0">
                <a:solidFill>
                  <a:srgbClr val="000000"/>
                </a:solidFill>
                <a:latin typeface="Noto Sans"/>
              </a:rPr>
              <a:t> par des valeurs aléatoires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354769" y="6089901"/>
            <a:ext cx="15154627" cy="8922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380"/>
              </a:lnSpc>
            </a:pPr>
            <a:r>
              <a:rPr lang="fr-FR" sz="1700" dirty="0">
                <a:solidFill>
                  <a:srgbClr val="000000"/>
                </a:solidFill>
                <a:latin typeface="Noto Sans"/>
              </a:rPr>
              <a:t>Vous pouvez apporter un niveau de sécurité supplémentaire aux appareils bureautiques </a:t>
            </a:r>
            <a:r>
              <a:rPr lang="fr-FR" sz="1700" dirty="0">
                <a:solidFill>
                  <a:srgbClr val="000000"/>
                </a:solidFill>
                <a:latin typeface="Noto Sans Bold"/>
              </a:rPr>
              <a:t>Canon </a:t>
            </a:r>
            <a:r>
              <a:rPr lang="fr-FR" sz="1700" dirty="0">
                <a:solidFill>
                  <a:srgbClr val="000000"/>
                </a:solidFill>
                <a:latin typeface="Noto Sans"/>
              </a:rPr>
              <a:t>grâce au rejet des télécopies et courriers électroniques indésirables : permet aux utilisateurs d'accepter ou de rejeter automatiquement des courriers électroniques et télécopies en fonction de leur origines.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2354769" y="4322651"/>
            <a:ext cx="15154627" cy="8922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380"/>
              </a:lnSpc>
            </a:pPr>
            <a:r>
              <a:rPr lang="fr-FR" sz="1700" dirty="0">
                <a:solidFill>
                  <a:srgbClr val="000000"/>
                </a:solidFill>
                <a:latin typeface="Noto Sans"/>
              </a:rPr>
              <a:t>Afin de protéger votre savoir-faire, il est possible de définir un ensemble de mots à proscrire de vos impressions, numérisations et copies. Si un collaborateur tente d'effectuer une de ces actions sur un document contenant ces mots-clés, celle-ci sera bloquée et une alerte sera envoyée à l'utilisateurs désigné.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2296783" y="2289551"/>
            <a:ext cx="15202063" cy="8922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380"/>
              </a:lnSpc>
            </a:pPr>
            <a:r>
              <a:rPr lang="fr-FR" sz="1700" dirty="0">
                <a:solidFill>
                  <a:srgbClr val="000000"/>
                </a:solidFill>
                <a:latin typeface="Noto Sans"/>
              </a:rPr>
              <a:t>Les appareils multifonctions </a:t>
            </a:r>
            <a:r>
              <a:rPr lang="fr-FR" sz="1700" dirty="0">
                <a:solidFill>
                  <a:srgbClr val="000000"/>
                </a:solidFill>
                <a:latin typeface="Noto Sans Bold"/>
              </a:rPr>
              <a:t>Canon </a:t>
            </a:r>
            <a:r>
              <a:rPr lang="fr-FR" sz="1700" dirty="0">
                <a:solidFill>
                  <a:srgbClr val="000000"/>
                </a:solidFill>
                <a:latin typeface="Noto Sans"/>
              </a:rPr>
              <a:t>protègent les documents confidentiels grâce à la solution de "libération".  L'utilisateur est identifié lors de l'envoi d'un travail d'impression qui reste stocké jusqu'à ce que celui-ci s'authentifie sur le périphérique à l'aide de son code personnel ou badge, pour récupérer son document. Ceci évite de laisser des documents sensibles à la vue de tous dans le magasin de sortie.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219BA4C7-7763-E540-A1F5-107B6558A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723622"/>
            <a:ext cx="2133600" cy="365125"/>
          </a:xfrm>
        </p:spPr>
        <p:txBody>
          <a:bodyPr/>
          <a:lstStyle/>
          <a:p>
            <a:fld id="{B6F15528-21DE-4FAA-801E-634DDDAF4B2B}" type="slidenum">
              <a:rPr lang="fr-FR" sz="2000" smtClean="0">
                <a:solidFill>
                  <a:schemeClr val="tx1"/>
                </a:solidFill>
              </a:rPr>
              <a:pPr/>
              <a:t>27</a:t>
            </a:fld>
            <a:endParaRPr lang="fr-FR" sz="2000" dirty="0">
              <a:solidFill>
                <a:schemeClr val="tx1"/>
              </a:solidFill>
            </a:endParaRPr>
          </a:p>
        </p:txBody>
      </p:sp>
      <p:pic>
        <p:nvPicPr>
          <p:cNvPr id="30" name="Image 29">
            <a:extLst>
              <a:ext uri="{FF2B5EF4-FFF2-40B4-BE49-F238E27FC236}">
                <a16:creationId xmlns:a16="http://schemas.microsoft.com/office/drawing/2014/main" id="{BCE3CD9B-8737-8DB9-2581-8DB03EC5E5B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rcRect l="20212" r="30981"/>
          <a:stretch>
            <a:fillRect/>
          </a:stretch>
        </p:blipFill>
        <p:spPr>
          <a:xfrm>
            <a:off x="11886638" y="1542890"/>
            <a:ext cx="6401362" cy="8744110"/>
          </a:xfrm>
          <a:prstGeom prst="rect">
            <a:avLst/>
          </a:prstGeom>
        </p:spPr>
      </p:pic>
      <p:sp>
        <p:nvSpPr>
          <p:cNvPr id="3" name="AutoShape 3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 dirty="0"/>
          </a:p>
        </p:txBody>
      </p:sp>
      <p:sp>
        <p:nvSpPr>
          <p:cNvPr id="6" name="TextBox 6"/>
          <p:cNvSpPr txBox="1"/>
          <p:nvPr/>
        </p:nvSpPr>
        <p:spPr>
          <a:xfrm>
            <a:off x="2354769" y="655052"/>
            <a:ext cx="11373267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fr-FR" sz="3200" spc="48" dirty="0">
                <a:solidFill>
                  <a:srgbClr val="252629"/>
                </a:solidFill>
                <a:latin typeface="Noto Sans Bold"/>
              </a:rPr>
              <a:t>VOTRE CONTRAT CANON E-MAINTENANCE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513386" y="1095375"/>
            <a:ext cx="952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  <a:spcBef>
                <a:spcPct val="0"/>
              </a:spcBef>
            </a:pPr>
            <a:endParaRPr lang="fr-FR" dirty="0"/>
          </a:p>
        </p:txBody>
      </p:sp>
      <p:sp>
        <p:nvSpPr>
          <p:cNvPr id="8" name="TextBox 8"/>
          <p:cNvSpPr txBox="1"/>
          <p:nvPr/>
        </p:nvSpPr>
        <p:spPr>
          <a:xfrm>
            <a:off x="3513386" y="1095375"/>
            <a:ext cx="952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  <a:spcBef>
                <a:spcPct val="0"/>
              </a:spcBef>
            </a:pPr>
            <a:endParaRPr lang="fr-FR" dirty="0"/>
          </a:p>
        </p:txBody>
      </p:sp>
      <p:sp>
        <p:nvSpPr>
          <p:cNvPr id="9" name="TextBox 9"/>
          <p:cNvSpPr txBox="1"/>
          <p:nvPr/>
        </p:nvSpPr>
        <p:spPr>
          <a:xfrm>
            <a:off x="1800113" y="5369812"/>
            <a:ext cx="8797309" cy="18466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fr-FR" sz="24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Nous </a:t>
            </a:r>
            <a:r>
              <a:rPr lang="fr-FR" sz="24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anticipons automatiquement vos besoins en consommables</a:t>
            </a:r>
            <a:r>
              <a:rPr lang="fr-FR" sz="24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 et collectons vos relevés de compteurs à distance, sans intervention de votre part.</a:t>
            </a:r>
          </a:p>
          <a:p>
            <a:pPr algn="ctr"/>
            <a:r>
              <a:rPr lang="fr-FR" sz="2400" b="1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Moins de gestion, plus de disponibilité pour vos équipements.</a:t>
            </a:r>
            <a:endParaRPr lang="fr-FR" sz="2400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3253535" y="4257672"/>
            <a:ext cx="5890464" cy="3457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700"/>
              </a:lnSpc>
              <a:spcBef>
                <a:spcPct val="0"/>
              </a:spcBef>
            </a:pPr>
            <a:r>
              <a:rPr lang="fr-FR" sz="2700" spc="-54" dirty="0">
                <a:solidFill>
                  <a:srgbClr val="8C9D8D"/>
                </a:solidFill>
                <a:latin typeface="Noto Sans Bold"/>
              </a:rPr>
              <a:t>Service E-Maintenance : {{EMAINT_VAL}}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2" name="Group 12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 dirty="0"/>
              </a:p>
            </p:txBody>
          </p:sp>
        </p:grpSp>
        <p:pic>
          <p:nvPicPr>
            <p:cNvPr id="14" name="Picture 14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96F3365-395D-CC4F-BD4D-C4D32681F8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82778" y="9639300"/>
            <a:ext cx="2133600" cy="365125"/>
          </a:xfrm>
        </p:spPr>
        <p:txBody>
          <a:bodyPr/>
          <a:lstStyle/>
          <a:p>
            <a:fld id="{B6F15528-21DE-4FAA-801E-634DDDAF4B2B}" type="slidenum">
              <a:rPr lang="fr-FR" sz="2000" smtClean="0">
                <a:solidFill>
                  <a:schemeClr val="tx1"/>
                </a:solidFill>
              </a:rPr>
              <a:pPr/>
              <a:t>28</a:t>
            </a:fld>
            <a:endParaRPr lang="fr-FR" sz="2000" dirty="0">
              <a:solidFill>
                <a:schemeClr val="tx1"/>
              </a:solidFill>
            </a:endParaRP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D2652B10-A77E-F3AE-BFA2-402C4C20C7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1533365"/>
            <a:ext cx="18288000" cy="9525"/>
          </a:xfrm>
          <a:prstGeom prst="rect">
            <a:avLst/>
          </a:prstGeom>
          <a:solidFill>
            <a:srgbClr val="1A2C5A"/>
          </a:solidFill>
        </p:spPr>
        <p:txBody>
          <a:bodyPr/>
          <a:lstStyle/>
          <a:p>
            <a:endParaRPr lang="fr-FR" dirty="0"/>
          </a:p>
        </p:txBody>
      </p:sp>
      <p:sp>
        <p:nvSpPr>
          <p:cNvPr id="6" name="TextBox 6"/>
          <p:cNvSpPr txBox="1"/>
          <p:nvPr/>
        </p:nvSpPr>
        <p:spPr>
          <a:xfrm>
            <a:off x="2354769" y="655052"/>
            <a:ext cx="10333902" cy="4877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>
              <a:lnSpc>
                <a:spcPts val="3840"/>
              </a:lnSpc>
            </a:pPr>
            <a:r>
              <a:rPr lang="fr-FR" sz="3200" spc="48" dirty="0">
                <a:solidFill>
                  <a:srgbClr val="252629"/>
                </a:solidFill>
                <a:latin typeface="Noto Sans Bold"/>
              </a:rPr>
              <a:t>BON POUR ACCORD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513386" y="1095375"/>
            <a:ext cx="952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  <a:spcBef>
                <a:spcPct val="0"/>
              </a:spcBef>
            </a:pPr>
            <a:endParaRPr lang="fr-FR" dirty="0"/>
          </a:p>
        </p:txBody>
      </p:sp>
      <p:sp>
        <p:nvSpPr>
          <p:cNvPr id="8" name="TextBox 8"/>
          <p:cNvSpPr txBox="1"/>
          <p:nvPr/>
        </p:nvSpPr>
        <p:spPr>
          <a:xfrm>
            <a:off x="3513386" y="1095375"/>
            <a:ext cx="9525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99"/>
              </a:lnSpc>
              <a:spcBef>
                <a:spcPct val="0"/>
              </a:spcBef>
            </a:pPr>
            <a:endParaRPr lang="fr-FR" dirty="0"/>
          </a:p>
        </p:txBody>
      </p:sp>
      <p:sp>
        <p:nvSpPr>
          <p:cNvPr id="9" name="TextBox 9"/>
          <p:cNvSpPr txBox="1"/>
          <p:nvPr/>
        </p:nvSpPr>
        <p:spPr>
          <a:xfrm>
            <a:off x="1028700" y="5076825"/>
            <a:ext cx="16923041" cy="16083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213"/>
              </a:lnSpc>
            </a:pPr>
            <a:endParaRPr lang="fr-FR" dirty="0"/>
          </a:p>
          <a:p>
            <a:pPr>
              <a:lnSpc>
                <a:spcPts val="3213"/>
              </a:lnSpc>
            </a:pPr>
            <a:r>
              <a:rPr lang="fr-FR" sz="2100" spc="-42" dirty="0">
                <a:solidFill>
                  <a:srgbClr val="000000"/>
                </a:solidFill>
                <a:latin typeface="Noto Sans"/>
              </a:rPr>
              <a:t> </a:t>
            </a:r>
          </a:p>
          <a:p>
            <a:pPr>
              <a:lnSpc>
                <a:spcPts val="3213"/>
              </a:lnSpc>
            </a:pPr>
            <a:r>
              <a:rPr lang="fr-FR" sz="2100" spc="-42" dirty="0">
                <a:solidFill>
                  <a:srgbClr val="000000"/>
                </a:solidFill>
                <a:latin typeface="Noto Sans"/>
              </a:rPr>
              <a:t> Ce document vous engage à respecter les conditions inscrites ci-dessus mais il ne remplace en aucun cas les contrats de maintenance, de commande et de leasing que vous signerez avec votre commercial avant la livraison du matériel.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841492" y="8310969"/>
            <a:ext cx="2640843" cy="13997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60"/>
              </a:lnSpc>
            </a:pPr>
            <a:r>
              <a:rPr lang="fr-FR" spc="-36" dirty="0">
                <a:solidFill>
                  <a:srgbClr val="252629"/>
                </a:solidFill>
                <a:latin typeface="Noto Sans"/>
              </a:rPr>
              <a:t>{{REP_NAME}}</a:t>
            </a:r>
            <a:endParaRPr lang="fr-FR" sz="1800" spc="-36" dirty="0">
              <a:solidFill>
                <a:srgbClr val="252629"/>
              </a:solidFill>
              <a:latin typeface="Noto Sans"/>
            </a:endParaRPr>
          </a:p>
          <a:p>
            <a:pPr algn="ctr">
              <a:lnSpc>
                <a:spcPts val="2160"/>
              </a:lnSpc>
            </a:pPr>
            <a:r>
              <a:rPr lang="fr-FR" spc="-36" dirty="0">
                <a:solidFill>
                  <a:srgbClr val="252629"/>
                </a:solidFill>
                <a:latin typeface="Noto Sans"/>
              </a:rPr>
              <a:t>{{REP_TITLE}}</a:t>
            </a:r>
            <a:endParaRPr lang="fr-FR" sz="1800" spc="-36" dirty="0">
              <a:solidFill>
                <a:srgbClr val="252629"/>
              </a:solidFill>
              <a:latin typeface="Noto Sans"/>
            </a:endParaRPr>
          </a:p>
          <a:p>
            <a:pPr algn="ctr">
              <a:lnSpc>
                <a:spcPts val="2160"/>
              </a:lnSpc>
            </a:pPr>
            <a:r>
              <a:rPr lang="fr-FR" sz="1800" spc="-36" dirty="0">
                <a:solidFill>
                  <a:srgbClr val="252629"/>
                </a:solidFill>
                <a:latin typeface="Noto Sans"/>
              </a:rPr>
              <a:t>{{REP_PHONELINE}}</a:t>
            </a:r>
          </a:p>
          <a:p>
            <a:pPr algn="ctr">
              <a:lnSpc>
                <a:spcPts val="2160"/>
              </a:lnSpc>
            </a:pPr>
            <a:r>
              <a:rPr lang="fr-FR" spc="-36" dirty="0" err="1">
                <a:solidFill>
                  <a:srgbClr val="252629"/>
                </a:solidFill>
                <a:latin typeface="Noto Sans"/>
              </a:rPr>
              <a:t>{{REP_EMAIL}}</a:t>
            </a:r>
            <a:endParaRPr lang="fr-FR" spc="-36" dirty="0">
              <a:solidFill>
                <a:srgbClr val="252629"/>
              </a:solidFill>
              <a:latin typeface="Noto Sans"/>
            </a:endParaRPr>
          </a:p>
          <a:p>
            <a:pPr algn="ctr">
              <a:lnSpc>
                <a:spcPts val="2160"/>
              </a:lnSpc>
            </a:pPr>
            <a:endParaRPr lang="fr-FR" sz="1800" spc="-36" dirty="0">
              <a:solidFill>
                <a:srgbClr val="252629"/>
              </a:solidFill>
              <a:latin typeface="Noto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6134993" y="2664369"/>
            <a:ext cx="7388601" cy="224960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96572" lvl="1" indent="-248286">
              <a:lnSpc>
                <a:spcPts val="3588"/>
              </a:lnSpc>
              <a:buFont typeface="Arial"/>
              <a:buChar char="•"/>
            </a:pPr>
            <a:r>
              <a:rPr lang="fr-FR" sz="2300" spc="-46" dirty="0">
                <a:solidFill>
                  <a:srgbClr val="000000"/>
                </a:solidFill>
                <a:latin typeface="Noto Sans"/>
              </a:rPr>
              <a:t> Loyer {{PER_ADJ_MASC_LC}} : {{PROP_LOYER_1}} € HT</a:t>
            </a:r>
          </a:p>
          <a:p>
            <a:pPr marL="496572" lvl="1" indent="-248286">
              <a:lnSpc>
                <a:spcPts val="3588"/>
              </a:lnSpc>
              <a:buFont typeface="Arial"/>
              <a:buChar char="•"/>
            </a:pPr>
            <a:r>
              <a:rPr lang="fr-FR" sz="2300" spc="-46" dirty="0">
                <a:solidFill>
                  <a:srgbClr val="000000"/>
                </a:solidFill>
                <a:latin typeface="Noto Sans"/>
              </a:rPr>
              <a:t> Durée du leasing : {{DUR_TRIM}} Trimestres</a:t>
            </a:r>
          </a:p>
          <a:p>
            <a:pPr>
              <a:lnSpc>
                <a:spcPts val="3588"/>
              </a:lnSpc>
            </a:pPr>
            <a:endParaRPr lang="fr-FR" sz="2300" spc="-46" dirty="0">
              <a:solidFill>
                <a:srgbClr val="000000"/>
              </a:solidFill>
              <a:latin typeface="Noto Sans"/>
            </a:endParaRPr>
          </a:p>
          <a:p>
            <a:pPr marL="496572" lvl="1" indent="-248286">
              <a:lnSpc>
                <a:spcPts val="3588"/>
              </a:lnSpc>
              <a:buFont typeface="Arial"/>
              <a:buChar char="•"/>
            </a:pPr>
            <a:r>
              <a:rPr lang="fr-FR" sz="2300" spc="-46" dirty="0">
                <a:solidFill>
                  <a:srgbClr val="000000"/>
                </a:solidFill>
                <a:latin typeface="Noto Sans"/>
              </a:rPr>
              <a:t> Coût à la page en Noir et Blanc : {{SUM_CC_NB}} € HT</a:t>
            </a:r>
          </a:p>
          <a:p>
            <a:pPr marL="496572" lvl="1" indent="-248286">
              <a:lnSpc>
                <a:spcPts val="3588"/>
              </a:lnSpc>
              <a:buFont typeface="Arial"/>
              <a:buChar char="•"/>
            </a:pPr>
            <a:r>
              <a:rPr lang="fr-FR" sz="2300" spc="-46" dirty="0">
                <a:solidFill>
                  <a:srgbClr val="000000"/>
                </a:solidFill>
                <a:latin typeface="Noto Sans"/>
              </a:rPr>
              <a:t> Coût à la page en Couleur : {{SUM_CC_COUL}} € HT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2356110" y="7917636"/>
            <a:ext cx="4572000" cy="1668598"/>
          </a:xfrm>
          <a:prstGeom prst="rect">
            <a:avLst/>
          </a:prstGeom>
          <a:ln w="19050">
            <a:solidFill>
              <a:srgbClr val="2F5233"/>
            </a:solidFill>
          </a:ln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184"/>
              </a:lnSpc>
            </a:pPr>
            <a:r>
              <a:rPr lang="fr-FR" sz="1400" spc="-28" dirty="0">
                <a:solidFill>
                  <a:srgbClr val="000000"/>
                </a:solidFill>
                <a:latin typeface="Noto Sans"/>
              </a:rPr>
              <a:t>Date, Cachet et Signature </a:t>
            </a:r>
          </a:p>
          <a:p>
            <a:pPr algn="ctr">
              <a:lnSpc>
                <a:spcPts val="2184"/>
              </a:lnSpc>
            </a:pPr>
            <a:r>
              <a:rPr lang="fr-FR" sz="1400" spc="-28" dirty="0">
                <a:solidFill>
                  <a:srgbClr val="000000"/>
                </a:solidFill>
                <a:latin typeface="Noto Sans"/>
              </a:rPr>
              <a:t>Précédés de la mention « bon pour accord »</a:t>
            </a:r>
          </a:p>
          <a:p>
            <a:pPr algn="ctr">
              <a:lnSpc>
                <a:spcPts val="2184"/>
              </a:lnSpc>
            </a:pPr>
            <a:endParaRPr lang="fr-FR" sz="1400" spc="-28" dirty="0">
              <a:solidFill>
                <a:srgbClr val="000000"/>
              </a:solidFill>
              <a:latin typeface="Noto Sans"/>
            </a:endParaRPr>
          </a:p>
          <a:p>
            <a:pPr algn="ctr">
              <a:lnSpc>
                <a:spcPts val="2184"/>
              </a:lnSpc>
            </a:pPr>
            <a:endParaRPr lang="fr-FR" sz="1400" spc="-28" dirty="0">
              <a:solidFill>
                <a:srgbClr val="000000"/>
              </a:solidFill>
              <a:latin typeface="Noto Sans"/>
            </a:endParaRPr>
          </a:p>
          <a:p>
            <a:pPr algn="ctr">
              <a:lnSpc>
                <a:spcPts val="2184"/>
              </a:lnSpc>
            </a:pPr>
            <a:endParaRPr lang="fr-FR" sz="1400" spc="-28" dirty="0">
              <a:solidFill>
                <a:srgbClr val="000000"/>
              </a:solidFill>
              <a:latin typeface="Noto Sans"/>
            </a:endParaRPr>
          </a:p>
          <a:p>
            <a:pPr algn="ctr">
              <a:lnSpc>
                <a:spcPts val="2184"/>
              </a:lnSpc>
            </a:pPr>
            <a:endParaRPr lang="fr-FR" sz="1400" spc="-28" dirty="0">
              <a:solidFill>
                <a:srgbClr val="000000"/>
              </a:solidFill>
              <a:latin typeface="Noto Sans"/>
            </a:endParaRPr>
          </a:p>
        </p:txBody>
      </p:sp>
      <p:grpSp>
        <p:nvGrpSpPr>
          <p:cNvPr id="13" name="Group 13"/>
          <p:cNvGrpSpPr/>
          <p:nvPr/>
        </p:nvGrpSpPr>
        <p:grpSpPr>
          <a:xfrm>
            <a:off x="17274273" y="1026502"/>
            <a:ext cx="1013727" cy="1013727"/>
            <a:chOff x="0" y="0"/>
            <a:chExt cx="1351636" cy="1351636"/>
          </a:xfrm>
        </p:grpSpPr>
        <p:grpSp>
          <p:nvGrpSpPr>
            <p:cNvPr id="14" name="Group 14"/>
            <p:cNvGrpSpPr/>
            <p:nvPr/>
          </p:nvGrpSpPr>
          <p:grpSpPr>
            <a:xfrm>
              <a:off x="0" y="0"/>
              <a:ext cx="1351636" cy="1351636"/>
              <a:chOff x="0" y="0"/>
              <a:chExt cx="6350000" cy="635000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14167" y="0"/>
                <a:ext cx="6321665" cy="6350000"/>
              </a:xfrm>
              <a:custGeom>
                <a:avLst/>
                <a:gdLst/>
                <a:ahLst/>
                <a:cxnLst/>
                <a:rect l="l" t="t" r="r" b="b"/>
                <a:pathLst>
                  <a:path w="6321665" h="6350000">
                    <a:moveTo>
                      <a:pt x="3160833" y="0"/>
                    </a:moveTo>
                    <a:lnTo>
                      <a:pt x="3160833" y="0"/>
                    </a:lnTo>
                    <a:cubicBezTo>
                      <a:pt x="4908795" y="7817"/>
                      <a:pt x="6321666" y="1427021"/>
                      <a:pt x="6321666" y="3175000"/>
                    </a:cubicBezTo>
                    <a:cubicBezTo>
                      <a:pt x="6321666" y="4922979"/>
                      <a:pt x="4908795" y="6342183"/>
                      <a:pt x="3160833" y="6350000"/>
                    </a:cubicBezTo>
                    <a:cubicBezTo>
                      <a:pt x="1412871" y="6342183"/>
                      <a:pt x="0" y="4922979"/>
                      <a:pt x="0" y="3175000"/>
                    </a:cubicBezTo>
                    <a:cubicBezTo>
                      <a:pt x="0" y="1427021"/>
                      <a:pt x="1412871" y="7817"/>
                      <a:pt x="3160833" y="0"/>
                    </a:cubicBezTo>
                    <a:close/>
                  </a:path>
                </a:pathLst>
              </a:custGeom>
              <a:solidFill>
                <a:srgbClr val="8C9D8D"/>
              </a:solidFill>
            </p:spPr>
            <p:txBody>
              <a:bodyPr/>
              <a:lstStyle/>
              <a:p>
                <a:endParaRPr lang="fr-FR" dirty="0"/>
              </a:p>
            </p:txBody>
          </p:sp>
        </p:grpSp>
        <p:pic>
          <p:nvPicPr>
            <p:cNvPr id="16" name="Picture 16"/>
            <p:cNvPicPr>
              <a:picLocks noChangeAspect="1"/>
            </p:cNvPicPr>
            <p:nvPr/>
          </p:nvPicPr>
          <p:blipFill>
            <a:blip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>
              <a:fillRect/>
            </a:stretch>
          </p:blipFill>
          <p:spPr>
            <a:xfrm>
              <a:off x="379450" y="547382"/>
              <a:ext cx="581398" cy="256872"/>
            </a:xfrm>
            <a:prstGeom prst="rect">
              <a:avLst/>
            </a:prstGeom>
          </p:spPr>
        </p:pic>
      </p:grp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4DF2BD40-F521-C44C-BD88-FEB6AD4F09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5861310" y="9691332"/>
            <a:ext cx="2133600" cy="365125"/>
          </a:xfrm>
        </p:spPr>
        <p:txBody>
          <a:bodyPr/>
          <a:lstStyle/>
          <a:p>
            <a:fld id="{B6F15528-21DE-4FAA-801E-634DDDAF4B2B}" type="slidenum">
              <a:rPr lang="fr-FR" sz="2000" smtClean="0">
                <a:solidFill>
                  <a:schemeClr val="tx1"/>
                </a:solidFill>
              </a:rPr>
              <a:pPr/>
              <a:t>29</a:t>
            </a:fld>
            <a:endParaRPr lang="fr-FR" sz="2000" dirty="0">
              <a:solidFill>
                <a:schemeClr val="tx1"/>
              </a:solidFill>
            </a:endParaRPr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63793F51-4A4B-1F32-8650-C9BB9FD1B9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50" y="629114"/>
            <a:ext cx="1552362" cy="42937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8ee2bc7-17cf-4f11-b068-1f0338edc318" xsi:nil="true"/>
    <lcf76f155ced4ddcb4097134ff3c332f xmlns="e1504883-0506-4411-b681-6abe3cb501df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BE7894C5C1BAD49AC482B507C809032" ma:contentTypeVersion="10" ma:contentTypeDescription="Crée un document." ma:contentTypeScope="" ma:versionID="29e7a999773aae6369614e051fd97c77">
  <xsd:schema xmlns:xsd="http://www.w3.org/2001/XMLSchema" xmlns:xs="http://www.w3.org/2001/XMLSchema" xmlns:p="http://schemas.microsoft.com/office/2006/metadata/properties" xmlns:ns2="e1504883-0506-4411-b681-6abe3cb501df" xmlns:ns3="a8ee2bc7-17cf-4f11-b068-1f0338edc318" targetNamespace="http://schemas.microsoft.com/office/2006/metadata/properties" ma:root="true" ma:fieldsID="4d4305b9eecd9ead4ef3ab7232b58bc6" ns2:_="" ns3:_="">
    <xsd:import namespace="e1504883-0506-4411-b681-6abe3cb501df"/>
    <xsd:import namespace="a8ee2bc7-17cf-4f11-b068-1f0338edc31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1504883-0506-4411-b681-6abe3cb501d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alises d’images" ma:readOnly="false" ma:fieldId="{5cf76f15-5ced-4ddc-b409-7134ff3c332f}" ma:taxonomyMulti="true" ma:sspId="f9c7c25f-9ca6-4bcd-8883-d67dffae792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8ee2bc7-17cf-4f11-b068-1f0338edc318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01333dfb-82bb-4497-b20a-c7a387482b6b}" ma:internalName="TaxCatchAll" ma:showField="CatchAllData" ma:web="a8ee2bc7-17cf-4f11-b068-1f0338edc31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C7C6906-4A8D-4D06-BA2B-431251A9A289}">
  <ds:schemaRefs>
    <ds:schemaRef ds:uri="http://purl.org/dc/elements/1.1/"/>
    <ds:schemaRef ds:uri="http://purl.org/dc/dcmitype/"/>
    <ds:schemaRef ds:uri="http://www.w3.org/XML/1998/namespace"/>
    <ds:schemaRef ds:uri="e1504883-0506-4411-b681-6abe3cb501df"/>
    <ds:schemaRef ds:uri="http://schemas.microsoft.com/office/2006/documentManagement/types"/>
    <ds:schemaRef ds:uri="http://purl.org/dc/terms/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a8ee2bc7-17cf-4f11-b068-1f0338edc318"/>
  </ds:schemaRefs>
</ds:datastoreItem>
</file>

<file path=customXml/itemProps2.xml><?xml version="1.0" encoding="utf-8"?>
<ds:datastoreItem xmlns:ds="http://schemas.openxmlformats.org/officeDocument/2006/customXml" ds:itemID="{9C361676-D707-4132-B74C-73FA6DAF866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100658B-FE10-4487-AF46-A85D984A5B6C}">
  <ds:schemaRefs>
    <ds:schemaRef ds:uri="a8ee2bc7-17cf-4f11-b068-1f0338edc318"/>
    <ds:schemaRef ds:uri="e1504883-0506-4411-b681-6abe3cb501d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114</TotalTime>
  <Words>3226</Words>
  <Application>Microsoft Macintosh PowerPoint</Application>
  <PresentationFormat>Personnalisé</PresentationFormat>
  <Paragraphs>447</Paragraphs>
  <Slides>29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29</vt:i4>
      </vt:variant>
    </vt:vector>
  </HeadingPairs>
  <TitlesOfParts>
    <vt:vector size="35" baseType="lpstr">
      <vt:lpstr>Noto Sans Bold</vt:lpstr>
      <vt:lpstr>Wingdings</vt:lpstr>
      <vt:lpstr>Arial</vt:lpstr>
      <vt:lpstr>Calibri</vt:lpstr>
      <vt:lpstr>Noto Sans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 offre commerciale</dc:title>
  <dc:creator>Lea Ferat</dc:creator>
  <cp:lastModifiedBy>Mikaël OBADIA</cp:lastModifiedBy>
  <cp:revision>2</cp:revision>
  <cp:lastPrinted>2023-11-18T21:18:04Z</cp:lastPrinted>
  <dcterms:created xsi:type="dcterms:W3CDTF">2006-08-16T00:00:00Z</dcterms:created>
  <dcterms:modified xsi:type="dcterms:W3CDTF">2026-09-04T16:36:28Z</dcterms:modified>
  <dc:identifier>DAEwcahrAs4</dc:identifier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0x010100ABE7894C5C1BAD49AC482B507C809032</vt:lpwstr>
  </property>
  <property fmtid="{D5CDD505-2E9C-101B-9397-08002B2CF9AE}" pid="3" name="MediaServiceImageTags">
    <vt:lpwstr/>
  </property>
</Properties>
</file>