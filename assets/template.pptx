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1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3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7" r:id="rId6"/>
    <p:sldId id="259" r:id="rId7"/>
    <p:sldId id="260" r:id="rId8"/>
    <p:sldId id="288" r:id="rId9"/>
    <p:sldId id="290" r:id="rId10"/>
    <p:sldId id="292" r:id="rId11"/>
    <p:sldId id="293" r:id="rId12"/>
    <p:sldId id="289" r:id="rId13"/>
    <p:sldId id="287" r:id="rId14"/>
    <p:sldId id="262" r:id="rId15"/>
    <p:sldId id="263" r:id="rId16"/>
    <p:sldId id="264" r:id="rId17"/>
    <p:sldId id="295" r:id="rId18"/>
    <p:sldId id="296" r:id="rId19"/>
    <p:sldId id="265" r:id="rId20"/>
    <p:sldId id="266" r:id="rId21"/>
    <p:sldId id="268" r:id="rId22"/>
    <p:sldId id="269" r:id="rId23"/>
    <p:sldId id="271" r:id="rId24"/>
    <p:sldId id="273" r:id="rId25"/>
    <p:sldId id="275" r:id="rId26"/>
    <p:sldId id="277" r:id="rId27"/>
    <p:sldId id="297" r:id="rId28"/>
    <p:sldId id="286" r:id="rId29"/>
    <p:sldId id="281" r:id="rId30"/>
    <p:sldId id="282" r:id="rId31"/>
    <p:sldId id="283" r:id="rId32"/>
    <p:sldId id="284" r:id="rId33"/>
  </p:sldIdLst>
  <p:sldSz cx="18288000" cy="10287000"/>
  <p:notesSz cx="6735763" cy="9866313"/>
  <p:embeddedFontLst>
    <p:embeddedFont>
      <p:font typeface="Noto Sans" panose="020B0502040504020204" pitchFamily="34" charset="0"/>
      <p:regular r:id="rId36"/>
      <p:bold r:id="rId37"/>
      <p:italic r:id="rId38"/>
      <p:boldItalic r:id="rId39"/>
    </p:embeddedFont>
    <p:embeddedFont>
      <p:font typeface="Noto Sans Bold" panose="020B0802040504020204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9D8D"/>
    <a:srgbClr val="D5F9D3"/>
    <a:srgbClr val="EB6262"/>
    <a:srgbClr val="E6E5E7"/>
    <a:srgbClr val="DBDBDB"/>
    <a:srgbClr val="CBC8C8"/>
    <a:srgbClr val="E5A2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73" d="100"/>
          <a:sy n="73" d="100"/>
        </p:scale>
        <p:origin x="216" y="4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aël OBADIA" userId="fbf7af9d-73af-4122-9907-57bb78c0dd65" providerId="ADAL" clId="{19E6C5B3-1833-5290-BE50-EF2E5286D34D}"/>
    <pc:docChg chg="modSld">
      <pc:chgData name="Mikaël OBADIA" userId="fbf7af9d-73af-4122-9907-57bb78c0dd65" providerId="ADAL" clId="{19E6C5B3-1833-5290-BE50-EF2E5286D34D}" dt="2026-09-04T16:36:19.199" v="1" actId="20577"/>
      <pc:docMkLst>
        <pc:docMk/>
      </pc:docMkLst>
      <pc:sldChg chg="modSp mod">
        <pc:chgData name="Mikaël OBADIA" userId="fbf7af9d-73af-4122-9907-57bb78c0dd65" providerId="ADAL" clId="{19E6C5B3-1833-5290-BE50-EF2E5286D34D}" dt="2026-09-04T16:36:19.199" v="1" actId="20577"/>
        <pc:sldMkLst>
          <pc:docMk/>
          <pc:sldMk cId="1295283734" sldId="297"/>
        </pc:sldMkLst>
        <pc:spChg chg="mod">
          <ac:chgData name="Mikaël OBADIA" userId="fbf7af9d-73af-4122-9907-57bb78c0dd65" providerId="ADAL" clId="{19E6C5B3-1833-5290-BE50-EF2E5286D34D}" dt="2026-09-04T16:36:19.199" v="1" actId="20577"/>
          <ac:spMkLst>
            <pc:docMk/>
            <pc:sldMk cId="1295283734" sldId="297"/>
            <ac:spMk id="15" creationId="{5FC860F6-A651-04BA-96CC-0894DAB27996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A395729-5D50-2C4D-95D9-974D4E4DC8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E3AFC8-EE20-6042-8C76-FC24A8E96F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62DC-A8A3-1549-8EA9-5DABDAD424E3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7CBE16-5E04-4946-ADA7-A78EA697FC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234EE7-D2D6-3F4A-9166-7E4A62C552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AF188-D669-134B-A343-DB8AEE932E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31290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454D3-6550-3C44-9898-CAA080C68A3C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7708C-DBCE-ED45-89BF-BEEA60D68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58245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7708C-DBCE-ED45-89BF-BEEA60D6808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593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7708C-DBCE-ED45-89BF-BEEA60D68087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737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F284-135D-404A-9056-7A2BAA3E2BD9}" type="datetime1">
              <a:rPr lang="fr-FR" smtClean="0"/>
              <a:t>04/09/2026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03074-315D-B042-BBDC-508ABD16116A}" type="datetime1">
              <a:rPr lang="fr-FR" smtClean="0"/>
              <a:t>04/09/2026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186A-C642-3548-A097-DFACF8813BCE}" type="datetime1">
              <a:rPr lang="fr-FR" smtClean="0"/>
              <a:t>04/09/2026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1953B-E05E-9947-8DB9-B34ABA766B4F}" type="datetime1">
              <a:rPr lang="fr-FR" smtClean="0"/>
              <a:t>04/09/2026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A980-4EB7-AA4F-8BB4-1FFD74DD6ECF}" type="datetime1">
              <a:rPr lang="fr-FR" smtClean="0"/>
              <a:t>04/09/2026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1F30-892C-C74A-9C9F-FC8F185951BB}" type="datetime1">
              <a:rPr lang="fr-FR" smtClean="0"/>
              <a:t>04/09/2026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253A-ADBD-7648-B5BB-292588BDAA9B}" type="datetime1">
              <a:rPr lang="fr-FR" smtClean="0"/>
              <a:t>04/09/2026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340F-9C92-F349-A654-0A8704170AE8}" type="datetime1">
              <a:rPr lang="fr-FR" smtClean="0"/>
              <a:t>04/09/2026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BEF6A-35BD-DF4A-B61C-C282AA331FCE}" type="datetime1">
              <a:rPr lang="fr-FR" smtClean="0"/>
              <a:t>04/09/2026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0D15E-287F-FB4E-A85B-D7EBDE161C16}" type="datetime1">
              <a:rPr lang="fr-FR" smtClean="0"/>
              <a:t>04/09/2026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52C5-DA17-224F-968D-B51187234900}" type="datetime1">
              <a:rPr lang="fr-FR" smtClean="0"/>
              <a:t>04/09/2026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7130D-ABED-E64F-B043-95AF89C786D2}" type="datetime1">
              <a:rPr lang="fr-FR" smtClean="0"/>
              <a:t>04/09/2026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Relationship Id="rId6" Type="http://schemas.openxmlformats.org/officeDocument/2006/relationships/image" Target="../media/image3.svg"/><Relationship Id="rId7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sv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sv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sv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.svg"/><Relationship Id="rId4" Type="http://schemas.openxmlformats.org/officeDocument/2006/relationships/image" Target="../media/image24.svg"/><Relationship Id="rId5" Type="http://schemas.openxmlformats.org/officeDocument/2006/relationships/image" Target="../media/image25.svg"/><Relationship Id="rId6" Type="http://schemas.openxmlformats.org/officeDocument/2006/relationships/image" Target="../media/image26.svg"/><Relationship Id="rId7" Type="http://schemas.openxmlformats.org/officeDocument/2006/relationships/image" Target="../media/image27.svg"/><Relationship Id="rId8" Type="http://schemas.openxmlformats.org/officeDocument/2006/relationships/image" Target="../media/image28.svg"/><Relationship Id="rId9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e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36850">
            <a:off x="3464594" y="-2106755"/>
            <a:ext cx="10428060" cy="5579061"/>
            <a:chOff x="307878" y="1822428"/>
            <a:chExt cx="5555603" cy="4231668"/>
          </a:xfrm>
        </p:grpSpPr>
        <p:sp>
          <p:nvSpPr>
            <p:cNvPr id="3" name="Freeform 3"/>
            <p:cNvSpPr/>
            <p:nvPr/>
          </p:nvSpPr>
          <p:spPr>
            <a:xfrm rot="21463150">
              <a:off x="307878" y="1822428"/>
              <a:ext cx="5555603" cy="4231668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4" name="AutoShape 4"/>
          <p:cNvSpPr/>
          <p:nvPr/>
        </p:nvSpPr>
        <p:spPr>
          <a:xfrm>
            <a:off x="8024378" y="1840521"/>
            <a:ext cx="8579" cy="62392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fr-FR" dirty="0"/>
          </a:p>
        </p:txBody>
      </p:sp>
      <p:grpSp>
        <p:nvGrpSpPr>
          <p:cNvPr id="6" name="Group 6"/>
          <p:cNvGrpSpPr/>
          <p:nvPr/>
        </p:nvGrpSpPr>
        <p:grpSpPr>
          <a:xfrm>
            <a:off x="13278902" y="643728"/>
            <a:ext cx="1013727" cy="1013727"/>
            <a:chOff x="0" y="0"/>
            <a:chExt cx="6350000" cy="6350000"/>
          </a:xfrm>
          <a:solidFill>
            <a:srgbClr val="D5F9D3"/>
          </a:solidFill>
        </p:grpSpPr>
        <p:sp>
          <p:nvSpPr>
            <p:cNvPr id="7" name="Freeform 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 dirty="0"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14715" b="14715"/>
          <a:stretch>
            <a:fillRect/>
          </a:stretch>
        </p:blipFill>
        <p:spPr>
          <a:xfrm>
            <a:off x="-1" y="3290118"/>
            <a:ext cx="18288001" cy="442410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503524" y="1984901"/>
            <a:ext cx="4086378" cy="33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9"/>
              </a:lnSpc>
            </a:pPr>
            <a:r>
              <a:rPr lang="fr-FR" sz="2199" dirty="0">
                <a:solidFill>
                  <a:srgbClr val="252629"/>
                </a:solidFill>
                <a:latin typeface="Noto Sans Bold"/>
              </a:rPr>
              <a:t>SOLUTIONS D'IMPRESSION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15539" y="495895"/>
            <a:ext cx="8663363" cy="1065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1"/>
              </a:lnSpc>
            </a:pPr>
            <a:r>
              <a:rPr lang="fr-FR" sz="6992" spc="-139" dirty="0">
                <a:solidFill>
                  <a:srgbClr val="252629"/>
                </a:solidFill>
                <a:latin typeface="Noto Sans"/>
              </a:rPr>
              <a:t>Offre commerciale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8627" y="1984901"/>
            <a:ext cx="167098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9"/>
              </a:lnSpc>
            </a:pPr>
            <a:r>
              <a:rPr lang="fr-FR" sz="2199" dirty="0">
                <a:solidFill>
                  <a:srgbClr val="252629"/>
                </a:solidFill>
                <a:latin typeface="Noto Sans Bold"/>
              </a:rPr>
              <a:t>{{DATE}}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5300" y="7987723"/>
            <a:ext cx="4120239" cy="1358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fr-FR" sz="1800" spc="-36" dirty="0">
                <a:solidFill>
                  <a:srgbClr val="252629"/>
                </a:solidFill>
                <a:latin typeface="Noto Sans"/>
              </a:rPr>
              <a:t>{{REP_NAME}}</a:t>
            </a:r>
          </a:p>
          <a:p>
            <a:pPr algn="ctr">
              <a:lnSpc>
                <a:spcPts val="2700"/>
              </a:lnSpc>
            </a:pPr>
            <a:r>
              <a:rPr lang="fr-FR" sz="1800" spc="-36" dirty="0">
                <a:solidFill>
                  <a:srgbClr val="252629"/>
                </a:solidFill>
                <a:latin typeface="Noto Sans"/>
              </a:rPr>
              <a:t>{{REP_TITLE}}</a:t>
            </a:r>
          </a:p>
          <a:p>
            <a:pPr algn="ctr">
              <a:lnSpc>
                <a:spcPts val="2700"/>
              </a:lnSpc>
            </a:pPr>
            <a:r>
              <a:rPr lang="fr-FR" spc="-36" dirty="0">
                <a:solidFill>
                  <a:srgbClr val="252629"/>
                </a:solidFill>
                <a:latin typeface="Noto Sans"/>
              </a:rPr>
              <a:t>{{REP_EMAIL}}</a:t>
            </a:r>
          </a:p>
          <a:p>
            <a:pPr algn="ctr">
              <a:lnSpc>
                <a:spcPts val="2700"/>
              </a:lnSpc>
            </a:pPr>
            <a:r>
              <a:rPr lang="fr-FR" spc="-36" dirty="0">
                <a:solidFill>
                  <a:srgbClr val="252629"/>
                </a:solidFill>
                <a:latin typeface="Noto Sans"/>
              </a:rPr>
              <a:t>{{REP_MOBILE}}</a:t>
            </a:r>
            <a:endParaRPr lang="fr-FR" spc="-36" dirty="0">
              <a:solidFill>
                <a:srgbClr val="252629"/>
              </a:solidFill>
              <a:latin typeface="Noto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972073" y="7987723"/>
            <a:ext cx="2602539" cy="135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fr-FR" sz="1800" spc="-36" dirty="0">
                <a:solidFill>
                  <a:srgbClr val="252629"/>
                </a:solidFill>
                <a:latin typeface="Noto Sans"/>
              </a:rPr>
              <a:t>135 chemin des Bassins</a:t>
            </a:r>
          </a:p>
          <a:p>
            <a:pPr algn="ctr">
              <a:lnSpc>
                <a:spcPts val="2700"/>
              </a:lnSpc>
            </a:pPr>
            <a:r>
              <a:rPr lang="fr-FR" sz="1800" spc="-36" dirty="0">
                <a:solidFill>
                  <a:srgbClr val="252629"/>
                </a:solidFill>
                <a:latin typeface="Noto Sans"/>
              </a:rPr>
              <a:t>94000 Créteil</a:t>
            </a:r>
          </a:p>
          <a:p>
            <a:pPr algn="ctr">
              <a:lnSpc>
                <a:spcPts val="2700"/>
              </a:lnSpc>
            </a:pPr>
            <a:r>
              <a:rPr lang="fr-FR" spc="-36" dirty="0">
                <a:solidFill>
                  <a:srgbClr val="252629"/>
                </a:solidFill>
                <a:latin typeface="Noto Sans"/>
              </a:rPr>
              <a:t>www.levad.fr</a:t>
            </a:r>
          </a:p>
          <a:p>
            <a:pPr algn="ctr">
              <a:lnSpc>
                <a:spcPts val="2700"/>
              </a:lnSpc>
            </a:pPr>
            <a:r>
              <a:rPr lang="fr-FR" spc="-36" dirty="0">
                <a:solidFill>
                  <a:srgbClr val="252629"/>
                </a:solidFill>
                <a:latin typeface="Noto Sans"/>
              </a:rPr>
              <a:t>01 70 72 19 40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49DD6FF8-F245-E743-AFF9-99F25A3E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09674" y="9603383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7950267-DBD1-5174-3000-D141FDE1A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400" y="857137"/>
            <a:ext cx="2818424" cy="779564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9E623D52-8C46-3C24-19E0-7F0E5C05C215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3563490" y="1054265"/>
            <a:ext cx="436049" cy="19265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D8E938A-43AB-6542-6B12-458280E485F2}"/>
              </a:ext>
            </a:extLst>
          </p:cNvPr>
          <p:cNvSpPr txBox="1"/>
          <p:nvPr/>
        </p:nvSpPr>
        <p:spPr>
          <a:xfrm>
            <a:off x="495300" y="857137"/>
            <a:ext cx="266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/>
              <a:t>{{CLIENT_NAME}}</a:t>
            </a:r>
          </a:p>
          <a:p>
            <a:pPr algn="ctr"/>
            <a:r>
              <a:rPr lang="fr-FR" sz="3200" dirty="0"/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8301" t="579" r="33239"/>
          <a:stretch>
            <a:fillRect/>
          </a:stretch>
        </p:blipFill>
        <p:spPr>
          <a:xfrm>
            <a:off x="12313844" y="1548747"/>
            <a:ext cx="6016469" cy="873825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30120" y="3094125"/>
            <a:ext cx="997160" cy="97347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43050" y="3590389"/>
            <a:ext cx="8629650" cy="35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fr-FR" sz="2400" dirty="0">
                <a:solidFill>
                  <a:srgbClr val="000000"/>
                </a:solidFill>
                <a:latin typeface="Noto Sans Bold"/>
              </a:rPr>
              <a:t>L'expertise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475479" y="3094125"/>
            <a:ext cx="968161" cy="103597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3550683" y="6794218"/>
            <a:ext cx="1066325" cy="1047664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 rot="-5400000">
            <a:off x="3049216" y="2545667"/>
            <a:ext cx="9619" cy="305348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9" name="AutoShape 9"/>
          <p:cNvSpPr/>
          <p:nvPr/>
        </p:nvSpPr>
        <p:spPr>
          <a:xfrm rot="-5400000">
            <a:off x="9139191" y="2536049"/>
            <a:ext cx="9619" cy="305348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10" name="AutoShape 10"/>
          <p:cNvSpPr/>
          <p:nvPr/>
        </p:nvSpPr>
        <p:spPr>
          <a:xfrm rot="-5400000">
            <a:off x="6748670" y="5851863"/>
            <a:ext cx="9584" cy="3970455"/>
          </a:xfrm>
          <a:prstGeom prst="rect">
            <a:avLst/>
          </a:prstGeom>
          <a:solidFill>
            <a:srgbClr val="D30000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Box 11"/>
          <p:cNvSpPr txBox="1"/>
          <p:nvPr/>
        </p:nvSpPr>
        <p:spPr>
          <a:xfrm>
            <a:off x="2160654" y="552407"/>
            <a:ext cx="8629650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fr-FR" sz="3200" dirty="0">
                <a:solidFill>
                  <a:srgbClr val="000000"/>
                </a:solidFill>
                <a:latin typeface="Noto Sans Bold"/>
              </a:rPr>
              <a:t>LEVAD s'inscrit dans la durée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7651" y="1823902"/>
            <a:ext cx="9144000" cy="90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fr-FR" sz="1699" dirty="0">
                <a:solidFill>
                  <a:srgbClr val="252629"/>
                </a:solidFill>
                <a:latin typeface="Noto Sans"/>
              </a:rPr>
              <a:t>Depuis </a:t>
            </a:r>
            <a:r>
              <a:rPr lang="fr-FR" sz="1699" dirty="0">
                <a:solidFill>
                  <a:srgbClr val="252629"/>
                </a:solidFill>
                <a:latin typeface="Noto Sans Bold"/>
              </a:rPr>
              <a:t>plus de 20 ans</a:t>
            </a:r>
            <a:r>
              <a:rPr lang="fr-FR" sz="1699" dirty="0">
                <a:solidFill>
                  <a:srgbClr val="252629"/>
                </a:solidFill>
                <a:latin typeface="Noto Sans"/>
              </a:rPr>
              <a:t>, notre volonté est de vous permettre d'exercer votre activité dans les meilleures conditions. Afin de répondre au mieux aux exigences de notre clientèle, notre travail se décompose en </a:t>
            </a:r>
            <a:r>
              <a:rPr lang="fr-FR" sz="1699" dirty="0">
                <a:solidFill>
                  <a:srgbClr val="252629"/>
                </a:solidFill>
                <a:latin typeface="Noto Sans Bold"/>
              </a:rPr>
              <a:t>3 phases</a:t>
            </a:r>
            <a:r>
              <a:rPr lang="fr-FR" sz="1699" dirty="0">
                <a:solidFill>
                  <a:srgbClr val="252629"/>
                </a:solidFill>
                <a:latin typeface="Noto Sans"/>
              </a:rPr>
              <a:t> bien définies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0120" y="4411621"/>
            <a:ext cx="4747163" cy="150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fr-FR" sz="1599" spc="7" dirty="0">
                <a:solidFill>
                  <a:srgbClr val="171717"/>
                </a:solidFill>
                <a:latin typeface="Noto Sans"/>
              </a:rPr>
              <a:t>Par le biais d'un ou plusieurs rendez-vous avec le responsable de votre entreprise, nous analysons vos besoins en impression, télécom et informatique. Cette phase est primordiale afin de pouvoir répondre au mieux à vos attentes.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17255" y="3590389"/>
            <a:ext cx="8629650" cy="35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fr-FR" sz="2400" dirty="0">
                <a:solidFill>
                  <a:srgbClr val="000000"/>
                </a:solidFill>
                <a:latin typeface="Noto Sans Bold"/>
              </a:rPr>
              <a:t>Solutions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7881" y="4255966"/>
            <a:ext cx="5572238" cy="210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fr-FR" sz="1599" spc="7" dirty="0">
                <a:solidFill>
                  <a:srgbClr val="171717"/>
                </a:solidFill>
                <a:latin typeface="Noto Sans"/>
              </a:rPr>
              <a:t>Dans le cas où l'ingénieur commercial est dans la capacité de vous offrir des solutions en adéquation avec vos problématiques ce dernier reviendra vers vous avec une solution complète.</a:t>
            </a:r>
          </a:p>
          <a:p>
            <a:pPr algn="ctr">
              <a:lnSpc>
                <a:spcPts val="2399"/>
              </a:lnSpc>
            </a:pPr>
            <a:r>
              <a:rPr lang="fr-FR" sz="1599" spc="7" dirty="0">
                <a:solidFill>
                  <a:srgbClr val="171717"/>
                </a:solidFill>
                <a:latin typeface="Noto Sans"/>
              </a:rPr>
              <a:t>Cette dernière comportera des points techniques et financiers vous permettant de comparer et de prendre une décision.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68234" y="7317956"/>
            <a:ext cx="8629650" cy="35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fr-FR" sz="2400" dirty="0">
                <a:solidFill>
                  <a:srgbClr val="000000"/>
                </a:solidFill>
                <a:latin typeface="Noto Sans Bold"/>
              </a:rPr>
              <a:t>L'accompagnement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53082" y="8223226"/>
            <a:ext cx="5729978" cy="150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fr-FR" sz="1599" spc="7" dirty="0" err="1">
                <a:solidFill>
                  <a:srgbClr val="171717"/>
                </a:solidFill>
                <a:latin typeface="Noto Sans"/>
              </a:rPr>
              <a:t>Levad</a:t>
            </a:r>
            <a:r>
              <a:rPr lang="fr-FR" sz="1599" spc="7" dirty="0">
                <a:solidFill>
                  <a:srgbClr val="171717"/>
                </a:solidFill>
                <a:latin typeface="Noto Sans"/>
              </a:rPr>
              <a:t> a fait le choix d'accompagner ses clients vers l'avenir, en effet, vos besoins peuvent changer, votre matériel peut rencontrer des avaries. </a:t>
            </a:r>
            <a:r>
              <a:rPr lang="fr-FR" sz="1599" spc="7" dirty="0" err="1">
                <a:solidFill>
                  <a:srgbClr val="171717"/>
                </a:solidFill>
                <a:latin typeface="Noto Sans"/>
              </a:rPr>
              <a:t>Levad</a:t>
            </a:r>
            <a:r>
              <a:rPr lang="fr-FR" sz="1599" spc="7" dirty="0">
                <a:solidFill>
                  <a:srgbClr val="171717"/>
                </a:solidFill>
                <a:latin typeface="Noto Sans"/>
              </a:rPr>
              <a:t> grandit un suivi personnalisé pour tous ses clients et ceci pendant toute la durée du contrat.</a:t>
            </a:r>
          </a:p>
        </p:txBody>
      </p:sp>
      <p:sp>
        <p:nvSpPr>
          <p:cNvPr id="18" name="AutoShape 18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grpSp>
        <p:nvGrpSpPr>
          <p:cNvPr id="21" name="Group 21"/>
          <p:cNvGrpSpPr/>
          <p:nvPr/>
        </p:nvGrpSpPr>
        <p:grpSpPr>
          <a:xfrm>
            <a:off x="17272283" y="434837"/>
            <a:ext cx="1009204" cy="1013727"/>
            <a:chOff x="-14154449" y="-2609087"/>
            <a:chExt cx="6321668" cy="6350000"/>
          </a:xfrm>
          <a:solidFill>
            <a:srgbClr val="D5F9D3"/>
          </a:solidFill>
        </p:grpSpPr>
        <p:sp>
          <p:nvSpPr>
            <p:cNvPr id="22" name="Freeform 22"/>
            <p:cNvSpPr/>
            <p:nvPr/>
          </p:nvSpPr>
          <p:spPr>
            <a:xfrm>
              <a:off x="-14154449" y="-2609087"/>
              <a:ext cx="6321668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 dirty="0"/>
            </a:p>
          </p:txBody>
        </p:sp>
      </p:grpSp>
      <p:grpSp>
        <p:nvGrpSpPr>
          <p:cNvPr id="23" name="Group 21"/>
          <p:cNvGrpSpPr/>
          <p:nvPr/>
        </p:nvGrpSpPr>
        <p:grpSpPr>
          <a:xfrm>
            <a:off x="17272283" y="434837"/>
            <a:ext cx="1009204" cy="1013727"/>
            <a:chOff x="-14154449" y="-2609087"/>
            <a:chExt cx="6321668" cy="6350000"/>
          </a:xfrm>
          <a:solidFill>
            <a:srgbClr val="D5F9D3"/>
          </a:solidFill>
        </p:grpSpPr>
        <p:sp>
          <p:nvSpPr>
            <p:cNvPr id="24" name="Freeform 22"/>
            <p:cNvSpPr/>
            <p:nvPr/>
          </p:nvSpPr>
          <p:spPr>
            <a:xfrm>
              <a:off x="-14154449" y="-2609087"/>
              <a:ext cx="6321668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D691975-34BA-F74C-82F5-778DA8F4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93989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29" name="Picture 8">
            <a:extLst>
              <a:ext uri="{FF2B5EF4-FFF2-40B4-BE49-F238E27FC236}">
                <a16:creationId xmlns:a16="http://schemas.microsoft.com/office/drawing/2014/main" id="{7086BAA0-3209-D29F-05A1-AE54D6E3971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7558861" y="847463"/>
            <a:ext cx="436049" cy="19265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0A75C20-B9B0-2936-E363-416CDB9F1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5" name="TextBox 5"/>
          <p:cNvSpPr txBox="1"/>
          <p:nvPr/>
        </p:nvSpPr>
        <p:spPr>
          <a:xfrm>
            <a:off x="1028700" y="2758561"/>
            <a:ext cx="16230600" cy="446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Paris, le 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{{DATE_LONG}}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{{CLIENT_CONTACT}}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Je vous prie de trouver ci-joint toute la documentation liée aux solutions impression, complétée par nos conditions financières.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fr-FR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Nous vous remercions de l’intérêt que vous manifestez à l’égard de notre société et souhaitons que cette proposition retienne toute votre attention.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Nous restons à votre entière disposition pour répondre à toutes vos questions. Nous vous prions de croire en l’expression de nos salutations distinguées.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7507" y="4880704"/>
            <a:ext cx="5917025" cy="373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ctr">
              <a:lnSpc>
                <a:spcPts val="3079"/>
              </a:lnSpc>
              <a:buFont typeface="Wingdings" panose="05000000000000000000" pitchFamily="2" charset="2"/>
              <a:buChar char="Ø"/>
            </a:pPr>
            <a:r>
              <a:rPr lang="fr-FR" sz="2199" b="1" u="sng" dirty="0">
                <a:solidFill>
                  <a:srgbClr val="8C9D8D"/>
                </a:solidFill>
                <a:latin typeface="Noto Sans Bold"/>
              </a:rPr>
              <a:t>{{MACHINE_HEADLINE}}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73200" y="8140865"/>
            <a:ext cx="3505200" cy="158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{{REP_NAME}}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{{REP_TITLE}}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{{REP_PHONELINE}}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{{REP_EMAIL}}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fr-FR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90304" y="1904919"/>
            <a:ext cx="4080272" cy="147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fr-FR" sz="2000" dirty="0">
                <a:solidFill>
                  <a:srgbClr val="000000"/>
                </a:solidFill>
                <a:latin typeface="Noto Sans"/>
              </a:rPr>
              <a:t>{{CLIENT_NAME}}</a:t>
            </a:r>
          </a:p>
          <a:p>
            <a:pPr algn="ctr">
              <a:lnSpc>
                <a:spcPts val="2940"/>
              </a:lnSpc>
            </a:pPr>
            <a:r>
              <a:rPr lang="fr-FR" sz="2000" dirty="0">
                <a:solidFill>
                  <a:srgbClr val="000000"/>
                </a:solidFill>
                <a:latin typeface="Noto Sans"/>
              </a:rPr>
              <a:t>{{CLIENT_ADDR1}}</a:t>
            </a:r>
          </a:p>
          <a:p>
            <a:pPr algn="ctr">
              <a:lnSpc>
                <a:spcPts val="2940"/>
              </a:lnSpc>
            </a:pPr>
            <a:r>
              <a:rPr lang="fr-FR" sz="2000" dirty="0">
                <a:solidFill>
                  <a:srgbClr val="000000"/>
                </a:solidFill>
                <a:latin typeface="Noto Sans"/>
              </a:rPr>
              <a:t>{{CLIENT_ADDR2}}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fr-FR" sz="1200" dirty="0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276535" y="1026502"/>
            <a:ext cx="1009204" cy="1013727"/>
            <a:chOff x="14167" y="0"/>
            <a:chExt cx="6321665" cy="6350000"/>
          </a:xfrm>
          <a:solidFill>
            <a:srgbClr val="D5F9D3"/>
          </a:solidFill>
        </p:grpSpPr>
        <p:sp>
          <p:nvSpPr>
            <p:cNvPr id="12" name="Freeform 12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 dirty="0"/>
            </a:p>
          </p:txBody>
        </p:sp>
      </p:grpSp>
      <p:grpSp>
        <p:nvGrpSpPr>
          <p:cNvPr id="13" name="Group 11"/>
          <p:cNvGrpSpPr/>
          <p:nvPr/>
        </p:nvGrpSpPr>
        <p:grpSpPr>
          <a:xfrm>
            <a:off x="17274273" y="1026502"/>
            <a:ext cx="1013727" cy="1013727"/>
            <a:chOff x="0" y="0"/>
            <a:chExt cx="6350000" cy="6350000"/>
          </a:xfrm>
          <a:solidFill>
            <a:srgbClr val="D5F9D3"/>
          </a:solidFill>
        </p:grpSpPr>
        <p:sp>
          <p:nvSpPr>
            <p:cNvPr id="15" name="Freeform 12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794FD1-FA65-5A4D-8FDE-998F4AA9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3166" y="9659777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3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0DE8DB8-B842-6024-6EAF-B749E80C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AA9CB81-868B-102F-3E7F-EF5AD2BDC02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7561122" y="1417211"/>
            <a:ext cx="436049" cy="192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46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grpSp>
        <p:nvGrpSpPr>
          <p:cNvPr id="5" name="Group 5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340673" y="6973833"/>
            <a:ext cx="9983559" cy="2465052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54902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392928" y="7762615"/>
            <a:ext cx="9939009" cy="8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80"/>
              </a:lnSpc>
            </a:pPr>
            <a:r>
              <a:rPr lang="fr-FR" sz="5600" dirty="0">
                <a:solidFill>
                  <a:srgbClr val="000000"/>
                </a:solidFill>
                <a:latin typeface="Noto Sans"/>
              </a:rPr>
              <a:t>Notre gamme Classique N&amp;B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8E367F-800F-CC4D-AF4A-C1A5A519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4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7594CDA-5217-AC3E-37ED-65F6760A5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29A54110-EEBC-834A-AF82-0FD1423EB8DF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3387154"/>
            <a:ext cx="10195975" cy="743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40 pages par minute en N&amp;B,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Multifonction laser Monochrome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Impression monochrome par système a faisceau laser,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Résolution d’impression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 : Jusqu’à 1 200 x 1 200 ppp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Langage de description : UFR II, PCL 6 &amp; Postscript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papier: 1 cassette A4 de 550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manuelle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: 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…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Temps de sortie de la 1ère Impression : environ 5 secondes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: 60 a 176 g/m²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Ecran tactile LCD de 12,7 cm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Capacité de 150 feuilles, en sortie.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719337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1440/f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79774" y="1026501"/>
            <a:ext cx="1009204" cy="1013727"/>
            <a:chOff x="148592" y="12699"/>
            <a:chExt cx="1345605" cy="1351636"/>
          </a:xfrm>
        </p:grpSpPr>
        <p:grpSp>
          <p:nvGrpSpPr>
            <p:cNvPr id="14" name="Group 14"/>
            <p:cNvGrpSpPr/>
            <p:nvPr/>
          </p:nvGrpSpPr>
          <p:grpSpPr>
            <a:xfrm>
              <a:off x="148592" y="12699"/>
              <a:ext cx="1345605" cy="1351636"/>
              <a:chOff x="698087" y="59658"/>
              <a:chExt cx="6321668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98087" y="59658"/>
                <a:ext cx="6321668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573511" y="560080"/>
              <a:ext cx="581399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6BB46-3E03-3A43-98CA-CE987A57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2843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5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16929BF5-B1CF-A246-9DF6-7FFC887A6960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6" name="Image 5" descr="Une image contenant Appareils électroniques, photocopieur, imprimante&#10;&#10;Description générée automatiquement">
            <a:extLst>
              <a:ext uri="{FF2B5EF4-FFF2-40B4-BE49-F238E27FC236}">
                <a16:creationId xmlns:a16="http://schemas.microsoft.com/office/drawing/2014/main" id="{67319D00-72CC-4278-0B3B-C4E709C55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519" y="3791127"/>
            <a:ext cx="4747457" cy="374662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E121CC7-7CD6-6866-19B6-651CAB74F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73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29A54110-EEBC-834A-AF82-0FD1423EB8DF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3387154"/>
            <a:ext cx="10195975" cy="743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43 pages par minute en N&amp;B,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Multifonction laser Monochrome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Impression monochrome par système a faisceau laser,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Résolution d’impression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 : Jusqu’à 1 200 x 1 200 ppp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Langage de description : UFR II, PCL 6 &amp; Postscript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papier: 1 cassette A4 de 550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manuelle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: 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…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Temps de sortie de la 1ère Impression : environ 5 secondes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: 60 a 176 g/m²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Ecran tactile LCD de 12,7 cm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Capacité de 150 feuilles, en sortie.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719337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1643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6BB46-3E03-3A43-98CA-CE987A57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2843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6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16929BF5-B1CF-A246-9DF6-7FFC887A6960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6" name="Image 5" descr="Une image contenant Appareils électroniques, photocopieur, imprimante&#10;&#10;Description générée automatiquement">
            <a:extLst>
              <a:ext uri="{FF2B5EF4-FFF2-40B4-BE49-F238E27FC236}">
                <a16:creationId xmlns:a16="http://schemas.microsoft.com/office/drawing/2014/main" id="{67319D00-72CC-4278-0B3B-C4E709C55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519" y="3791127"/>
            <a:ext cx="4747457" cy="374662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A7B8521-F3F0-604B-A695-844812575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2966770E-3321-E744-91B7-2DDFC8FC1894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2681" y="3060305"/>
            <a:ext cx="8865133" cy="520826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698" y="3321826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25 pages par minute en N&amp;B 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Chargeur recto verso de document de 100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 :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Disque Dur de 250 Go et Mémoire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>
              <a:lnSpc>
                <a:spcPts val="3924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698" y="2638425"/>
            <a:ext cx="7707857" cy="772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Image Runner Advance DX 4945i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F85C1-C0A9-F84A-B2C3-814E3C11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543" y="966565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7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DCF63DB6-8BBB-D042-A197-67B7C3942B9C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7C2DF1C0-6DD7-1A46-98A4-23D76E946E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8D6B97E-AF72-A351-07B8-61FBF4FD6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9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64CAAC97-0150-EB41-8D6E-AFF2E1B2BA9E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9" name="TextBox 9"/>
          <p:cNvSpPr txBox="1"/>
          <p:nvPr/>
        </p:nvSpPr>
        <p:spPr>
          <a:xfrm>
            <a:off x="869431" y="3370494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Vitesse d'impression : 55 pages par minute en N&amp;B,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Chargeur recto verso 1 passe de document de 200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Alimentation papier :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Disque Dur de 256 Go et Mémoire Ram de 5Go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Matériel Wifi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699" y="2598969"/>
            <a:ext cx="770785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6155i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5C2392C-EDF8-4E48-A7E4-78286E43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23622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8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2E5B688-5FC4-FC4C-944B-74224089DAF6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B497F895-78DE-774F-9EE5-20117D198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 descr="Une image contenant Appareils électroniques, photocopieur&#10;&#10;Description générée automatiquement">
            <a:extLst>
              <a:ext uri="{FF2B5EF4-FFF2-40B4-BE49-F238E27FC236}">
                <a16:creationId xmlns:a16="http://schemas.microsoft.com/office/drawing/2014/main" id="{43ED127C-70E1-91E6-719B-9CDFAF6F1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908" y="2448763"/>
            <a:ext cx="6272232" cy="637739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3DC8B9E-04D5-DE93-0FD7-DD8C7B468D7A}"/>
              </a:ext>
            </a:extLst>
          </p:cNvPr>
          <p:cNvSpPr txBox="1"/>
          <p:nvPr/>
        </p:nvSpPr>
        <p:spPr>
          <a:xfrm>
            <a:off x="13944396" y="9323512"/>
            <a:ext cx="3212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8C9D8D"/>
                </a:solidFill>
              </a:rPr>
              <a:t>Photo non contractuelle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C66233D-4E7D-9007-2A89-A5AD8DE74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9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grpSp>
        <p:nvGrpSpPr>
          <p:cNvPr id="5" name="Group 5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514857" y="5792033"/>
            <a:ext cx="9983559" cy="2465052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54902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43200" y="6540708"/>
            <a:ext cx="13334999" cy="8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80"/>
              </a:lnSpc>
            </a:pPr>
            <a:r>
              <a:rPr lang="fr-FR" sz="5600" dirty="0">
                <a:solidFill>
                  <a:srgbClr val="000000"/>
                </a:solidFill>
                <a:latin typeface="Noto Sans"/>
              </a:rPr>
              <a:t>Notre gamme Classique N&amp;B &amp; Couleur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8E367F-800F-CC4D-AF4A-C1A5A519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9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F53BEE6-5B5E-9684-4DE3-E6411DEF3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8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29A54110-EEBC-834A-AF82-0FD1423EB8DF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3387154"/>
            <a:ext cx="10195975" cy="6436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33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pages par minute (A4) N&amp;B et couleur,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Impression Laser Couleur,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Résolution d’impression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 : Jusqu’à 1 200 x 1 200 ppp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papier: cassette A4 de 250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manuelle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: 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…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Temps de sortie de la 1ère Impression : environ 7,1 secondes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: 60 a 176 g/m²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Ecran tactile LCD de 12,7 cm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Capacité de 150 feuilles, en sortie.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719337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I-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Sensys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X C1333P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6BB46-3E03-3A43-98CA-CE987A57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2843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10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16929BF5-B1CF-A246-9DF6-7FFC887A6960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6" name="Image 5" descr="Une image contenant Appareils électroniques, imprimante, Appareil électronique, intérieur&#10;&#10;Description générée automatiquement">
            <a:extLst>
              <a:ext uri="{FF2B5EF4-FFF2-40B4-BE49-F238E27FC236}">
                <a16:creationId xmlns:a16="http://schemas.microsoft.com/office/drawing/2014/main" id="{D978AEE1-CF29-0FFE-DE4B-729553867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1278" y="2652950"/>
            <a:ext cx="5927939" cy="592793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CB3AD74-6C81-163D-C848-56B2D282A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03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grpSp>
        <p:nvGrpSpPr>
          <p:cNvPr id="5" name="Group 5"/>
          <p:cNvGrpSpPr/>
          <p:nvPr/>
        </p:nvGrpSpPr>
        <p:grpSpPr>
          <a:xfrm>
            <a:off x="11836323" y="2835513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451662"/>
            <a:ext cx="9390006" cy="743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33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pages par minute (A4)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Chargeur automatique de document 1 Passe de 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Vitesse de Numérisation : 100 Images a la minute,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papier: 1 cassette A4 de 250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manuelle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: 50 Feuilles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Suppression des pages blanches 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…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Temps de sortie de la 1ère Impression : environ 7,1 secondes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: 60 a 176 g/m²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Ecran tactile LCD de 12,7 cm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704073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I-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Sensys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X C 1333i/if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40FA8DA-C3BD-FA4D-84C5-40C2C6D1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31611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11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9" name="Image 18" descr="Une image contenant Appareils électroniques, photocopieur, imprimante&#10;&#10;Description générée automatiquement">
            <a:extLst>
              <a:ext uri="{FF2B5EF4-FFF2-40B4-BE49-F238E27FC236}">
                <a16:creationId xmlns:a16="http://schemas.microsoft.com/office/drawing/2014/main" id="{1A6AE721-F463-CBE1-6C50-599779740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284" y="2973240"/>
            <a:ext cx="5172280" cy="517228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9742C8C-A0D8-A53F-FCAF-3E01835CB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25328EAF-3524-0E4F-9069-0F84F625097A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5" name="TextBox 5"/>
          <p:cNvSpPr txBox="1"/>
          <p:nvPr/>
        </p:nvSpPr>
        <p:spPr>
          <a:xfrm>
            <a:off x="1028700" y="3365587"/>
            <a:ext cx="11058128" cy="693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33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pages par minute en N&amp;B et en Couleur, 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Chargeur Recto Verso automatique de document 1 Passe de 100 feuilles, 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 : 1 Cassette A4 de 550 feuilles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Disque dur de 256 Go &amp; Mémoire vive de 3,5 Go de Ram,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des supports de 60 à 220g/m²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 marL="194310" lvl="1"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704073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C661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666900" y="2835513"/>
            <a:ext cx="4382237" cy="5559647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7CC901-AE96-1845-B731-4749B164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26328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12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C0F48F69-55EE-A54F-A73D-EE9C17916746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1623E6D0-D955-3143-A72E-6B9B4B5C9A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E80B6C2-EE5C-FBE4-7924-E56F5F2A8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2966770E-3321-E744-91B7-2DDFC8FC1894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2681" y="3060305"/>
            <a:ext cx="8865133" cy="520826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3308130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22 pages par minute en N&amp;B et en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Chargeur recto verso de document de 100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 :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Disque Dur de 250 Go et Mémoire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>
              <a:lnSpc>
                <a:spcPts val="3924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699" y="2674045"/>
            <a:ext cx="7707857" cy="772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Image Runner Advance DX C3922i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F85C1-C0A9-F84A-B2C3-814E3C11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543" y="966565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13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DCF63DB6-8BBB-D042-A197-67B7C3942B9C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7C2DF1C0-6DD7-1A46-98A4-23D76E946E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8415AE4-2458-AF66-85BD-5625B2BE9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53E27-CC12-9B3F-0D3E-83C9B1B5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DB87AAD4-FFEA-104D-C637-396F23B308EE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67D2C8A-2DED-C2A0-4349-70A913D8FA1E}"/>
              </a:ext>
            </a:extLst>
          </p:cNvPr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DB08F87-425D-B2CC-D600-AA768FBE4903}"/>
              </a:ext>
            </a:extLst>
          </p:cNvPr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CD0AC30-5781-15B8-A3FD-8CE1F5189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2681" y="3060305"/>
            <a:ext cx="8865133" cy="5208266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6BC1EDC3-6938-91B2-9863-FC9E2277C9A8}"/>
              </a:ext>
            </a:extLst>
          </p:cNvPr>
          <p:cNvSpPr txBox="1"/>
          <p:nvPr/>
        </p:nvSpPr>
        <p:spPr>
          <a:xfrm>
            <a:off x="1028700" y="3308130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26 pages par minute en N&amp;B et en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Chargeur recto verso de document de 100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 :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Disque Dur de 250 Go et Mémoire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>
              <a:lnSpc>
                <a:spcPts val="3924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D99674-32B1-7290-1AF5-C2280013193C}"/>
              </a:ext>
            </a:extLst>
          </p:cNvPr>
          <p:cNvSpPr txBox="1"/>
          <p:nvPr/>
        </p:nvSpPr>
        <p:spPr>
          <a:xfrm>
            <a:off x="1028699" y="2674045"/>
            <a:ext cx="7707857" cy="772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C3926i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1E8866-E842-E342-F8E2-887279EA35E9}"/>
              </a:ext>
            </a:extLst>
          </p:cNvPr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780DEFC-8E2B-EF9B-CD70-72DC842548FA}"/>
              </a:ext>
            </a:extLst>
          </p:cNvPr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FCAF9DF0-B8CD-0675-EA71-445D35007117}"/>
                </a:ext>
              </a:extLst>
            </p:cNvPr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14E2D2A0-C56A-E354-A9C0-79C441702A97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FB875296-A0FF-E815-7704-A34E7D442DE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EF6F574-514B-3DE2-EFB9-3995A0BA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543" y="966565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14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33130BD3-A734-CB54-C8A9-4752F836605E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F2B75E69-1925-D3DF-A79A-34275816E1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948EC18-B711-470D-97A9-C8FE67865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1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0888-5C2A-F1B8-256A-66F6F0E3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F7A94576-61A8-0259-D512-78D953DD04E7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7810EA8-4F30-7B7C-EA4B-07A038B323EC}"/>
              </a:ext>
            </a:extLst>
          </p:cNvPr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156051D-888F-BF11-815E-729C14D264B3}"/>
              </a:ext>
            </a:extLst>
          </p:cNvPr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130E0D29-B8EE-A03D-2054-C347A28CFC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2681" y="3060305"/>
            <a:ext cx="8865133" cy="5208266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BBB8448-3D8A-25FE-24B3-E8178D271399}"/>
              </a:ext>
            </a:extLst>
          </p:cNvPr>
          <p:cNvSpPr txBox="1"/>
          <p:nvPr/>
        </p:nvSpPr>
        <p:spPr>
          <a:xfrm>
            <a:off x="1028700" y="3308130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22 pages par minute en N&amp;B et en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Chargeur recto verso de document de 100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 :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Disque Dur de 250 Go et Mémoire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>
              <a:lnSpc>
                <a:spcPts val="3924"/>
              </a:lnSpc>
            </a:pPr>
            <a:endParaRPr lang="fr-FR" sz="1800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C11EA7-C303-C2E9-75D2-1643F745E3F5}"/>
              </a:ext>
            </a:extLst>
          </p:cNvPr>
          <p:cNvSpPr txBox="1"/>
          <p:nvPr/>
        </p:nvSpPr>
        <p:spPr>
          <a:xfrm>
            <a:off x="1028699" y="2674045"/>
            <a:ext cx="7707857" cy="772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C3122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422699D-2445-D189-CC06-0023E8CA055C}"/>
              </a:ext>
            </a:extLst>
          </p:cNvPr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C7636A1-5E87-D03A-717F-70BB73EB075E}"/>
              </a:ext>
            </a:extLst>
          </p:cNvPr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CAC4DBE-6612-7AF4-F288-B3D6032A48F4}"/>
                </a:ext>
              </a:extLst>
            </p:cNvPr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4D8CCE73-5D79-05C4-E7ED-E14875AB0853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7C9B347C-60E9-0A67-5559-174E3E56C9E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08C7235-2905-5E68-7F4C-B349B1DB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543" y="966565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15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C06D1897-0F89-EB67-31F5-179A51C58C84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5B0C11C0-6313-BC75-DB53-5A97A66310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B930E0B-2C90-F182-E1F4-35AB87B13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39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64CAAC97-0150-EB41-8D6E-AFF2E1B2BA9E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9" name="TextBox 9"/>
          <p:cNvSpPr txBox="1"/>
          <p:nvPr/>
        </p:nvSpPr>
        <p:spPr>
          <a:xfrm>
            <a:off x="1028700" y="3308130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Vitesse d'impression : 40 pages par minute en N&amp;B et en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Chargeur recto verso 1 passe de document de 200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Alimentation papier :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Disque Dur de 256 Go et Mémoire Ram de 5Go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Matériel Wifi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13573"/>
            <a:ext cx="770785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C5140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5C2392C-EDF8-4E48-A7E4-78286E43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23622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16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2E5B688-5FC4-FC4C-944B-74224089DAF6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B497F895-78DE-774F-9EE5-20117D198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 descr="Une image contenant Appareils électroniques, photocopieur&#10;&#10;Description générée automatiquement">
            <a:extLst>
              <a:ext uri="{FF2B5EF4-FFF2-40B4-BE49-F238E27FC236}">
                <a16:creationId xmlns:a16="http://schemas.microsoft.com/office/drawing/2014/main" id="{43ED127C-70E1-91E6-719B-9CDFAF6F1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908" y="2448763"/>
            <a:ext cx="6272232" cy="637739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3DC8B9E-04D5-DE93-0FD7-DD8C7B468D7A}"/>
              </a:ext>
            </a:extLst>
          </p:cNvPr>
          <p:cNvSpPr txBox="1"/>
          <p:nvPr/>
        </p:nvSpPr>
        <p:spPr>
          <a:xfrm>
            <a:off x="13944396" y="9323512"/>
            <a:ext cx="3212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8C9D8D"/>
                </a:solidFill>
              </a:rPr>
              <a:t>Photo non contractuelle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D1C46F5-3C89-ADF9-26BC-1439B0B961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590102F3-E1DF-AB4F-A0C0-3F3A319DF673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25200" y="3162766"/>
            <a:ext cx="7312865" cy="4653642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3341084"/>
            <a:ext cx="10387833" cy="7075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Vitesse d'impression : 65 pages par minute en N&amp;B et en Couleur, 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Chargeur recto verso automatique 1 passe de document de 200 feuilles, 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Alimentation papier : 1 Plateau multifonction et 2 cassettes A4/A3 de 550 feuilles chacune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sz="19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900" dirty="0">
                <a:solidFill>
                  <a:srgbClr val="000000"/>
                </a:solidFill>
                <a:latin typeface="Noto Sans"/>
              </a:rPr>
              <a:t> de 250 feuilles,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Résolution d’impression : 2 400 x 2 400 ppp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Langage de description : UFR II, PCL 6 ou Postscript G1@E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Mémoire vive de 50 Go de Ram &amp; Disque dur de 8 Go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Grammage des supports de 52 à 350g/m²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fr-FR" sz="1900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 marL="194310" lvl="1">
              <a:lnSpc>
                <a:spcPts val="3924"/>
              </a:lnSpc>
            </a:pPr>
            <a:endParaRPr lang="fr-FR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24"/>
              </a:lnSpc>
            </a:pPr>
            <a:endParaRPr lang="fr-FR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699" y="2278065"/>
            <a:ext cx="7707856" cy="115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fr-FR" sz="2999" spc="-59" dirty="0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 C 7165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FE797DD-07C6-EB4C-A6CB-ACCDCCAA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37067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17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8E1923E-5757-6345-80D1-9BD51906641D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350A89C6-C039-9F44-A134-91444515CB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6893551-5CD6-77FB-7306-B659018F3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8A2C446D-4A40-6941-B532-7869A2F38EB9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29396" y="3565189"/>
            <a:ext cx="6046240" cy="4702631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28700" y="3501887"/>
            <a:ext cx="11058128" cy="5917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Format: 36 pouces-formatA1 (241mm) A0  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 Largeur des rouleaux: A3, A2 ,A1,A0 &amp; en 48 Secondes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 Cutter rotatif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 Disque dur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 Carte réseau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 Calcul de la gâche papier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 Environ 2,5 fois et demi plus rapide à l’impression qu’HP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 Carte PostScript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5 cartouches : noir, noir mat, cyan, magenta et jaune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 1 socle</a:t>
            </a:r>
          </a:p>
          <a:p>
            <a:pPr>
              <a:lnSpc>
                <a:spcPts val="3924"/>
              </a:lnSpc>
            </a:pPr>
            <a:r>
              <a:rPr lang="fr-FR" dirty="0">
                <a:solidFill>
                  <a:srgbClr val="8C9D8D"/>
                </a:solidFill>
                <a:latin typeface="Noto Sans"/>
              </a:rPr>
              <a:t>Conforme au cahier des charges en tout point</a:t>
            </a:r>
          </a:p>
          <a:p>
            <a:pPr>
              <a:lnSpc>
                <a:spcPts val="3924"/>
              </a:lnSpc>
            </a:pPr>
            <a:endParaRPr lang="fr-FR" dirty="0">
              <a:solidFill>
                <a:srgbClr val="BB0808"/>
              </a:solidFill>
              <a:latin typeface="Noto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4073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IPF TM 300 MFP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B901552-C3BF-0B44-9E37-2165FB64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53198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18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5E00FA80-6C44-EF4B-87AB-F39A4014F76E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8EC3720-6CD1-B6FA-D354-A88B608D5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grpSp>
        <p:nvGrpSpPr>
          <p:cNvPr id="5" name="Group 5"/>
          <p:cNvGrpSpPr/>
          <p:nvPr/>
        </p:nvGrpSpPr>
        <p:grpSpPr>
          <a:xfrm>
            <a:off x="4514857" y="5986127"/>
            <a:ext cx="9983559" cy="2465052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89043" y="6734803"/>
            <a:ext cx="9635189" cy="91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80"/>
              </a:lnSpc>
            </a:pPr>
            <a:r>
              <a:rPr lang="fr-FR" sz="5600" dirty="0">
                <a:solidFill>
                  <a:srgbClr val="000000"/>
                </a:solidFill>
                <a:latin typeface="Noto Sans"/>
              </a:rPr>
              <a:t>Notre gamme écologique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2" name="Picture 12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6E5474-1CFA-6D46-8863-FC280303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845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19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9D6EA05-5F8F-3235-3AA4-55B33B209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0A613F1D-0993-484B-AA57-D2D8C26AD29C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3458403"/>
            <a:ext cx="11058128" cy="693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25 pages par minute en N&amp;B et en Couleur, 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Chargeur Recto Verso automatique de document 1 Passe de 100 feuilles, 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 : 1 Cassette A4 de 550 feuilles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Disque dur de 256 Go &amp; Mémoire vive de 3,5 Go de Ram,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des supports de 60 à 220g/m²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>
              <a:lnSpc>
                <a:spcPts val="3924"/>
              </a:lnSpc>
            </a:pPr>
            <a:endParaRPr lang="fr-FR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24"/>
              </a:lnSpc>
            </a:pPr>
            <a:endParaRPr lang="fr-FR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699" y="2677338"/>
            <a:ext cx="10553700" cy="115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Image Runner Advance C255i/256i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209F9A-368C-BD49-9623-DE094490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66644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20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9E62FF0-F614-514C-811E-D04E74432FEE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75994ED6-6EF1-374B-BE65-56734252FF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11" name="Image 10" descr="Une image contenant Appareils électroniques, photocopieur, imprimante&#10;&#10;Description générée automatiquement">
            <a:extLst>
              <a:ext uri="{FF2B5EF4-FFF2-40B4-BE49-F238E27FC236}">
                <a16:creationId xmlns:a16="http://schemas.microsoft.com/office/drawing/2014/main" id="{D8B7DA84-21D0-B951-DFA3-EE8A7278D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887" y="2846697"/>
            <a:ext cx="5632604" cy="56578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A358603-E339-E60E-1410-8E216AC27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E85A907C-0363-CA4A-8777-962D5EDDD720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3460567"/>
            <a:ext cx="9203981" cy="6936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Vitesse d'impression : 20 pages par minute en N&amp;B et en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Chargeur recto verso de document de 100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Alimentation papier :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Disque Dur de 250 Go et Mémoire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sz="1800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sz="1800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sz="1800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Matériel Wifi</a:t>
            </a:r>
            <a:endParaRPr lang="fr-FR" sz="1800" dirty="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24"/>
              </a:lnSpc>
            </a:pPr>
            <a:endParaRPr lang="fr-FR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699" y="2596644"/>
            <a:ext cx="8932515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Image Runner Adv C3520i / 3720i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8E7B9B9-D4A8-0C40-A76C-49D2AFE5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0727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21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E1E03A8-FFBE-9143-BBB0-C39C60722536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7AB6252F-39A4-124E-AEDE-BA5D906C2E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11" name="Image 10" descr="Une image contenant Téléphone mobile, Appareil de communication, Appareil de communications portable, Appareil mobile&#10;&#10;Description générée automatiquement">
            <a:extLst>
              <a:ext uri="{FF2B5EF4-FFF2-40B4-BE49-F238E27FC236}">
                <a16:creationId xmlns:a16="http://schemas.microsoft.com/office/drawing/2014/main" id="{EDA4E0AE-DFDA-14FF-480A-85AEB6F69A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1156" y="2547092"/>
            <a:ext cx="6383171" cy="63831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CBF4C98-600A-1352-12AD-98A6E917C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C600BDA3-8E9E-B946-A44D-B2EAEA38C8C0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912036" y="3473287"/>
            <a:ext cx="9715500" cy="6936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Vitesse d'impression : 35 pages par minute en N&amp;B et en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Chargeur recto verso 1 passe de document de 200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Alimentation papier :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Disque Dur de 256 Go et Mémoire Ram de 5Go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 de 100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Matériel Wifi </a:t>
            </a:r>
          </a:p>
          <a:p>
            <a:pPr>
              <a:lnSpc>
                <a:spcPts val="3924"/>
              </a:lnSpc>
            </a:pPr>
            <a:endParaRPr lang="fr-FR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1465" y="2701762"/>
            <a:ext cx="881004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Image Runner Adv C5535i / 5735i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F440D28-F6D0-044B-9F7E-1B82D516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0245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22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3CEAE0C-828F-6441-A303-9A7F74573E3D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84AB6ECE-2685-8442-972E-5EDCC569DF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 descr="Une image contenant Appareils électroniques, photocopieur&#10;&#10;Description générée automatiquement">
            <a:extLst>
              <a:ext uri="{FF2B5EF4-FFF2-40B4-BE49-F238E27FC236}">
                <a16:creationId xmlns:a16="http://schemas.microsoft.com/office/drawing/2014/main" id="{7C9D6092-A3E2-E29B-CA8D-8E72C4C96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710" y="3087525"/>
            <a:ext cx="5153825" cy="51538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D3F5D0E-005D-8281-474E-2735992E0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C7824D14-66A9-7648-B00E-E862711856F5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3341084"/>
            <a:ext cx="9406002" cy="6436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Vitesse d'impression : 65 pages par minute en N&amp;B et en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Chargeur recto verso automatique 1 passe de document de 300 feuilles,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Alimentation papier : 2 Cassettes A4 de 1100 feuilles et 2 cassettes A4/A3 de 550 feuilles chacune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Plateau d’alimentation manuel By </a:t>
            </a:r>
            <a:r>
              <a:rPr lang="fr-FR" dirty="0" err="1">
                <a:solidFill>
                  <a:srgbClr val="000000"/>
                </a:solidFill>
                <a:latin typeface="Noto Sans"/>
              </a:rPr>
              <a:t>Pass</a:t>
            </a:r>
            <a:r>
              <a:rPr lang="fr-FR" dirty="0">
                <a:solidFill>
                  <a:srgbClr val="000000"/>
                </a:solidFill>
                <a:latin typeface="Noto Sans"/>
              </a:rPr>
              <a:t> de 250 feuilles,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Possibilité de scanner en format Word, PDF, TIFF, JPEG ou Powerpoint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Logiciel PDF Compact, permet la compression de fichiers lourds en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Scanner et Connexion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Suppression automatique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Noto Sans"/>
              </a:rPr>
              <a:t>Impressions depuis iPhone, Tablette Samsung, iPad, etc…</a:t>
            </a:r>
          </a:p>
          <a:p>
            <a:pPr>
              <a:lnSpc>
                <a:spcPts val="3924"/>
              </a:lnSpc>
            </a:pPr>
            <a:endParaRPr lang="fr-FR" dirty="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513573"/>
            <a:ext cx="881004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CANON Image Runner Adv C7565i</a:t>
            </a:r>
          </a:p>
          <a:p>
            <a:pPr>
              <a:lnSpc>
                <a:spcPts val="2999"/>
              </a:lnSpc>
            </a:pPr>
            <a:endParaRPr lang="fr-FR" sz="2999" spc="-59" dirty="0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82001" y="3332050"/>
            <a:ext cx="7046848" cy="4484358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BCEB8EC-A47B-124F-A084-18FD48C8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85108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23</a:t>
            </a:fld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2A569834-A8BE-CA49-8DDE-FA4906D6058A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fr-FR" sz="1899" dirty="0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860FC23E-85DC-A34A-81D1-980AC8BF7F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283D67B-E09B-335C-D507-C845C4BCA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40E80DC4-7583-C088-799C-76B47E6CEF95}"/>
              </a:ext>
            </a:extLst>
          </p:cNvPr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2FE370E-D02C-FC76-481F-BAC0FAA0BE18}"/>
              </a:ext>
            </a:extLst>
          </p:cNvPr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NOS CONDITIONS FINANCIÈRES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FFE9EDE5-B00F-B857-F256-EC059D11268C}"/>
              </a:ext>
            </a:extLst>
          </p:cNvPr>
          <p:cNvSpPr txBox="1"/>
          <p:nvPr/>
        </p:nvSpPr>
        <p:spPr>
          <a:xfrm>
            <a:off x="910692" y="2087854"/>
            <a:ext cx="6328307" cy="1030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fr-FR" sz="2200" spc="-53" dirty="0">
                <a:solidFill>
                  <a:srgbClr val="000000"/>
                </a:solidFill>
                <a:latin typeface="Noto Sans"/>
              </a:rPr>
              <a:t>Location financière évolutive</a:t>
            </a:r>
          </a:p>
          <a:p>
            <a:pPr marL="342900" indent="-3429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fr-FR" sz="2200" spc="-53" dirty="0">
                <a:solidFill>
                  <a:srgbClr val="000000"/>
                </a:solidFill>
                <a:latin typeface="Noto Sans"/>
              </a:rPr>
              <a:t> Durée : {{DUR_TRIM}} trimestres</a:t>
            </a:r>
          </a:p>
          <a:p>
            <a:pPr marL="342900" indent="-3429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fr-FR" sz="2200" spc="-53" dirty="0">
                <a:solidFill>
                  <a:srgbClr val="000000"/>
                </a:solidFill>
                <a:latin typeface="Noto Sans"/>
              </a:rPr>
              <a:t> Périodicité {{PER_ADJ}}, terme à échoir</a:t>
            </a:r>
          </a:p>
        </p:txBody>
      </p:sp>
      <p:grpSp>
        <p:nvGrpSpPr>
          <p:cNvPr id="6" name="Group 20">
            <a:extLst>
              <a:ext uri="{FF2B5EF4-FFF2-40B4-BE49-F238E27FC236}">
                <a16:creationId xmlns:a16="http://schemas.microsoft.com/office/drawing/2014/main" id="{490A895B-7985-3CBE-9B92-6E8D14648EF0}"/>
              </a:ext>
            </a:extLst>
          </p:cNvPr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7" name="Group 21">
              <a:extLst>
                <a:ext uri="{FF2B5EF4-FFF2-40B4-BE49-F238E27FC236}">
                  <a16:creationId xmlns:a16="http://schemas.microsoft.com/office/drawing/2014/main" id="{3E28CC3C-B818-D1AB-FC53-D720B964EF80}"/>
                </a:ext>
              </a:extLst>
            </p:cNvPr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22">
                <a:extLst>
                  <a:ext uri="{FF2B5EF4-FFF2-40B4-BE49-F238E27FC236}">
                    <a16:creationId xmlns:a16="http://schemas.microsoft.com/office/drawing/2014/main" id="{F1D9EC08-34A8-AACB-0CD8-B25B0FDBEDB7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8" name="Picture 23">
              <a:extLst>
                <a:ext uri="{FF2B5EF4-FFF2-40B4-BE49-F238E27FC236}">
                  <a16:creationId xmlns:a16="http://schemas.microsoft.com/office/drawing/2014/main" id="{96467D57-C18A-001C-ECEC-8CB01B3C573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0" name="TextBox 8">
            <a:extLst>
              <a:ext uri="{FF2B5EF4-FFF2-40B4-BE49-F238E27FC236}">
                <a16:creationId xmlns:a16="http://schemas.microsoft.com/office/drawing/2014/main" id="{717807D9-9BEC-12EC-FC5F-F8A7B2458C75}"/>
              </a:ext>
            </a:extLst>
          </p:cNvPr>
          <p:cNvSpPr txBox="1"/>
          <p:nvPr/>
        </p:nvSpPr>
        <p:spPr>
          <a:xfrm>
            <a:off x="527545" y="7168555"/>
            <a:ext cx="1723290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fr-FR" sz="2200" b="1" spc="-48" dirty="0">
                <a:solidFill>
                  <a:srgbClr val="8C9D8D"/>
                </a:solidFill>
                <a:latin typeface="Noto Sans"/>
              </a:rPr>
              <a:t>Dans le cadre de cette proposition, ce nouveau contrat annule et remplace le précédent sans aucune pénalité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6256895-C3E1-A8DA-3F74-1CCD7C435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AED35A68-540A-63C0-607A-233207AC2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077216"/>
              </p:ext>
            </p:extLst>
          </p:nvPr>
        </p:nvGraphicFramePr>
        <p:xfrm>
          <a:off x="3800475" y="3757645"/>
          <a:ext cx="10687050" cy="26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3525">
                  <a:extLst>
                    <a:ext uri="{9D8B030D-6E8A-4147-A177-3AD203B41FA5}">
                      <a16:colId xmlns:a16="http://schemas.microsoft.com/office/drawing/2014/main" val="1755289887"/>
                    </a:ext>
                  </a:extLst>
                </a:gridCol>
                <a:gridCol w="5343525">
                  <a:extLst>
                    <a:ext uri="{9D8B030D-6E8A-4147-A177-3AD203B41FA5}">
                      <a16:colId xmlns:a16="http://schemas.microsoft.com/office/drawing/2014/main" val="342274598"/>
                    </a:ext>
                  </a:extLst>
                </a:gridCol>
              </a:tblGrid>
              <a:tr h="1301168"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>
                          <a:solidFill>
                            <a:schemeClr val="tx1"/>
                          </a:solidFill>
                        </a:rPr>
                        <a:t>Modèle machine</a:t>
                      </a:r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>
                          <a:solidFill>
                            <a:schemeClr val="tx1"/>
                          </a:solidFill>
                        </a:rPr>
                        <a:t>Loyer {{PER_ADJ_MASC_LC}}</a:t>
                      </a: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D8D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93013"/>
                  </a:ext>
                </a:extLst>
              </a:tr>
              <a:tr h="1301168"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err="1">
                          <a:solidFill>
                            <a:schemeClr val="tx1"/>
                          </a:solidFill>
                        </a:rPr>
                        <a:t>{{PROP_MACHINE_1}}</a:t>
                      </a:r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C9D8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>
                          <a:solidFill>
                            <a:schemeClr val="tx1"/>
                          </a:solidFill>
                        </a:rPr>
                        <a:t>{{PROP_LOYER_1}} € HT</a:t>
                      </a: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C9D8D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535712"/>
                  </a:ext>
                </a:extLst>
              </a:tr>
            </a:tbl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5FC860F6-A651-04BA-96CC-0894DAB27996}"/>
              </a:ext>
            </a:extLst>
          </p:cNvPr>
          <p:cNvSpPr txBox="1"/>
          <p:nvPr/>
        </p:nvSpPr>
        <p:spPr>
          <a:xfrm>
            <a:off x="5500687" y="8062288"/>
            <a:ext cx="72866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Livraison et installation</a:t>
            </a:r>
          </a:p>
          <a:p>
            <a:pPr algn="ctr"/>
            <a:r>
              <a:rPr lang="fr-FR" sz="2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Mise en configuration sur réseaux pour tous les postes</a:t>
            </a:r>
          </a:p>
          <a:p>
            <a:pPr algn="ctr"/>
            <a:r>
              <a:rPr lang="fr-FR" sz="2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Formation aux utilisateurs</a:t>
            </a:r>
            <a:br>
              <a:rPr lang="fr-FR" sz="2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fr-FR" sz="2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Prix de la prestation </a:t>
            </a:r>
            <a:r>
              <a:rPr lang="fr-FR" sz="2200"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{{LIVRAISON_PRIX}}</a:t>
            </a:r>
            <a:endParaRPr lang="fr-FR" sz="22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283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5" name="TextBox 5"/>
          <p:cNvSpPr txBox="1"/>
          <p:nvPr/>
        </p:nvSpPr>
        <p:spPr>
          <a:xfrm>
            <a:off x="5551438" y="2009694"/>
            <a:ext cx="718512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SITUATION ACTUELLE € HT / {{PER_UNIT}}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77619" y="6167707"/>
            <a:ext cx="718110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fr-FR" sz="2999" spc="-59" dirty="0">
                <a:solidFill>
                  <a:srgbClr val="8C9D8D"/>
                </a:solidFill>
                <a:latin typeface="Noto Sans Bold"/>
              </a:rPr>
              <a:t>SOLUTION PROPOSEE € HT / {{PER_UNIT}}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9" name="TextBox 9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NOS CONDITIONS FINANCIÈRES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10" name="Group 110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12" name="Picture 112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104FC7-7394-3C4B-942F-08903C41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97407" y="9646746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25</a:t>
            </a:fld>
            <a:endParaRPr lang="fr-FR" dirty="0">
              <a:solidFill>
                <a:schemeClr val="tx1"/>
              </a:solidFill>
            </a:endParaRPr>
          </a:p>
        </p:txBody>
      </p:sp>
      <p:graphicFrame>
        <p:nvGraphicFramePr>
          <p:cNvPr id="213" name="Tableau 26">
            <a:extLst>
              <a:ext uri="{FF2B5EF4-FFF2-40B4-BE49-F238E27FC236}">
                <a16:creationId xmlns:a16="http://schemas.microsoft.com/office/drawing/2014/main" id="{23D1523C-3632-499B-9DE6-233C6AF525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819716"/>
              </p:ext>
            </p:extLst>
          </p:nvPr>
        </p:nvGraphicFramePr>
        <p:xfrm>
          <a:off x="594200" y="2647415"/>
          <a:ext cx="17436240" cy="25893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10950">
                  <a:extLst>
                    <a:ext uri="{9D8B030D-6E8A-4147-A177-3AD203B41FA5}">
                      <a16:colId xmlns:a16="http://schemas.microsoft.com/office/drawing/2014/main" val="54911877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1251446253"/>
                    </a:ext>
                  </a:extLst>
                </a:gridCol>
                <a:gridCol w="1886307">
                  <a:extLst>
                    <a:ext uri="{9D8B030D-6E8A-4147-A177-3AD203B41FA5}">
                      <a16:colId xmlns:a16="http://schemas.microsoft.com/office/drawing/2014/main" val="465068022"/>
                    </a:ext>
                  </a:extLst>
                </a:gridCol>
                <a:gridCol w="1681935">
                  <a:extLst>
                    <a:ext uri="{9D8B030D-6E8A-4147-A177-3AD203B41FA5}">
                      <a16:colId xmlns:a16="http://schemas.microsoft.com/office/drawing/2014/main" val="561660978"/>
                    </a:ext>
                  </a:extLst>
                </a:gridCol>
                <a:gridCol w="1681935">
                  <a:extLst>
                    <a:ext uri="{9D8B030D-6E8A-4147-A177-3AD203B41FA5}">
                      <a16:colId xmlns:a16="http://schemas.microsoft.com/office/drawing/2014/main" val="3011595207"/>
                    </a:ext>
                  </a:extLst>
                </a:gridCol>
                <a:gridCol w="1785493">
                  <a:extLst>
                    <a:ext uri="{9D8B030D-6E8A-4147-A177-3AD203B41FA5}">
                      <a16:colId xmlns:a16="http://schemas.microsoft.com/office/drawing/2014/main" val="1273604443"/>
                    </a:ext>
                  </a:extLst>
                </a:gridCol>
                <a:gridCol w="1480001">
                  <a:extLst>
                    <a:ext uri="{9D8B030D-6E8A-4147-A177-3AD203B41FA5}">
                      <a16:colId xmlns:a16="http://schemas.microsoft.com/office/drawing/2014/main" val="1031765818"/>
                    </a:ext>
                  </a:extLst>
                </a:gridCol>
                <a:gridCol w="1450713">
                  <a:extLst>
                    <a:ext uri="{9D8B030D-6E8A-4147-A177-3AD203B41FA5}">
                      <a16:colId xmlns:a16="http://schemas.microsoft.com/office/drawing/2014/main" val="2478536853"/>
                    </a:ext>
                  </a:extLst>
                </a:gridCol>
                <a:gridCol w="1691167">
                  <a:extLst>
                    <a:ext uri="{9D8B030D-6E8A-4147-A177-3AD203B41FA5}">
                      <a16:colId xmlns:a16="http://schemas.microsoft.com/office/drawing/2014/main" val="2630415731"/>
                    </a:ext>
                  </a:extLst>
                </a:gridCol>
                <a:gridCol w="1610389">
                  <a:extLst>
                    <a:ext uri="{9D8B030D-6E8A-4147-A177-3AD203B41FA5}">
                      <a16:colId xmlns:a16="http://schemas.microsoft.com/office/drawing/2014/main" val="3555321625"/>
                    </a:ext>
                  </a:extLst>
                </a:gridCol>
              </a:tblGrid>
              <a:tr h="1672582"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Machine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Financement 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Loyer</a:t>
                      </a:r>
                    </a:p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{{PER_ADJ_MASC}}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Volume Pages</a:t>
                      </a:r>
                    </a:p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Noir et Blanc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Volume Pages Couleurs</a:t>
                      </a:r>
                      <a:endParaRPr lang="fr-FR" dirty="0"/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Abonnements et services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 copies</a:t>
                      </a:r>
                    </a:p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N&amp;B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 copies Couleurs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 maintenance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</a:t>
                      </a:r>
                    </a:p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{{PER_ADJ_MASC}}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148770"/>
                  </a:ext>
                </a:extLst>
              </a:tr>
              <a:tr h="916791">
                <a:tc>
                  <a:txBody>
                    <a:bodyPr/>
                    <a:lstStyle/>
                    <a:p>
                      <a:pPr algn="ctr"/>
                      <a:r>
                        <a:rPr lang="fr-FR" b="1" dirty="0" err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{{SA_TYPE}}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{{SA_FIN}}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{{SA_LOYER}}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{{SA_VNB}}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{{SA_VCOUL}}</a:t>
                      </a:r>
                      <a:endParaRPr lang="fr-FR" dirty="0"/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{{SA_PASS}}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{{SA_CCNB}}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{{SA_CCCOUL}}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{{SA_MAINT}}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{{SA_TOTAL}}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93460"/>
                  </a:ext>
                </a:extLst>
              </a:tr>
            </a:tbl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F5F8D836-18B7-DB03-EF50-28381E994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  <p:graphicFrame>
        <p:nvGraphicFramePr>
          <p:cNvPr id="4" name="Tableau 26">
            <a:extLst>
              <a:ext uri="{FF2B5EF4-FFF2-40B4-BE49-F238E27FC236}">
                <a16:creationId xmlns:a16="http://schemas.microsoft.com/office/drawing/2014/main" id="{FB7596B3-6825-C09F-7DC8-28D768A160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858366"/>
              </p:ext>
            </p:extLst>
          </p:nvPr>
        </p:nvGraphicFramePr>
        <p:xfrm>
          <a:off x="594200" y="6671125"/>
          <a:ext cx="17436240" cy="25893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10950">
                  <a:extLst>
                    <a:ext uri="{9D8B030D-6E8A-4147-A177-3AD203B41FA5}">
                      <a16:colId xmlns:a16="http://schemas.microsoft.com/office/drawing/2014/main" val="54911877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1251446253"/>
                    </a:ext>
                  </a:extLst>
                </a:gridCol>
                <a:gridCol w="1886307">
                  <a:extLst>
                    <a:ext uri="{9D8B030D-6E8A-4147-A177-3AD203B41FA5}">
                      <a16:colId xmlns:a16="http://schemas.microsoft.com/office/drawing/2014/main" val="465068022"/>
                    </a:ext>
                  </a:extLst>
                </a:gridCol>
                <a:gridCol w="1681935">
                  <a:extLst>
                    <a:ext uri="{9D8B030D-6E8A-4147-A177-3AD203B41FA5}">
                      <a16:colId xmlns:a16="http://schemas.microsoft.com/office/drawing/2014/main" val="561660978"/>
                    </a:ext>
                  </a:extLst>
                </a:gridCol>
                <a:gridCol w="1681935">
                  <a:extLst>
                    <a:ext uri="{9D8B030D-6E8A-4147-A177-3AD203B41FA5}">
                      <a16:colId xmlns:a16="http://schemas.microsoft.com/office/drawing/2014/main" val="3011595207"/>
                    </a:ext>
                  </a:extLst>
                </a:gridCol>
                <a:gridCol w="1785493">
                  <a:extLst>
                    <a:ext uri="{9D8B030D-6E8A-4147-A177-3AD203B41FA5}">
                      <a16:colId xmlns:a16="http://schemas.microsoft.com/office/drawing/2014/main" val="1273604443"/>
                    </a:ext>
                  </a:extLst>
                </a:gridCol>
                <a:gridCol w="1480001">
                  <a:extLst>
                    <a:ext uri="{9D8B030D-6E8A-4147-A177-3AD203B41FA5}">
                      <a16:colId xmlns:a16="http://schemas.microsoft.com/office/drawing/2014/main" val="1031765818"/>
                    </a:ext>
                  </a:extLst>
                </a:gridCol>
                <a:gridCol w="1450713">
                  <a:extLst>
                    <a:ext uri="{9D8B030D-6E8A-4147-A177-3AD203B41FA5}">
                      <a16:colId xmlns:a16="http://schemas.microsoft.com/office/drawing/2014/main" val="2478536853"/>
                    </a:ext>
                  </a:extLst>
                </a:gridCol>
                <a:gridCol w="1691167">
                  <a:extLst>
                    <a:ext uri="{9D8B030D-6E8A-4147-A177-3AD203B41FA5}">
                      <a16:colId xmlns:a16="http://schemas.microsoft.com/office/drawing/2014/main" val="2630415731"/>
                    </a:ext>
                  </a:extLst>
                </a:gridCol>
                <a:gridCol w="1610389">
                  <a:extLst>
                    <a:ext uri="{9D8B030D-6E8A-4147-A177-3AD203B41FA5}">
                      <a16:colId xmlns:a16="http://schemas.microsoft.com/office/drawing/2014/main" val="3555321625"/>
                    </a:ext>
                  </a:extLst>
                </a:gridCol>
              </a:tblGrid>
              <a:tr h="1672582"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Machine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Financement 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Loyer</a:t>
                      </a:r>
                    </a:p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{{PER_ADJ_MASC}}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Volume Pages</a:t>
                      </a:r>
                    </a:p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Noir et Blanc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Volume Pages Couleurs</a:t>
                      </a:r>
                      <a:endParaRPr lang="fr-FR" dirty="0"/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Abonnements et services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 copies</a:t>
                      </a:r>
                    </a:p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N&amp;B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 copies Couleurs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 maintenance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</a:t>
                      </a:r>
                    </a:p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{{PER_ADJ_MASC}}</a:t>
                      </a:r>
                    </a:p>
                  </a:txBody>
                  <a:tcPr anchor="ctr" anchorCtr="1">
                    <a:solidFill>
                      <a:srgbClr val="8C9D8D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148770"/>
                  </a:ext>
                </a:extLst>
              </a:tr>
              <a:tr h="916791">
                <a:tc>
                  <a:txBody>
                    <a:bodyPr/>
                    <a:lstStyle/>
                    <a:p>
                      <a:pPr algn="ctr"/>
                      <a:r>
                        <a:rPr lang="fr-FR" b="1" dirty="0" err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{{SP_TYPE}}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{{SP_FIN}}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{{SP_LOYER}}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{{SP_VNB}}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{{SP_VCOUL}}</a:t>
                      </a:r>
                      <a:endParaRPr lang="fr-FR" dirty="0"/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{{SP_PASS}}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{{SP_CCNB}}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{{SP_CCCOUL}}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{{SP_MAINT}}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{{SP_TOTAL}}</a:t>
                      </a:r>
                    </a:p>
                  </a:txBody>
                  <a:tcPr anchor="ctr" anchorCtr="1">
                    <a:solidFill>
                      <a:srgbClr val="8C9D8D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934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3810" r="13810"/>
          <a:stretch>
            <a:fillRect/>
          </a:stretch>
        </p:blipFill>
        <p:spPr>
          <a:xfrm>
            <a:off x="0" y="1552414"/>
            <a:ext cx="6708966" cy="873458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CONTRAT DE SERVICE MAINTENANCE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9" name="TextBox 9"/>
          <p:cNvSpPr txBox="1"/>
          <p:nvPr/>
        </p:nvSpPr>
        <p:spPr>
          <a:xfrm>
            <a:off x="7931975" y="1906879"/>
            <a:ext cx="8720882" cy="519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69"/>
              </a:lnSpc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Le contrat de service maintenance couvre : 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La garantie totale pendant toute la durée du contrat 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Le changement de toutes les pièces 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La main d’œuvre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Les déplacements des techniciens dans un délai de 4H Maximum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Les entretiens et les visites de pré-maintenance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Le remplacement des tambours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La fourniture des toners noirs et couleurs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Le réceptacle d’encre usagée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fr-FR" sz="2199" spc="-43" dirty="0">
                <a:solidFill>
                  <a:srgbClr val="000000"/>
                </a:solidFill>
                <a:latin typeface="Noto Sans"/>
              </a:rPr>
              <a:t> L’assistance technique téléphonique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0" y="7568076"/>
            <a:ext cx="9143999" cy="1602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spc="-55" dirty="0">
                <a:solidFill>
                  <a:srgbClr val="8C9D8D"/>
                </a:solidFill>
                <a:latin typeface="Noto Sans Bold"/>
              </a:rPr>
              <a:t>Coût Copie {{PROP_MACHINE_1}} </a:t>
            </a:r>
          </a:p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spc="-55" dirty="0">
                <a:solidFill>
                  <a:srgbClr val="8C9D8D"/>
                </a:solidFill>
                <a:latin typeface="Noto Sans Bold"/>
              </a:rPr>
              <a:t>N&amp;B : {{SUM_CC_NB}} € HT</a:t>
            </a:r>
          </a:p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spc="-55" dirty="0">
                <a:solidFill>
                  <a:srgbClr val="8C9D8D"/>
                </a:solidFill>
                <a:latin typeface="Noto Sans Bold"/>
              </a:rPr>
              <a:t>Couleur : {{SUM_CC_COUL}} € HT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4" name="Picture 14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26C7FDA-7EA9-EC47-A50B-1D699CF9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1550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26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7DA8600-810A-F56F-D372-84EF47285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794434" y="9209081"/>
            <a:ext cx="2464866" cy="514541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9" name="Picture 9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26372" y="2223094"/>
            <a:ext cx="836047" cy="85748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679330" y="5960694"/>
            <a:ext cx="1084416" cy="905487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845011" y="4038412"/>
            <a:ext cx="817409" cy="952790"/>
            <a:chOff x="0" y="0"/>
            <a:chExt cx="1089878" cy="1270387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581907" cy="929192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407489" y="587998"/>
              <a:ext cx="682389" cy="682389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812834" y="7738297"/>
            <a:ext cx="1130131" cy="841973"/>
            <a:chOff x="0" y="0"/>
            <a:chExt cx="1506842" cy="1122630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325129"/>
              <a:ext cx="1139288" cy="797501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856584" y="0"/>
              <a:ext cx="650257" cy="650257"/>
            </a:xfrm>
            <a:prstGeom prst="rect">
              <a:avLst/>
            </a:prstGeom>
          </p:spPr>
        </p:pic>
      </p:grpSp>
      <p:sp>
        <p:nvSpPr>
          <p:cNvPr id="18" name="TextBox 1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19" name="TextBox 19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20" name="TextBox 20"/>
          <p:cNvSpPr txBox="1"/>
          <p:nvPr/>
        </p:nvSpPr>
        <p:spPr>
          <a:xfrm>
            <a:off x="2354769" y="655052"/>
            <a:ext cx="13265445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LA SÉCURITÉ AU COEUR DES ÉQUIPEMENTS CANON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88579" y="1819264"/>
            <a:ext cx="3431977" cy="40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fr-FR" sz="2400" dirty="0">
                <a:solidFill>
                  <a:srgbClr val="8C9D8D"/>
                </a:solidFill>
                <a:latin typeface="Noto Sans"/>
              </a:rPr>
              <a:t>Sécurité des documents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06761" y="3817447"/>
            <a:ext cx="5577185" cy="40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fr-FR" sz="2400" dirty="0">
                <a:solidFill>
                  <a:srgbClr val="8C9D8D"/>
                </a:solidFill>
                <a:latin typeface="Noto Sans"/>
              </a:rPr>
              <a:t>Protection de la propriété intellectuelle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60090" y="5556864"/>
            <a:ext cx="3142059" cy="40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fr-FR" sz="2400" dirty="0">
                <a:solidFill>
                  <a:srgbClr val="8C9D8D"/>
                </a:solidFill>
                <a:latin typeface="Noto Sans"/>
              </a:rPr>
              <a:t>Sécurité des appareils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86805" y="7345743"/>
            <a:ext cx="3235523" cy="40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fr-FR" sz="2400" dirty="0">
                <a:solidFill>
                  <a:srgbClr val="8C9D8D"/>
                </a:solidFill>
                <a:latin typeface="Noto Sans"/>
              </a:rPr>
              <a:t>Sécurité du disque dur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44219" y="7968745"/>
            <a:ext cx="15154627" cy="119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fr-FR" sz="1700" dirty="0">
                <a:solidFill>
                  <a:srgbClr val="000000"/>
                </a:solidFill>
                <a:latin typeface="Noto Sans"/>
              </a:rPr>
              <a:t>Le disque dur interne de l'appareil </a:t>
            </a:r>
            <a:r>
              <a:rPr lang="fr-FR" sz="1700" dirty="0">
                <a:solidFill>
                  <a:srgbClr val="000000"/>
                </a:solidFill>
                <a:latin typeface="Noto Sans Bold"/>
              </a:rPr>
              <a:t>Canon </a:t>
            </a:r>
            <a:r>
              <a:rPr lang="fr-FR" sz="1700" dirty="0">
                <a:solidFill>
                  <a:srgbClr val="000000"/>
                </a:solidFill>
                <a:latin typeface="Noto Sans"/>
              </a:rPr>
              <a:t>peut être protégé par deux fonctionnalités de sécurité importantes: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fr-FR" sz="1700" dirty="0">
                <a:solidFill>
                  <a:srgbClr val="000000"/>
                </a:solidFill>
                <a:latin typeface="Noto Sans"/>
              </a:rPr>
              <a:t>Fichiers cryptés dès leurs création, afin d'éviter tout accès non autorisé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fr-FR" sz="1700" dirty="0">
                <a:solidFill>
                  <a:srgbClr val="000000"/>
                </a:solidFill>
                <a:latin typeface="Noto Sans"/>
              </a:rPr>
              <a:t>Une fonction d'écrasement de l'image peut être définie pour effacer automatiquement les données résiduelles en les </a:t>
            </a:r>
            <a:r>
              <a:rPr lang="fr-FR" sz="1700" dirty="0" err="1">
                <a:solidFill>
                  <a:srgbClr val="000000"/>
                </a:solidFill>
                <a:latin typeface="Noto Sans"/>
              </a:rPr>
              <a:t>remplacant</a:t>
            </a:r>
            <a:r>
              <a:rPr lang="fr-FR" sz="1700" dirty="0">
                <a:solidFill>
                  <a:srgbClr val="000000"/>
                </a:solidFill>
                <a:latin typeface="Noto Sans"/>
              </a:rPr>
              <a:t> par des valeurs aléatoires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54769" y="6089901"/>
            <a:ext cx="15154627" cy="89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fr-FR" sz="1700" dirty="0">
                <a:solidFill>
                  <a:srgbClr val="000000"/>
                </a:solidFill>
                <a:latin typeface="Noto Sans"/>
              </a:rPr>
              <a:t>Vous pouvez apporter un niveau de sécurité supplémentaire aux appareils bureautiques </a:t>
            </a:r>
            <a:r>
              <a:rPr lang="fr-FR" sz="1700" dirty="0">
                <a:solidFill>
                  <a:srgbClr val="000000"/>
                </a:solidFill>
                <a:latin typeface="Noto Sans Bold"/>
              </a:rPr>
              <a:t>Canon </a:t>
            </a:r>
            <a:r>
              <a:rPr lang="fr-FR" sz="1700" dirty="0">
                <a:solidFill>
                  <a:srgbClr val="000000"/>
                </a:solidFill>
                <a:latin typeface="Noto Sans"/>
              </a:rPr>
              <a:t>grâce au rejet des télécopies et courriers électroniques indésirables : permet aux utilisateurs d'accepter ou de rejeter automatiquement des courriers électroniques et télécopies en fonction de leur origines.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54769" y="4322651"/>
            <a:ext cx="15154627" cy="89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fr-FR" sz="1700" dirty="0">
                <a:solidFill>
                  <a:srgbClr val="000000"/>
                </a:solidFill>
                <a:latin typeface="Noto Sans"/>
              </a:rPr>
              <a:t>Afin de protéger votre savoir-faire, il est possible de définir un ensemble de mots à proscrire de vos impressions, numérisations et copies. Si un collaborateur tente d'effectuer une de ces actions sur un document contenant ces mots-clés, celle-ci sera bloquée et une alerte sera envoyée à l'utilisateurs désigné.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96783" y="2289551"/>
            <a:ext cx="15202063" cy="89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fr-FR" sz="1700" dirty="0">
                <a:solidFill>
                  <a:srgbClr val="000000"/>
                </a:solidFill>
                <a:latin typeface="Noto Sans"/>
              </a:rPr>
              <a:t>Les appareils multifonctions </a:t>
            </a:r>
            <a:r>
              <a:rPr lang="fr-FR" sz="1700" dirty="0">
                <a:solidFill>
                  <a:srgbClr val="000000"/>
                </a:solidFill>
                <a:latin typeface="Noto Sans Bold"/>
              </a:rPr>
              <a:t>Canon </a:t>
            </a:r>
            <a:r>
              <a:rPr lang="fr-FR" sz="1700" dirty="0">
                <a:solidFill>
                  <a:srgbClr val="000000"/>
                </a:solidFill>
                <a:latin typeface="Noto Sans"/>
              </a:rPr>
              <a:t>protègent les documents confidentiels grâce à la solution de "libération".  L'utilisateur est identifié lors de l'envoi d'un travail d'impression qui reste stocké jusqu'à ce que celui-ci s'authentifie sur le périphérique à l'aide de son code personnel ou badge, pour récupérer son document. Ceci évite de laisser des documents sensibles à la vue de tous dans le magasin de sortie.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9BA4C7-7763-E540-A1F5-107B6558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23622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27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BCE3CD9B-8737-8DB9-2581-8DB03EC5E5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0212" r="30981"/>
          <a:stretch>
            <a:fillRect/>
          </a:stretch>
        </p:blipFill>
        <p:spPr>
          <a:xfrm>
            <a:off x="11886638" y="1542890"/>
            <a:ext cx="6401362" cy="874411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6" name="TextBox 6"/>
          <p:cNvSpPr txBox="1"/>
          <p:nvPr/>
        </p:nvSpPr>
        <p:spPr>
          <a:xfrm>
            <a:off x="2354769" y="655052"/>
            <a:ext cx="11373267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VOTRE CONTRAT CANON E-MAINTENANCE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9" name="TextBox 9"/>
          <p:cNvSpPr txBox="1"/>
          <p:nvPr/>
        </p:nvSpPr>
        <p:spPr>
          <a:xfrm>
            <a:off x="1800113" y="5369812"/>
            <a:ext cx="879730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Nous </a:t>
            </a:r>
            <a:r>
              <a:rPr lang="fr-FR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anticipons automatiquement vos besoins en consommables</a:t>
            </a:r>
            <a:r>
              <a:rPr lang="fr-FR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et collectons vos relevés de compteurs à distance, sans intervention de votre part.</a:t>
            </a:r>
          </a:p>
          <a:p>
            <a:pPr algn="ctr"/>
            <a:r>
              <a:rPr lang="fr-FR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Moins de gestion, plus de disponibilité pour vos équipements.</a:t>
            </a:r>
            <a:endParaRPr lang="fr-FR"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53535" y="4257672"/>
            <a:ext cx="5890464" cy="345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fr-FR" sz="2700" spc="-54" dirty="0">
                <a:solidFill>
                  <a:srgbClr val="8C9D8D"/>
                </a:solidFill>
                <a:latin typeface="Noto Sans Bold"/>
              </a:rPr>
              <a:t>Service E-Maintenance : {{EMAINT_VAL}}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4" name="Picture 14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6F3365-395D-CC4F-BD4D-C4D32681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82778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28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2652B10-A77E-F3AE-BFA2-402C4C20C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6" name="TextBox 6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fr-FR" sz="3200" spc="48" dirty="0">
                <a:solidFill>
                  <a:srgbClr val="252629"/>
                </a:solidFill>
                <a:latin typeface="Noto Sans Bold"/>
              </a:rPr>
              <a:t>BON POUR ACCORD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8" name="TextBox 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 lang="fr-FR" dirty="0"/>
          </a:p>
        </p:txBody>
      </p:sp>
      <p:sp>
        <p:nvSpPr>
          <p:cNvPr id="9" name="TextBox 9"/>
          <p:cNvSpPr txBox="1"/>
          <p:nvPr/>
        </p:nvSpPr>
        <p:spPr>
          <a:xfrm>
            <a:off x="1028700" y="5076825"/>
            <a:ext cx="16923041" cy="160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13"/>
              </a:lnSpc>
            </a:pPr>
            <a:endParaRPr lang="fr-FR" dirty="0"/>
          </a:p>
          <a:p>
            <a:pPr>
              <a:lnSpc>
                <a:spcPts val="3213"/>
              </a:lnSpc>
            </a:pPr>
            <a:r>
              <a:rPr lang="fr-FR" sz="2100" spc="-42" dirty="0">
                <a:solidFill>
                  <a:srgbClr val="000000"/>
                </a:solidFill>
                <a:latin typeface="Noto Sans"/>
              </a:rPr>
              <a:t> </a:t>
            </a:r>
          </a:p>
          <a:p>
            <a:pPr>
              <a:lnSpc>
                <a:spcPts val="3213"/>
              </a:lnSpc>
            </a:pPr>
            <a:r>
              <a:rPr lang="fr-FR" sz="2100" spc="-42" dirty="0">
                <a:solidFill>
                  <a:srgbClr val="000000"/>
                </a:solidFill>
                <a:latin typeface="Noto Sans"/>
              </a:rPr>
              <a:t> Ce document vous engage à respecter les conditions inscrites ci-dessus mais il ne remplace en aucun cas les contrats de maintenance, de commande et de leasing que vous signerez avec votre commercial avant la livraison du matériel.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1492" y="8310969"/>
            <a:ext cx="2640843" cy="13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fr-FR" spc="-36" dirty="0">
                <a:solidFill>
                  <a:srgbClr val="252629"/>
                </a:solidFill>
                <a:latin typeface="Noto Sans"/>
              </a:rPr>
              <a:t>{{REP_NAME}}</a:t>
            </a:r>
            <a:endParaRPr lang="fr-FR" sz="1800" spc="-36" dirty="0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160"/>
              </a:lnSpc>
            </a:pPr>
            <a:r>
              <a:rPr lang="fr-FR" spc="-36" dirty="0">
                <a:solidFill>
                  <a:srgbClr val="252629"/>
                </a:solidFill>
                <a:latin typeface="Noto Sans"/>
              </a:rPr>
              <a:t>{{REP_TITLE}}</a:t>
            </a:r>
            <a:endParaRPr lang="fr-FR" sz="1800" spc="-36" dirty="0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160"/>
              </a:lnSpc>
            </a:pPr>
            <a:r>
              <a:rPr lang="fr-FR" sz="1800" spc="-36" dirty="0">
                <a:solidFill>
                  <a:srgbClr val="252629"/>
                </a:solidFill>
                <a:latin typeface="Noto Sans"/>
              </a:rPr>
              <a:t>{{REP_PHONELINE}}</a:t>
            </a:r>
          </a:p>
          <a:p>
            <a:pPr algn="ctr">
              <a:lnSpc>
                <a:spcPts val="2160"/>
              </a:lnSpc>
            </a:pPr>
            <a:r>
              <a:rPr lang="fr-FR" spc="-36" dirty="0" err="1">
                <a:solidFill>
                  <a:srgbClr val="252629"/>
                </a:solidFill>
                <a:latin typeface="Noto Sans"/>
              </a:rPr>
              <a:t>{{REP_EMAIL}}</a:t>
            </a:r>
            <a:endParaRPr lang="fr-FR" spc="-36" dirty="0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160"/>
              </a:lnSpc>
            </a:pPr>
            <a:endParaRPr lang="fr-FR" sz="1800" spc="-36" dirty="0">
              <a:solidFill>
                <a:srgbClr val="252629"/>
              </a:solidFill>
              <a:latin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34993" y="2664369"/>
            <a:ext cx="7388601" cy="2249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72" lvl="1" indent="-248286">
              <a:lnSpc>
                <a:spcPts val="3588"/>
              </a:lnSpc>
              <a:buFont typeface="Arial"/>
              <a:buChar char="•"/>
            </a:pPr>
            <a:r>
              <a:rPr lang="fr-FR" sz="2300" spc="-46" dirty="0">
                <a:solidFill>
                  <a:srgbClr val="000000"/>
                </a:solidFill>
                <a:latin typeface="Noto Sans"/>
              </a:rPr>
              <a:t> Loyer {{PER_ADJ_MASC_LC}} : {{PROP_LOYER_1}} € HT</a:t>
            </a:r>
          </a:p>
          <a:p>
            <a:pPr marL="496572" lvl="1" indent="-248286">
              <a:lnSpc>
                <a:spcPts val="3588"/>
              </a:lnSpc>
              <a:buFont typeface="Arial"/>
              <a:buChar char="•"/>
            </a:pPr>
            <a:r>
              <a:rPr lang="fr-FR" sz="2300" spc="-46" dirty="0">
                <a:solidFill>
                  <a:srgbClr val="000000"/>
                </a:solidFill>
                <a:latin typeface="Noto Sans"/>
              </a:rPr>
              <a:t> Durée du leasing : {{DUR_TRIM}} Trimestres</a:t>
            </a:r>
          </a:p>
          <a:p>
            <a:pPr>
              <a:lnSpc>
                <a:spcPts val="3588"/>
              </a:lnSpc>
            </a:pPr>
            <a:endParaRPr lang="fr-FR" sz="2300" spc="-46" dirty="0">
              <a:solidFill>
                <a:srgbClr val="000000"/>
              </a:solidFill>
              <a:latin typeface="Noto Sans"/>
            </a:endParaRPr>
          </a:p>
          <a:p>
            <a:pPr marL="496572" lvl="1" indent="-248286">
              <a:lnSpc>
                <a:spcPts val="3588"/>
              </a:lnSpc>
              <a:buFont typeface="Arial"/>
              <a:buChar char="•"/>
            </a:pPr>
            <a:r>
              <a:rPr lang="fr-FR" sz="2300" spc="-46" dirty="0">
                <a:solidFill>
                  <a:srgbClr val="000000"/>
                </a:solidFill>
                <a:latin typeface="Noto Sans"/>
              </a:rPr>
              <a:t> Coût à la page en Noir et Blanc : {{SUM_CC_NB}} € HT</a:t>
            </a:r>
          </a:p>
          <a:p>
            <a:pPr marL="496572" lvl="1" indent="-248286">
              <a:lnSpc>
                <a:spcPts val="3588"/>
              </a:lnSpc>
              <a:buFont typeface="Arial"/>
              <a:buChar char="•"/>
            </a:pPr>
            <a:r>
              <a:rPr lang="fr-FR" sz="2300" spc="-46" dirty="0">
                <a:solidFill>
                  <a:srgbClr val="000000"/>
                </a:solidFill>
                <a:latin typeface="Noto Sans"/>
              </a:rPr>
              <a:t> Coût à la page en Couleur : {{SUM_CC_COUL}} € HT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56110" y="7917636"/>
            <a:ext cx="4572000" cy="1668598"/>
          </a:xfrm>
          <a:prstGeom prst="rect">
            <a:avLst/>
          </a:prstGeom>
          <a:ln w="19050">
            <a:solidFill>
              <a:srgbClr val="2F5233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84"/>
              </a:lnSpc>
            </a:pPr>
            <a:r>
              <a:rPr lang="fr-FR" sz="1400" spc="-28" dirty="0">
                <a:solidFill>
                  <a:srgbClr val="000000"/>
                </a:solidFill>
                <a:latin typeface="Noto Sans"/>
              </a:rPr>
              <a:t>Date, Cachet et Signature </a:t>
            </a:r>
          </a:p>
          <a:p>
            <a:pPr algn="ctr">
              <a:lnSpc>
                <a:spcPts val="2184"/>
              </a:lnSpc>
            </a:pPr>
            <a:r>
              <a:rPr lang="fr-FR" sz="1400" spc="-28" dirty="0">
                <a:solidFill>
                  <a:srgbClr val="000000"/>
                </a:solidFill>
                <a:latin typeface="Noto Sans"/>
              </a:rPr>
              <a:t>Précédés de la mention « bon pour accord »</a:t>
            </a:r>
          </a:p>
          <a:p>
            <a:pPr algn="ctr">
              <a:lnSpc>
                <a:spcPts val="2184"/>
              </a:lnSpc>
            </a:pPr>
            <a:endParaRPr lang="fr-FR" sz="1400" spc="-28" dirty="0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2184"/>
              </a:lnSpc>
            </a:pPr>
            <a:endParaRPr lang="fr-FR" sz="1400" spc="-28" dirty="0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2184"/>
              </a:lnSpc>
            </a:pPr>
            <a:endParaRPr lang="fr-FR" sz="1400" spc="-28" dirty="0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2184"/>
              </a:lnSpc>
            </a:pPr>
            <a:endParaRPr lang="fr-FR" sz="1400" spc="-28" dirty="0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 dirty="0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DF2BD40-F521-C44C-BD88-FEB6AD4F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91332"/>
            <a:ext cx="2133600" cy="365125"/>
          </a:xfrm>
        </p:spPr>
        <p:txBody>
          <a:bodyPr/>
          <a:lstStyle/>
          <a:p>
            <a:fld id="{B6F15528-21DE-4FAA-801E-634DDDAF4B2B}" type="slidenum">
              <a:rPr lang="fr-FR" sz="2000" smtClean="0">
                <a:solidFill>
                  <a:schemeClr val="tx1"/>
                </a:solidFill>
              </a:rPr>
              <a:pPr/>
              <a:t>29</a:t>
            </a:fld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3793F51-4A4B-1F32-8650-C9BB9FD1B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ee2bc7-17cf-4f11-b068-1f0338edc318" xsi:nil="true"/>
    <lcf76f155ced4ddcb4097134ff3c332f xmlns="e1504883-0506-4411-b681-6abe3cb501d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7894C5C1BAD49AC482B507C809032" ma:contentTypeVersion="10" ma:contentTypeDescription="Crée un document." ma:contentTypeScope="" ma:versionID="29e7a999773aae6369614e051fd97c77">
  <xsd:schema xmlns:xsd="http://www.w3.org/2001/XMLSchema" xmlns:xs="http://www.w3.org/2001/XMLSchema" xmlns:p="http://schemas.microsoft.com/office/2006/metadata/properties" xmlns:ns2="e1504883-0506-4411-b681-6abe3cb501df" xmlns:ns3="a8ee2bc7-17cf-4f11-b068-1f0338edc318" targetNamespace="http://schemas.microsoft.com/office/2006/metadata/properties" ma:root="true" ma:fieldsID="4d4305b9eecd9ead4ef3ab7232b58bc6" ns2:_="" ns3:_="">
    <xsd:import namespace="e1504883-0506-4411-b681-6abe3cb501df"/>
    <xsd:import namespace="a8ee2bc7-17cf-4f11-b068-1f0338edc3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04883-0506-4411-b681-6abe3cb50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f9c7c25f-9ca6-4bcd-8883-d67dffae79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e2bc7-17cf-4f11-b068-1f0338edc3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333dfb-82bb-4497-b20a-c7a387482b6b}" ma:internalName="TaxCatchAll" ma:showField="CatchAllData" ma:web="a8ee2bc7-17cf-4f11-b068-1f0338edc3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7C6906-4A8D-4D06-BA2B-431251A9A289}">
  <ds:schemaRefs>
    <ds:schemaRef ds:uri="http://purl.org/dc/elements/1.1/"/>
    <ds:schemaRef ds:uri="http://purl.org/dc/dcmitype/"/>
    <ds:schemaRef ds:uri="http://www.w3.org/XML/1998/namespace"/>
    <ds:schemaRef ds:uri="e1504883-0506-4411-b681-6abe3cb501df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a8ee2bc7-17cf-4f11-b068-1f0338edc318"/>
  </ds:schemaRefs>
</ds:datastoreItem>
</file>

<file path=customXml/itemProps2.xml><?xml version="1.0" encoding="utf-8"?>
<ds:datastoreItem xmlns:ds="http://schemas.openxmlformats.org/officeDocument/2006/customXml" ds:itemID="{9C361676-D707-4132-B74C-73FA6DAF86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00658B-FE10-4487-AF46-A85D984A5B6C}">
  <ds:schemaRefs>
    <ds:schemaRef ds:uri="a8ee2bc7-17cf-4f11-b068-1f0338edc318"/>
    <ds:schemaRef ds:uri="e1504883-0506-4411-b681-6abe3cb501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3226</Words>
  <Application>Microsoft Macintosh PowerPoint</Application>
  <PresentationFormat>Personnalisé</PresentationFormat>
  <Paragraphs>447</Paragraphs>
  <Slides>29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Noto Sans Bold</vt:lpstr>
      <vt:lpstr>Wingdings</vt:lpstr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offre commerciale</dc:title>
  <dc:creator>Lea Ferat</dc:creator>
  <cp:lastModifiedBy>Mikaël OBADIA</cp:lastModifiedBy>
  <cp:revision>2</cp:revision>
  <cp:lastPrinted>2023-11-18T21:18:04Z</cp:lastPrinted>
  <dcterms:created xsi:type="dcterms:W3CDTF">2006-08-16T00:00:00Z</dcterms:created>
  <dcterms:modified xsi:type="dcterms:W3CDTF">2026-09-04T16:36:28Z</dcterms:modified>
  <dc:identifier>DAEwcahrAs4</dc:identifier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0x010100ABE7894C5C1BAD49AC482B507C809032</vt:lpwstr>
  </property>
  <property fmtid="{D5CDD505-2E9C-101B-9397-08002B2CF9AE}" pid="3" name="MediaServiceImageTags">
    <vt:lpwstr/>
  </property>
</Properties>
</file>